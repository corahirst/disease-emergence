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4"/>
  </p:notesMasterIdLst>
  <p:sldIdLst>
    <p:sldId id="412" r:id="rId2"/>
    <p:sldId id="417" r:id="rId3"/>
    <p:sldId id="415" r:id="rId4"/>
    <p:sldId id="418" r:id="rId5"/>
    <p:sldId id="419" r:id="rId6"/>
    <p:sldId id="421" r:id="rId7"/>
    <p:sldId id="429" r:id="rId8"/>
    <p:sldId id="423" r:id="rId9"/>
    <p:sldId id="424" r:id="rId10"/>
    <p:sldId id="427" r:id="rId11"/>
    <p:sldId id="425" r:id="rId12"/>
    <p:sldId id="426" r:id="rId13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00000"/>
    <a:srgbClr val="730806"/>
    <a:srgbClr val="FD0E16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8846"/>
    <p:restoredTop sz="94726"/>
  </p:normalViewPr>
  <p:slideViewPr>
    <p:cSldViewPr snapToGrid="0">
      <p:cViewPr>
        <p:scale>
          <a:sx n="106" d="100"/>
          <a:sy n="106" d="100"/>
        </p:scale>
        <p:origin x="560" y="48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presProps" Target="pres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notesMaster" Target="notesMasters/notes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B72CADE5-B242-284B-8F01-80AC947059F2}" type="datetimeFigureOut">
              <a:rPr lang="en-US" smtClean="0"/>
              <a:t>9/11/26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7139CDE4-B4AB-7549-9EE9-A974916FD44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8338040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139CDE4-B4AB-7549-9EE9-A974916FD447}" type="slidenum">
              <a:rPr lang="en-US" smtClean="0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79611679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139CDE4-B4AB-7549-9EE9-A974916FD447}" type="slidenum">
              <a:rPr lang="en-US" smtClean="0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64594544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139CDE4-B4AB-7549-9EE9-A974916FD447}" type="slidenum">
              <a:rPr lang="en-US" smtClean="0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0259194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139CDE4-B4AB-7549-9EE9-A974916FD447}" type="slidenum">
              <a:rPr lang="en-US" smtClean="0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72355652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139CDE4-B4AB-7549-9EE9-A974916FD447}" type="slidenum">
              <a:rPr lang="en-US" smtClean="0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1726341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F26777A-9CFD-B836-D2E2-A96A68DCC56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C05C691-9220-3A1B-9559-EED4292C8BB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B380E500-26D4-255B-9C38-F7C650D8F61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80F1632-82E7-8CE4-A18B-FA13D39AC3F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139CDE4-B4AB-7549-9EE9-A974916FD447}" type="slidenum">
              <a:rPr lang="en-US" smtClean="0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20283256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139CDE4-B4AB-7549-9EE9-A974916FD447}" type="slidenum">
              <a:rPr lang="en-US" smtClean="0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52818649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CEAD7C6-88CC-BFF5-4C03-B40A8ED1F8E6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0798B42B-7917-0E89-090B-E9FA02092B06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1AC3380-38CF-BC96-8E0E-71E00A41036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F4AEB3C-D287-6F42-BE4A-5B2D28C015D5}" type="datetimeFigureOut">
              <a:rPr lang="en-US" smtClean="0"/>
              <a:t>9/11/26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1A50776-167E-8F9C-9CD8-EEA0856CB9E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0B1E455-9C79-A599-0114-FB1DE1335B3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561924E-C2E5-5547-8ACF-1B62CB380C8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2200814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88402BD-BF88-797E-20ED-550E32232F8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55CF567-301C-36D7-C8B4-2631A83A589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6F786A9-7808-A913-07FB-4327452977E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F4AEB3C-D287-6F42-BE4A-5B2D28C015D5}" type="datetimeFigureOut">
              <a:rPr lang="en-US" smtClean="0"/>
              <a:t>9/11/26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C5F2AAA-C3BB-3204-6E84-799ABBC6263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87393A3-1E69-F62F-7B1C-EDB2B3D6BF4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561924E-C2E5-5547-8ACF-1B62CB380C8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7633044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F4D49BF-5E6A-C9F7-95C1-27CCC26692E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5F6A07A-B59D-5126-A354-FD622DC99C9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454FA70-379A-C6A8-2532-FC9291E44CD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F4AEB3C-D287-6F42-BE4A-5B2D28C015D5}" type="datetimeFigureOut">
              <a:rPr lang="en-US" smtClean="0"/>
              <a:t>9/11/26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0CDFB9D-E54C-15B0-4A03-4E7E5445A77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FF0961C-FE5C-F284-F926-5787D47EC4C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561924E-C2E5-5547-8ACF-1B62CB380C8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9493458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275E2CB-09AB-3985-45B1-03F56D78A36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EBF742A-F7BF-0F0E-EB94-C9CF15F0C75A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85EEAA22-3D19-F976-4A55-52D3828D1C2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0DA03894-E80B-0CED-82F2-60615E22669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F4AEB3C-D287-6F42-BE4A-5B2D28C015D5}" type="datetimeFigureOut">
              <a:rPr lang="en-US" smtClean="0"/>
              <a:t>9/11/26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E733161B-4454-76A8-DAFD-83201C21658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89007763-07A5-F62F-B3F6-A31968851DE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561924E-C2E5-5547-8ACF-1B62CB380C8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3163725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479C15A-43D7-0335-3903-7A2994653C8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DFDE1F8-3830-6DB0-CF0C-72A018BD808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58C0ADD8-3714-2C78-4AF9-F0E4390791D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7903009D-030B-9929-BD26-F075F7901C65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F650F4AF-C5EF-AB02-E310-1BEE72144C13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1525B477-9C19-070B-AF21-4018B153869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F4AEB3C-D287-6F42-BE4A-5B2D28C015D5}" type="datetimeFigureOut">
              <a:rPr lang="en-US" smtClean="0"/>
              <a:t>9/11/26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44D99333-02D1-5C8A-9B7D-59B7B576DD7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FF271834-8AD2-7B7C-0210-14E417FAB7F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561924E-C2E5-5547-8ACF-1B62CB380C8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7250125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6701719-0E7A-5914-6487-F6BB5594902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CB77AF9A-27F1-83A9-7C42-B371FF19938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F4AEB3C-D287-6F42-BE4A-5B2D28C015D5}" type="datetimeFigureOut">
              <a:rPr lang="en-US" smtClean="0"/>
              <a:t>9/11/26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89A8AC50-8C81-6B95-9434-8CA397273D2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6EA991FB-4151-2185-8E35-DD7BF24B5C2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561924E-C2E5-5547-8ACF-1B62CB380C8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8598270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B8C8E1DD-DC06-A859-CE2E-5B13E35154A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F4AEB3C-D287-6F42-BE4A-5B2D28C015D5}" type="datetimeFigureOut">
              <a:rPr lang="en-US" smtClean="0"/>
              <a:t>9/11/26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023E51B7-3F99-3C20-1895-809895DB399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DFA8AB8-A6A3-A50A-9768-2378BEB6805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561924E-C2E5-5547-8ACF-1B62CB380C8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0862766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A09B771-CF1C-8F04-4A6C-FDA42F7018B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D75E002-EB52-614C-608C-F10888C30EF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4A4DDB4B-D327-48C9-5C9F-CC860A50482F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45C41353-5254-AC5B-C1B6-724372AB18A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F4AEB3C-D287-6F42-BE4A-5B2D28C015D5}" type="datetimeFigureOut">
              <a:rPr lang="en-US" smtClean="0"/>
              <a:t>9/11/26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34738968-3994-CCF4-BDEB-CBD76B519D5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71E2C3F6-2D1B-8DFB-0E4B-0D3730DBF98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561924E-C2E5-5547-8ACF-1B62CB380C8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5450949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115C242-EEB6-B026-ECEF-2A118F1B532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FEC47F9C-0C34-CEAD-CC1F-A416F80D491B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34C7A842-37F5-4C73-8AFB-C5DDD22DAE2D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07DD8CC-E229-24E8-1EAC-C9E08C9D79F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F4AEB3C-D287-6F42-BE4A-5B2D28C015D5}" type="datetimeFigureOut">
              <a:rPr lang="en-US" smtClean="0"/>
              <a:t>9/11/26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ED6BD736-D24C-4843-2FA4-56810FC0A07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5BCBEC4-15A8-6F81-219E-D91AA26BCAC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561924E-C2E5-5547-8ACF-1B62CB380C8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00042037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E3583E5-D6D8-0CC7-011D-03BFA3522FF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27AF8E72-15B5-1EAE-A4DA-993871D89906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527A40B-ECDF-08C0-4ABD-865A250FD54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F4AEB3C-D287-6F42-BE4A-5B2D28C015D5}" type="datetimeFigureOut">
              <a:rPr lang="en-US" smtClean="0"/>
              <a:t>9/11/26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DAEE222-FD56-7254-FEAB-6B71027E751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8E583CC-998C-CA52-0ABA-53DC643F30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561924E-C2E5-5547-8ACF-1B62CB380C8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806949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70F8B50F-97CF-6F42-8AE1-0A278C0D97BC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59E4D9DF-D115-7F16-E12C-832DD8CDEFAB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0B8C706-696F-B784-A286-471E1470DE2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F4AEB3C-D287-6F42-BE4A-5B2D28C015D5}" type="datetimeFigureOut">
              <a:rPr lang="en-US" smtClean="0"/>
              <a:t>9/11/26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952B4E6-3381-649D-DABB-E7E1A27D4B5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6BB8360-2E58-E301-C821-0C4445A4AB3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561924E-C2E5-5547-8ACF-1B62CB380C8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0206047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32F46775-75EC-3E19-A447-C896E2277E2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21FC488-96AC-A18B-1986-766C4BFBC14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B66EF7B-0BD9-815A-83FB-633B268308D6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9F4AEB3C-D287-6F42-BE4A-5B2D28C015D5}" type="datetimeFigureOut">
              <a:rPr lang="en-US" smtClean="0"/>
              <a:t>9/11/26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E20AC3F-B9B5-A662-0099-F4E955536525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2CF9C97-AC91-2476-E8B3-66968D3266B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1561924E-C2E5-5547-8ACF-1B62CB380C8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6867580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7" Type="http://schemas.openxmlformats.org/officeDocument/2006/relationships/image" Target="../media/image7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6.png"/><Relationship Id="rId5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8.jp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jp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3.png"/><Relationship Id="rId5" Type="http://schemas.openxmlformats.org/officeDocument/2006/relationships/image" Target="../media/image12.png"/><Relationship Id="rId4" Type="http://schemas.openxmlformats.org/officeDocument/2006/relationships/image" Target="../media/image11.jp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jp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6.png"/><Relationship Id="rId4" Type="http://schemas.openxmlformats.org/officeDocument/2006/relationships/image" Target="../media/image15.jpg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jp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7" Type="http://schemas.openxmlformats.org/officeDocument/2006/relationships/image" Target="../media/image22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1.png"/><Relationship Id="rId5" Type="http://schemas.openxmlformats.org/officeDocument/2006/relationships/image" Target="../media/image20.png"/><Relationship Id="rId4" Type="http://schemas.openxmlformats.org/officeDocument/2006/relationships/image" Target="../media/image19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image" Target="../media/image23.jp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061743C-B907-CD81-F5B0-F2399A3F67D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Manuscript</a:t>
            </a:r>
          </a:p>
        </p:txBody>
      </p:sp>
    </p:spTree>
    <p:extLst>
      <p:ext uri="{BB962C8B-B14F-4D97-AF65-F5344CB8AC3E}">
        <p14:creationId xmlns:p14="http://schemas.microsoft.com/office/powerpoint/2010/main" val="211405189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0A19C66-2765-DF32-831A-6E4B5E9C170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1">
            <a:extLst>
              <a:ext uri="{FF2B5EF4-FFF2-40B4-BE49-F238E27FC236}">
                <a16:creationId xmlns:a16="http://schemas.microsoft.com/office/drawing/2014/main" id="{7E33C551-6372-C120-7C84-873972D09AE8}"/>
              </a:ext>
            </a:extLst>
          </p:cNvPr>
          <p:cNvGrpSpPr/>
          <p:nvPr/>
        </p:nvGrpSpPr>
        <p:grpSpPr>
          <a:xfrm>
            <a:off x="984897" y="1342148"/>
            <a:ext cx="9848509" cy="4943731"/>
            <a:chOff x="984897" y="1342148"/>
            <a:chExt cx="9848509" cy="4943731"/>
          </a:xfrm>
        </p:grpSpPr>
        <p:grpSp>
          <p:nvGrpSpPr>
            <p:cNvPr id="216" name="Group 215">
              <a:extLst>
                <a:ext uri="{FF2B5EF4-FFF2-40B4-BE49-F238E27FC236}">
                  <a16:creationId xmlns:a16="http://schemas.microsoft.com/office/drawing/2014/main" id="{412312B8-BF8F-EF9F-DD7B-E4459F21A588}"/>
                </a:ext>
              </a:extLst>
            </p:cNvPr>
            <p:cNvGrpSpPr/>
            <p:nvPr/>
          </p:nvGrpSpPr>
          <p:grpSpPr>
            <a:xfrm>
              <a:off x="984897" y="1342148"/>
              <a:ext cx="9848509" cy="4943731"/>
              <a:chOff x="1238086" y="1247004"/>
              <a:chExt cx="9848509" cy="4943731"/>
            </a:xfrm>
          </p:grpSpPr>
          <p:sp>
            <p:nvSpPr>
              <p:cNvPr id="159" name="Oval 158">
                <a:extLst>
                  <a:ext uri="{FF2B5EF4-FFF2-40B4-BE49-F238E27FC236}">
                    <a16:creationId xmlns:a16="http://schemas.microsoft.com/office/drawing/2014/main" id="{80DA37F8-FF90-4395-DE3D-156E938E28F8}"/>
                  </a:ext>
                </a:extLst>
              </p:cNvPr>
              <p:cNvSpPr/>
              <p:nvPr/>
            </p:nvSpPr>
            <p:spPr>
              <a:xfrm rot="16200000">
                <a:off x="2385499" y="2946892"/>
                <a:ext cx="205539" cy="190500"/>
              </a:xfrm>
              <a:prstGeom prst="ellipse">
                <a:avLst/>
              </a:prstGeom>
              <a:solidFill>
                <a:schemeClr val="bg2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2800"/>
              </a:p>
            </p:txBody>
          </p:sp>
          <p:cxnSp>
            <p:nvCxnSpPr>
              <p:cNvPr id="164" name="Straight Connector 163">
                <a:extLst>
                  <a:ext uri="{FF2B5EF4-FFF2-40B4-BE49-F238E27FC236}">
                    <a16:creationId xmlns:a16="http://schemas.microsoft.com/office/drawing/2014/main" id="{AF21EC8B-FAEC-6B4D-7FC7-86DDEC704D7A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8282580" y="5116987"/>
                <a:ext cx="1265813" cy="0"/>
              </a:xfrm>
              <a:prstGeom prst="line">
                <a:avLst/>
              </a:prstGeom>
              <a:ln w="76200">
                <a:solidFill>
                  <a:schemeClr val="tx1"/>
                </a:solidFill>
                <a:headEnd type="none" w="med" len="med"/>
                <a:tailEnd type="triangle" w="med" len="med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65" name="Straight Arrow Connector 164">
                <a:extLst>
                  <a:ext uri="{FF2B5EF4-FFF2-40B4-BE49-F238E27FC236}">
                    <a16:creationId xmlns:a16="http://schemas.microsoft.com/office/drawing/2014/main" id="{8B5472C7-561A-D34B-30D5-948B82EC871E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8594264" y="3921860"/>
                <a:ext cx="426816" cy="238102"/>
              </a:xfrm>
              <a:prstGeom prst="straightConnector1">
                <a:avLst/>
              </a:prstGeom>
              <a:ln>
                <a:solidFill>
                  <a:schemeClr val="tx1"/>
                </a:solidFill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66" name="Straight Arrow Connector 165">
                <a:extLst>
                  <a:ext uri="{FF2B5EF4-FFF2-40B4-BE49-F238E27FC236}">
                    <a16:creationId xmlns:a16="http://schemas.microsoft.com/office/drawing/2014/main" id="{8081C301-7204-8AE6-41B0-4636B6C28A28}"/>
                  </a:ext>
                </a:extLst>
              </p:cNvPr>
              <p:cNvCxnSpPr>
                <a:cxnSpLocks/>
              </p:cNvCxnSpPr>
              <p:nvPr/>
            </p:nvCxnSpPr>
            <p:spPr>
              <a:xfrm rot="16200000">
                <a:off x="8661955" y="3377088"/>
                <a:ext cx="275737" cy="442513"/>
              </a:xfrm>
              <a:prstGeom prst="straightConnector1">
                <a:avLst/>
              </a:prstGeom>
              <a:ln>
                <a:solidFill>
                  <a:schemeClr val="tx1"/>
                </a:solidFill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67" name="Oval 166">
                <a:extLst>
                  <a:ext uri="{FF2B5EF4-FFF2-40B4-BE49-F238E27FC236}">
                    <a16:creationId xmlns:a16="http://schemas.microsoft.com/office/drawing/2014/main" id="{0B2B9965-37CF-AB0A-4B14-9ECA59557E85}"/>
                  </a:ext>
                </a:extLst>
              </p:cNvPr>
              <p:cNvSpPr/>
              <p:nvPr/>
            </p:nvSpPr>
            <p:spPr>
              <a:xfrm rot="16200000">
                <a:off x="9073295" y="4112199"/>
                <a:ext cx="205539" cy="190500"/>
              </a:xfrm>
              <a:prstGeom prst="ellipse">
                <a:avLst/>
              </a:prstGeom>
              <a:solidFill>
                <a:srgbClr val="C00000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2800"/>
              </a:p>
            </p:txBody>
          </p:sp>
          <p:sp>
            <p:nvSpPr>
              <p:cNvPr id="168" name="Oval 167">
                <a:extLst>
                  <a:ext uri="{FF2B5EF4-FFF2-40B4-BE49-F238E27FC236}">
                    <a16:creationId xmlns:a16="http://schemas.microsoft.com/office/drawing/2014/main" id="{128EE917-F251-C565-A6A8-F2846F2E82FE}"/>
                  </a:ext>
                </a:extLst>
              </p:cNvPr>
              <p:cNvSpPr/>
              <p:nvPr/>
            </p:nvSpPr>
            <p:spPr>
              <a:xfrm rot="16200000">
                <a:off x="9069116" y="3305878"/>
                <a:ext cx="205539" cy="190500"/>
              </a:xfrm>
              <a:prstGeom prst="ellipse">
                <a:avLst/>
              </a:prstGeom>
              <a:solidFill>
                <a:srgbClr val="C00000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2800"/>
              </a:p>
            </p:txBody>
          </p:sp>
          <p:sp>
            <p:nvSpPr>
              <p:cNvPr id="169" name="TextBox 168">
                <a:extLst>
                  <a:ext uri="{FF2B5EF4-FFF2-40B4-BE49-F238E27FC236}">
                    <a16:creationId xmlns:a16="http://schemas.microsoft.com/office/drawing/2014/main" id="{22C242A6-E2C6-2B79-97EB-92E6E16CAC5F}"/>
                  </a:ext>
                </a:extLst>
              </p:cNvPr>
              <p:cNvSpPr txBox="1"/>
              <p:nvPr/>
            </p:nvSpPr>
            <p:spPr>
              <a:xfrm>
                <a:off x="8579503" y="2782614"/>
                <a:ext cx="126204" cy="40011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sz="2000" dirty="0"/>
                  <a:t>†</a:t>
                </a:r>
              </a:p>
            </p:txBody>
          </p:sp>
          <p:sp>
            <p:nvSpPr>
              <p:cNvPr id="172" name="Oval 171">
                <a:extLst>
                  <a:ext uri="{FF2B5EF4-FFF2-40B4-BE49-F238E27FC236}">
                    <a16:creationId xmlns:a16="http://schemas.microsoft.com/office/drawing/2014/main" id="{54541D33-FA65-7DF0-9851-C6D9E329BDA8}"/>
                  </a:ext>
                </a:extLst>
              </p:cNvPr>
              <p:cNvSpPr/>
              <p:nvPr/>
            </p:nvSpPr>
            <p:spPr>
              <a:xfrm rot="16200000">
                <a:off x="9101476" y="1924136"/>
                <a:ext cx="205539" cy="190500"/>
              </a:xfrm>
              <a:prstGeom prst="ellipse">
                <a:avLst/>
              </a:prstGeom>
              <a:solidFill>
                <a:srgbClr val="C00000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2800"/>
              </a:p>
            </p:txBody>
          </p:sp>
          <p:cxnSp>
            <p:nvCxnSpPr>
              <p:cNvPr id="175" name="Straight Arrow Connector 174">
                <a:extLst>
                  <a:ext uri="{FF2B5EF4-FFF2-40B4-BE49-F238E27FC236}">
                    <a16:creationId xmlns:a16="http://schemas.microsoft.com/office/drawing/2014/main" id="{E31BF8F4-FEF3-5D89-D30F-D8692CFD15FC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8627208" y="3831850"/>
                <a:ext cx="540885" cy="2482"/>
              </a:xfrm>
              <a:prstGeom prst="straightConnector1">
                <a:avLst/>
              </a:prstGeom>
              <a:ln>
                <a:solidFill>
                  <a:schemeClr val="tx1"/>
                </a:solidFill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76" name="Oval 175">
                <a:extLst>
                  <a:ext uri="{FF2B5EF4-FFF2-40B4-BE49-F238E27FC236}">
                    <a16:creationId xmlns:a16="http://schemas.microsoft.com/office/drawing/2014/main" id="{F079B7DC-0F27-613E-6008-AA7C569A1710}"/>
                  </a:ext>
                </a:extLst>
              </p:cNvPr>
              <p:cNvSpPr/>
              <p:nvPr/>
            </p:nvSpPr>
            <p:spPr>
              <a:xfrm rot="16200000">
                <a:off x="9233188" y="3751229"/>
                <a:ext cx="205539" cy="190500"/>
              </a:xfrm>
              <a:prstGeom prst="ellipse">
                <a:avLst/>
              </a:prstGeom>
              <a:solidFill>
                <a:srgbClr val="FF0000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2800"/>
              </a:p>
            </p:txBody>
          </p:sp>
          <p:cxnSp>
            <p:nvCxnSpPr>
              <p:cNvPr id="177" name="Straight Arrow Connector 176">
                <a:extLst>
                  <a:ext uri="{FF2B5EF4-FFF2-40B4-BE49-F238E27FC236}">
                    <a16:creationId xmlns:a16="http://schemas.microsoft.com/office/drawing/2014/main" id="{0F6F4E0A-28CD-A8F3-372C-74BBC7597ADF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8622256" y="2425722"/>
                <a:ext cx="433654" cy="153564"/>
              </a:xfrm>
              <a:prstGeom prst="straightConnector1">
                <a:avLst/>
              </a:prstGeom>
              <a:ln>
                <a:solidFill>
                  <a:schemeClr val="tx1"/>
                </a:solidFill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79" name="Oval 178">
                <a:extLst>
                  <a:ext uri="{FF2B5EF4-FFF2-40B4-BE49-F238E27FC236}">
                    <a16:creationId xmlns:a16="http://schemas.microsoft.com/office/drawing/2014/main" id="{FE4CE686-6D59-BE56-8555-F4BBF6C664F4}"/>
                  </a:ext>
                </a:extLst>
              </p:cNvPr>
              <p:cNvSpPr/>
              <p:nvPr/>
            </p:nvSpPr>
            <p:spPr>
              <a:xfrm rot="16200000">
                <a:off x="9096231" y="2488863"/>
                <a:ext cx="205539" cy="190500"/>
              </a:xfrm>
              <a:prstGeom prst="ellipse">
                <a:avLst/>
              </a:prstGeom>
              <a:solidFill>
                <a:srgbClr val="730806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2800"/>
              </a:p>
            </p:txBody>
          </p:sp>
          <p:cxnSp>
            <p:nvCxnSpPr>
              <p:cNvPr id="187" name="Straight Arrow Connector 186">
                <a:extLst>
                  <a:ext uri="{FF2B5EF4-FFF2-40B4-BE49-F238E27FC236}">
                    <a16:creationId xmlns:a16="http://schemas.microsoft.com/office/drawing/2014/main" id="{4E352C02-B056-E013-561F-C8690B6DD376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9561567" y="3831310"/>
                <a:ext cx="540885" cy="2482"/>
              </a:xfrm>
              <a:prstGeom prst="straightConnector1">
                <a:avLst/>
              </a:prstGeom>
              <a:ln>
                <a:solidFill>
                  <a:schemeClr val="tx1"/>
                </a:solidFill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88" name="Oval 187">
                <a:extLst>
                  <a:ext uri="{FF2B5EF4-FFF2-40B4-BE49-F238E27FC236}">
                    <a16:creationId xmlns:a16="http://schemas.microsoft.com/office/drawing/2014/main" id="{FB720FBA-5931-DEA8-5381-66B29AC50316}"/>
                  </a:ext>
                </a:extLst>
              </p:cNvPr>
              <p:cNvSpPr/>
              <p:nvPr/>
            </p:nvSpPr>
            <p:spPr>
              <a:xfrm rot="16200000">
                <a:off x="10167547" y="3750689"/>
                <a:ext cx="205539" cy="190500"/>
              </a:xfrm>
              <a:prstGeom prst="ellipse">
                <a:avLst/>
              </a:prstGeom>
              <a:solidFill>
                <a:srgbClr val="FF0000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2800"/>
              </a:p>
            </p:txBody>
          </p:sp>
          <p:cxnSp>
            <p:nvCxnSpPr>
              <p:cNvPr id="189" name="Straight Arrow Connector 188">
                <a:extLst>
                  <a:ext uri="{FF2B5EF4-FFF2-40B4-BE49-F238E27FC236}">
                    <a16:creationId xmlns:a16="http://schemas.microsoft.com/office/drawing/2014/main" id="{0C78EE34-8F17-8345-83C8-BD169DAF02E4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9548886" y="3948525"/>
                <a:ext cx="426816" cy="238102"/>
              </a:xfrm>
              <a:prstGeom prst="straightConnector1">
                <a:avLst/>
              </a:prstGeom>
              <a:ln>
                <a:solidFill>
                  <a:schemeClr val="tx1"/>
                </a:solidFill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90" name="Oval 189">
                <a:extLst>
                  <a:ext uri="{FF2B5EF4-FFF2-40B4-BE49-F238E27FC236}">
                    <a16:creationId xmlns:a16="http://schemas.microsoft.com/office/drawing/2014/main" id="{E919B332-A110-5E08-622F-DD881D190C8F}"/>
                  </a:ext>
                </a:extLst>
              </p:cNvPr>
              <p:cNvSpPr/>
              <p:nvPr/>
            </p:nvSpPr>
            <p:spPr>
              <a:xfrm rot="16200000">
                <a:off x="10027917" y="4138864"/>
                <a:ext cx="205539" cy="190500"/>
              </a:xfrm>
              <a:prstGeom prst="ellipse">
                <a:avLst/>
              </a:prstGeom>
              <a:solidFill>
                <a:srgbClr val="FF0000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2800"/>
              </a:p>
            </p:txBody>
          </p:sp>
          <p:cxnSp>
            <p:nvCxnSpPr>
              <p:cNvPr id="191" name="Straight Arrow Connector 190">
                <a:extLst>
                  <a:ext uri="{FF2B5EF4-FFF2-40B4-BE49-F238E27FC236}">
                    <a16:creationId xmlns:a16="http://schemas.microsoft.com/office/drawing/2014/main" id="{A72F8247-AA7A-FC77-5FD9-F7B2E0BA0A32}"/>
                  </a:ext>
                </a:extLst>
              </p:cNvPr>
              <p:cNvCxnSpPr>
                <a:cxnSpLocks/>
              </p:cNvCxnSpPr>
              <p:nvPr/>
            </p:nvCxnSpPr>
            <p:spPr>
              <a:xfrm rot="16200000">
                <a:off x="9624373" y="3359886"/>
                <a:ext cx="275737" cy="442513"/>
              </a:xfrm>
              <a:prstGeom prst="straightConnector1">
                <a:avLst/>
              </a:prstGeom>
              <a:ln>
                <a:solidFill>
                  <a:schemeClr val="tx1"/>
                </a:solidFill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92" name="Oval 191">
                <a:extLst>
                  <a:ext uri="{FF2B5EF4-FFF2-40B4-BE49-F238E27FC236}">
                    <a16:creationId xmlns:a16="http://schemas.microsoft.com/office/drawing/2014/main" id="{B1547A1E-7978-3D8C-A3F3-B3459E994CB9}"/>
                  </a:ext>
                </a:extLst>
              </p:cNvPr>
              <p:cNvSpPr/>
              <p:nvPr/>
            </p:nvSpPr>
            <p:spPr>
              <a:xfrm rot="16200000">
                <a:off x="10031534" y="3288676"/>
                <a:ext cx="205539" cy="190500"/>
              </a:xfrm>
              <a:prstGeom prst="ellipse">
                <a:avLst/>
              </a:prstGeom>
              <a:solidFill>
                <a:srgbClr val="FF0000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2800"/>
              </a:p>
            </p:txBody>
          </p:sp>
          <p:cxnSp>
            <p:nvCxnSpPr>
              <p:cNvPr id="200" name="Straight Arrow Connector 199">
                <a:extLst>
                  <a:ext uri="{FF2B5EF4-FFF2-40B4-BE49-F238E27FC236}">
                    <a16:creationId xmlns:a16="http://schemas.microsoft.com/office/drawing/2014/main" id="{98D0B782-F0B5-7B0A-28F4-30BDF2D95D01}"/>
                  </a:ext>
                </a:extLst>
              </p:cNvPr>
              <p:cNvCxnSpPr>
                <a:cxnSpLocks/>
              </p:cNvCxnSpPr>
              <p:nvPr/>
            </p:nvCxnSpPr>
            <p:spPr>
              <a:xfrm rot="16200000">
                <a:off x="9424133" y="2924703"/>
                <a:ext cx="275737" cy="442513"/>
              </a:xfrm>
              <a:prstGeom prst="straightConnector1">
                <a:avLst/>
              </a:prstGeom>
              <a:ln>
                <a:solidFill>
                  <a:schemeClr val="tx1"/>
                </a:solidFill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201" name="Oval 200">
                <a:extLst>
                  <a:ext uri="{FF2B5EF4-FFF2-40B4-BE49-F238E27FC236}">
                    <a16:creationId xmlns:a16="http://schemas.microsoft.com/office/drawing/2014/main" id="{46B52F88-7554-3B2D-3EDE-E6B4B33E472B}"/>
                  </a:ext>
                </a:extLst>
              </p:cNvPr>
              <p:cNvSpPr/>
              <p:nvPr/>
            </p:nvSpPr>
            <p:spPr>
              <a:xfrm rot="16200000">
                <a:off x="9831294" y="2853493"/>
                <a:ext cx="205539" cy="190500"/>
              </a:xfrm>
              <a:prstGeom prst="ellipse">
                <a:avLst/>
              </a:prstGeom>
              <a:solidFill>
                <a:srgbClr val="C00000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2800"/>
              </a:p>
            </p:txBody>
          </p:sp>
          <p:sp>
            <p:nvSpPr>
              <p:cNvPr id="206" name="TextBox 205">
                <a:extLst>
                  <a:ext uri="{FF2B5EF4-FFF2-40B4-BE49-F238E27FC236}">
                    <a16:creationId xmlns:a16="http://schemas.microsoft.com/office/drawing/2014/main" id="{A4E4FE73-7FD3-A0B7-94B9-767B8CE20D3F}"/>
                  </a:ext>
                </a:extLst>
              </p:cNvPr>
              <p:cNvSpPr txBox="1"/>
              <p:nvPr/>
            </p:nvSpPr>
            <p:spPr>
              <a:xfrm>
                <a:off x="9354743" y="2361251"/>
                <a:ext cx="126204" cy="40011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sz="2000" dirty="0"/>
                  <a:t>†</a:t>
                </a:r>
              </a:p>
            </p:txBody>
          </p:sp>
          <p:cxnSp>
            <p:nvCxnSpPr>
              <p:cNvPr id="207" name="Straight Arrow Connector 206">
                <a:extLst>
                  <a:ext uri="{FF2B5EF4-FFF2-40B4-BE49-F238E27FC236}">
                    <a16:creationId xmlns:a16="http://schemas.microsoft.com/office/drawing/2014/main" id="{66C4F381-B659-8DB0-4E02-5D39FEC60123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9392838" y="1765082"/>
                <a:ext cx="390420" cy="179549"/>
              </a:xfrm>
              <a:prstGeom prst="straightConnector1">
                <a:avLst/>
              </a:prstGeom>
              <a:ln>
                <a:solidFill>
                  <a:schemeClr val="tx1"/>
                </a:solidFill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08" name="Straight Arrow Connector 207">
                <a:extLst>
                  <a:ext uri="{FF2B5EF4-FFF2-40B4-BE49-F238E27FC236}">
                    <a16:creationId xmlns:a16="http://schemas.microsoft.com/office/drawing/2014/main" id="{45C4B5BD-4CCD-DF84-B79E-F4C94D84E91F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9392838" y="2059364"/>
                <a:ext cx="383025" cy="145462"/>
              </a:xfrm>
              <a:prstGeom prst="straightConnector1">
                <a:avLst/>
              </a:prstGeom>
              <a:ln>
                <a:solidFill>
                  <a:schemeClr val="tx1"/>
                </a:solidFill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209" name="Oval 208">
                <a:extLst>
                  <a:ext uri="{FF2B5EF4-FFF2-40B4-BE49-F238E27FC236}">
                    <a16:creationId xmlns:a16="http://schemas.microsoft.com/office/drawing/2014/main" id="{D8620CA4-99F5-2A07-5CB6-33ED27A4EFE4}"/>
                  </a:ext>
                </a:extLst>
              </p:cNvPr>
              <p:cNvSpPr/>
              <p:nvPr/>
            </p:nvSpPr>
            <p:spPr>
              <a:xfrm rot="16200000">
                <a:off x="9831295" y="1609587"/>
                <a:ext cx="205539" cy="190500"/>
              </a:xfrm>
              <a:prstGeom prst="ellipse">
                <a:avLst/>
              </a:prstGeom>
              <a:solidFill>
                <a:srgbClr val="C00000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2800"/>
              </a:p>
            </p:txBody>
          </p:sp>
          <p:sp>
            <p:nvSpPr>
              <p:cNvPr id="211" name="Oval 210">
                <a:extLst>
                  <a:ext uri="{FF2B5EF4-FFF2-40B4-BE49-F238E27FC236}">
                    <a16:creationId xmlns:a16="http://schemas.microsoft.com/office/drawing/2014/main" id="{94192630-5951-C501-5796-4180CD7E8248}"/>
                  </a:ext>
                </a:extLst>
              </p:cNvPr>
              <p:cNvSpPr/>
              <p:nvPr/>
            </p:nvSpPr>
            <p:spPr>
              <a:xfrm rot="16200000">
                <a:off x="9831295" y="2155636"/>
                <a:ext cx="205539" cy="190500"/>
              </a:xfrm>
              <a:prstGeom prst="ellipse">
                <a:avLst/>
              </a:prstGeom>
              <a:solidFill>
                <a:srgbClr val="FF0000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2800"/>
              </a:p>
            </p:txBody>
          </p:sp>
          <p:grpSp>
            <p:nvGrpSpPr>
              <p:cNvPr id="215" name="Group 214">
                <a:extLst>
                  <a:ext uri="{FF2B5EF4-FFF2-40B4-BE49-F238E27FC236}">
                    <a16:creationId xmlns:a16="http://schemas.microsoft.com/office/drawing/2014/main" id="{3824786C-7B4B-B20B-F166-91BF843B226F}"/>
                  </a:ext>
                </a:extLst>
              </p:cNvPr>
              <p:cNvGrpSpPr/>
              <p:nvPr/>
            </p:nvGrpSpPr>
            <p:grpSpPr>
              <a:xfrm>
                <a:off x="1238086" y="1247004"/>
                <a:ext cx="9848509" cy="4943731"/>
                <a:chOff x="1238086" y="1247004"/>
                <a:chExt cx="9848509" cy="4943731"/>
              </a:xfrm>
            </p:grpSpPr>
            <p:grpSp>
              <p:nvGrpSpPr>
                <p:cNvPr id="106" name="Group 105">
                  <a:extLst>
                    <a:ext uri="{FF2B5EF4-FFF2-40B4-BE49-F238E27FC236}">
                      <a16:creationId xmlns:a16="http://schemas.microsoft.com/office/drawing/2014/main" id="{92DB51E3-AF86-5014-E314-843FB7635913}"/>
                    </a:ext>
                  </a:extLst>
                </p:cNvPr>
                <p:cNvGrpSpPr/>
                <p:nvPr/>
              </p:nvGrpSpPr>
              <p:grpSpPr>
                <a:xfrm>
                  <a:off x="1842394" y="1885167"/>
                  <a:ext cx="7311566" cy="4305568"/>
                  <a:chOff x="2446934" y="2740383"/>
                  <a:chExt cx="7311566" cy="4305568"/>
                </a:xfrm>
              </p:grpSpPr>
              <p:cxnSp>
                <p:nvCxnSpPr>
                  <p:cNvPr id="107" name="Straight Connector 106">
                    <a:extLst>
                      <a:ext uri="{FF2B5EF4-FFF2-40B4-BE49-F238E27FC236}">
                        <a16:creationId xmlns:a16="http://schemas.microsoft.com/office/drawing/2014/main" id="{1BEB2413-E5A3-ADEB-7C76-5B3FFD8FD983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>
                    <a:off x="4184703" y="2740383"/>
                    <a:ext cx="0" cy="3046911"/>
                  </a:xfrm>
                  <a:prstGeom prst="line">
                    <a:avLst/>
                  </a:prstGeom>
                  <a:ln>
                    <a:solidFill>
                      <a:schemeClr val="tx1"/>
                    </a:solidFill>
                    <a:prstDash val="dash"/>
                  </a:ln>
                </p:spPr>
                <p:style>
                  <a:lnRef idx="2">
                    <a:schemeClr val="accent1"/>
                  </a:lnRef>
                  <a:fillRef idx="0">
                    <a:schemeClr val="accent1"/>
                  </a:fillRef>
                  <a:effectRef idx="1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108" name="Straight Arrow Connector 107">
                    <a:extLst>
                      <a:ext uri="{FF2B5EF4-FFF2-40B4-BE49-F238E27FC236}">
                        <a16:creationId xmlns:a16="http://schemas.microsoft.com/office/drawing/2014/main" id="{4FD5A900-1F06-0BAA-7872-4A28A567A4EA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V="1">
                    <a:off x="3848326" y="3735980"/>
                    <a:ext cx="670250" cy="4022"/>
                  </a:xfrm>
                  <a:prstGeom prst="straightConnector1">
                    <a:avLst/>
                  </a:prstGeom>
                  <a:ln>
                    <a:solidFill>
                      <a:schemeClr val="tx1"/>
                    </a:solidFill>
                    <a:tailEnd type="triangle"/>
                  </a:ln>
                </p:spPr>
                <p:style>
                  <a:lnRef idx="2">
                    <a:schemeClr val="accent1"/>
                  </a:lnRef>
                  <a:fillRef idx="0">
                    <a:schemeClr val="accent1"/>
                  </a:fillRef>
                  <a:effectRef idx="1">
                    <a:schemeClr val="accent1"/>
                  </a:effectRef>
                  <a:fontRef idx="minor">
                    <a:schemeClr val="tx1"/>
                  </a:fontRef>
                </p:style>
              </p:cxnSp>
              <p:sp>
                <p:nvSpPr>
                  <p:cNvPr id="109" name="Oval 108">
                    <a:extLst>
                      <a:ext uri="{FF2B5EF4-FFF2-40B4-BE49-F238E27FC236}">
                        <a16:creationId xmlns:a16="http://schemas.microsoft.com/office/drawing/2014/main" id="{223E2103-6217-62ED-3364-85092142AF8E}"/>
                      </a:ext>
                    </a:extLst>
                  </p:cNvPr>
                  <p:cNvSpPr/>
                  <p:nvPr/>
                </p:nvSpPr>
                <p:spPr>
                  <a:xfrm rot="16200000">
                    <a:off x="3358925" y="3418532"/>
                    <a:ext cx="205539" cy="190500"/>
                  </a:xfrm>
                  <a:prstGeom prst="ellipse">
                    <a:avLst/>
                  </a:prstGeom>
                  <a:solidFill>
                    <a:schemeClr val="bg2"/>
                  </a:solidFill>
                  <a:ln>
                    <a:solidFill>
                      <a:schemeClr val="tx1"/>
                    </a:solidFill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 sz="2800" dirty="0"/>
                  </a:p>
                </p:txBody>
              </p:sp>
              <p:sp>
                <p:nvSpPr>
                  <p:cNvPr id="110" name="Oval 109">
                    <a:extLst>
                      <a:ext uri="{FF2B5EF4-FFF2-40B4-BE49-F238E27FC236}">
                        <a16:creationId xmlns:a16="http://schemas.microsoft.com/office/drawing/2014/main" id="{85320A9E-E29B-B68E-51D0-733649246674}"/>
                      </a:ext>
                    </a:extLst>
                  </p:cNvPr>
                  <p:cNvSpPr/>
                  <p:nvPr/>
                </p:nvSpPr>
                <p:spPr>
                  <a:xfrm rot="16200000">
                    <a:off x="4629399" y="3623731"/>
                    <a:ext cx="205539" cy="190500"/>
                  </a:xfrm>
                  <a:prstGeom prst="ellipse">
                    <a:avLst/>
                  </a:prstGeom>
                  <a:solidFill>
                    <a:schemeClr val="bg2"/>
                  </a:solidFill>
                  <a:ln>
                    <a:solidFill>
                      <a:schemeClr val="tx1"/>
                    </a:solidFill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 sz="2800"/>
                  </a:p>
                </p:txBody>
              </p:sp>
              <p:cxnSp>
                <p:nvCxnSpPr>
                  <p:cNvPr id="111" name="Straight Arrow Connector 110">
                    <a:extLst>
                      <a:ext uri="{FF2B5EF4-FFF2-40B4-BE49-F238E27FC236}">
                        <a16:creationId xmlns:a16="http://schemas.microsoft.com/office/drawing/2014/main" id="{0B1B256C-CAD6-0F24-64B6-BA943B4EDA05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rot="16200000">
                    <a:off x="5191665" y="3457246"/>
                    <a:ext cx="4621" cy="496428"/>
                  </a:xfrm>
                  <a:prstGeom prst="straightConnector1">
                    <a:avLst/>
                  </a:prstGeom>
                  <a:ln>
                    <a:solidFill>
                      <a:schemeClr val="tx1"/>
                    </a:solidFill>
                    <a:tailEnd type="triangle"/>
                  </a:ln>
                </p:spPr>
                <p:style>
                  <a:lnRef idx="2">
                    <a:schemeClr val="accent1"/>
                  </a:lnRef>
                  <a:fillRef idx="0">
                    <a:schemeClr val="accent1"/>
                  </a:fillRef>
                  <a:effectRef idx="1">
                    <a:schemeClr val="accent1"/>
                  </a:effectRef>
                  <a:fontRef idx="minor">
                    <a:schemeClr val="tx1"/>
                  </a:fontRef>
                </p:style>
              </p:cxnSp>
              <p:sp>
                <p:nvSpPr>
                  <p:cNvPr id="112" name="Oval 111">
                    <a:extLst>
                      <a:ext uri="{FF2B5EF4-FFF2-40B4-BE49-F238E27FC236}">
                        <a16:creationId xmlns:a16="http://schemas.microsoft.com/office/drawing/2014/main" id="{5FD516F3-A5C5-60EF-AA33-F8FB405193E8}"/>
                      </a:ext>
                    </a:extLst>
                  </p:cNvPr>
                  <p:cNvSpPr/>
                  <p:nvPr/>
                </p:nvSpPr>
                <p:spPr>
                  <a:xfrm rot="16200000">
                    <a:off x="5560333" y="3609355"/>
                    <a:ext cx="205539" cy="190500"/>
                  </a:xfrm>
                  <a:prstGeom prst="ellipse">
                    <a:avLst/>
                  </a:prstGeom>
                  <a:solidFill>
                    <a:schemeClr val="tx1">
                      <a:lumMod val="50000"/>
                      <a:lumOff val="50000"/>
                    </a:schemeClr>
                  </a:solidFill>
                  <a:ln>
                    <a:solidFill>
                      <a:schemeClr val="tx1"/>
                    </a:solidFill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 sz="2800"/>
                  </a:p>
                </p:txBody>
              </p:sp>
              <p:cxnSp>
                <p:nvCxnSpPr>
                  <p:cNvPr id="113" name="Straight Arrow Connector 112">
                    <a:extLst>
                      <a:ext uri="{FF2B5EF4-FFF2-40B4-BE49-F238E27FC236}">
                        <a16:creationId xmlns:a16="http://schemas.microsoft.com/office/drawing/2014/main" id="{7E5B420F-A5D2-7D13-8D83-63205E5F6CB8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rot="16200000" flipH="1">
                    <a:off x="5974460" y="3757373"/>
                    <a:ext cx="275737" cy="442513"/>
                  </a:xfrm>
                  <a:prstGeom prst="straightConnector1">
                    <a:avLst/>
                  </a:prstGeom>
                  <a:ln>
                    <a:solidFill>
                      <a:schemeClr val="tx1"/>
                    </a:solidFill>
                    <a:tailEnd type="triangle"/>
                  </a:ln>
                </p:spPr>
                <p:style>
                  <a:lnRef idx="2">
                    <a:schemeClr val="accent1"/>
                  </a:lnRef>
                  <a:fillRef idx="0">
                    <a:schemeClr val="accent1"/>
                  </a:fillRef>
                  <a:effectRef idx="1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114" name="Straight Arrow Connector 113">
                    <a:extLst>
                      <a:ext uri="{FF2B5EF4-FFF2-40B4-BE49-F238E27FC236}">
                        <a16:creationId xmlns:a16="http://schemas.microsoft.com/office/drawing/2014/main" id="{D644DFCB-920C-7545-6A11-741C280B1692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rot="16200000">
                    <a:off x="5974459" y="3211034"/>
                    <a:ext cx="275737" cy="442513"/>
                  </a:xfrm>
                  <a:prstGeom prst="straightConnector1">
                    <a:avLst/>
                  </a:prstGeom>
                  <a:ln>
                    <a:solidFill>
                      <a:schemeClr val="tx1"/>
                    </a:solidFill>
                    <a:tailEnd type="triangle"/>
                  </a:ln>
                </p:spPr>
                <p:style>
                  <a:lnRef idx="2">
                    <a:schemeClr val="accent1"/>
                  </a:lnRef>
                  <a:fillRef idx="0">
                    <a:schemeClr val="accent1"/>
                  </a:fillRef>
                  <a:effectRef idx="1">
                    <a:schemeClr val="accent1"/>
                  </a:effectRef>
                  <a:fontRef idx="minor">
                    <a:schemeClr val="tx1"/>
                  </a:fontRef>
                </p:style>
              </p:cxnSp>
              <p:sp>
                <p:nvSpPr>
                  <p:cNvPr id="115" name="Oval 114">
                    <a:extLst>
                      <a:ext uri="{FF2B5EF4-FFF2-40B4-BE49-F238E27FC236}">
                        <a16:creationId xmlns:a16="http://schemas.microsoft.com/office/drawing/2014/main" id="{9B006CFA-25B6-B47F-FA50-EB7EE4F3758B}"/>
                      </a:ext>
                    </a:extLst>
                  </p:cNvPr>
                  <p:cNvSpPr/>
                  <p:nvPr/>
                </p:nvSpPr>
                <p:spPr>
                  <a:xfrm rot="16200000">
                    <a:off x="6401409" y="4119749"/>
                    <a:ext cx="205539" cy="190500"/>
                  </a:xfrm>
                  <a:prstGeom prst="ellipse">
                    <a:avLst/>
                  </a:prstGeom>
                  <a:solidFill>
                    <a:schemeClr val="tx1">
                      <a:lumMod val="50000"/>
                      <a:lumOff val="50000"/>
                    </a:schemeClr>
                  </a:solidFill>
                  <a:ln>
                    <a:solidFill>
                      <a:schemeClr val="tx1"/>
                    </a:solidFill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 sz="2800"/>
                  </a:p>
                </p:txBody>
              </p:sp>
              <p:sp>
                <p:nvSpPr>
                  <p:cNvPr id="116" name="Oval 115">
                    <a:extLst>
                      <a:ext uri="{FF2B5EF4-FFF2-40B4-BE49-F238E27FC236}">
                        <a16:creationId xmlns:a16="http://schemas.microsoft.com/office/drawing/2014/main" id="{6EE4D942-3DE6-0771-87AF-AF85A80719A9}"/>
                      </a:ext>
                    </a:extLst>
                  </p:cNvPr>
                  <p:cNvSpPr/>
                  <p:nvPr/>
                </p:nvSpPr>
                <p:spPr>
                  <a:xfrm rot="16200000">
                    <a:off x="6401408" y="3127712"/>
                    <a:ext cx="205539" cy="190500"/>
                  </a:xfrm>
                  <a:prstGeom prst="ellipse">
                    <a:avLst/>
                  </a:prstGeom>
                  <a:solidFill>
                    <a:schemeClr val="tx1">
                      <a:lumMod val="50000"/>
                      <a:lumOff val="50000"/>
                    </a:schemeClr>
                  </a:solidFill>
                  <a:ln>
                    <a:solidFill>
                      <a:schemeClr val="tx1"/>
                    </a:solidFill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 sz="2800"/>
                  </a:p>
                </p:txBody>
              </p:sp>
              <p:cxnSp>
                <p:nvCxnSpPr>
                  <p:cNvPr id="117" name="Straight Arrow Connector 116">
                    <a:extLst>
                      <a:ext uri="{FF2B5EF4-FFF2-40B4-BE49-F238E27FC236}">
                        <a16:creationId xmlns:a16="http://schemas.microsoft.com/office/drawing/2014/main" id="{4DB2ABDD-7993-6E44-EC52-5B14D20A8F40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rot="16200000">
                    <a:off x="6949297" y="3967641"/>
                    <a:ext cx="4621" cy="496428"/>
                  </a:xfrm>
                  <a:prstGeom prst="straightConnector1">
                    <a:avLst/>
                  </a:prstGeom>
                  <a:ln>
                    <a:solidFill>
                      <a:schemeClr val="tx1"/>
                    </a:solidFill>
                    <a:tailEnd type="triangle"/>
                  </a:ln>
                </p:spPr>
                <p:style>
                  <a:lnRef idx="2">
                    <a:schemeClr val="accent1"/>
                  </a:lnRef>
                  <a:fillRef idx="0">
                    <a:schemeClr val="accent1"/>
                  </a:fillRef>
                  <a:effectRef idx="1">
                    <a:schemeClr val="accent1"/>
                  </a:effectRef>
                  <a:fontRef idx="minor">
                    <a:schemeClr val="tx1"/>
                  </a:fontRef>
                </p:style>
              </p:cxnSp>
              <p:sp>
                <p:nvSpPr>
                  <p:cNvPr id="118" name="Oval 117">
                    <a:extLst>
                      <a:ext uri="{FF2B5EF4-FFF2-40B4-BE49-F238E27FC236}">
                        <a16:creationId xmlns:a16="http://schemas.microsoft.com/office/drawing/2014/main" id="{983BDDD5-6CCC-7DB2-A7D5-D506C3718051}"/>
                      </a:ext>
                    </a:extLst>
                  </p:cNvPr>
                  <p:cNvSpPr/>
                  <p:nvPr/>
                </p:nvSpPr>
                <p:spPr>
                  <a:xfrm rot="16200000">
                    <a:off x="7317965" y="4119750"/>
                    <a:ext cx="205539" cy="190500"/>
                  </a:xfrm>
                  <a:prstGeom prst="ellipse">
                    <a:avLst/>
                  </a:prstGeom>
                  <a:solidFill>
                    <a:schemeClr val="tx1"/>
                  </a:solidFill>
                  <a:ln>
                    <a:solidFill>
                      <a:schemeClr val="tx1"/>
                    </a:solidFill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 sz="2800">
                      <a:solidFill>
                        <a:schemeClr val="tx1"/>
                      </a:solidFill>
                    </a:endParaRPr>
                  </a:p>
                </p:txBody>
              </p:sp>
              <p:cxnSp>
                <p:nvCxnSpPr>
                  <p:cNvPr id="119" name="Straight Arrow Connector 118">
                    <a:extLst>
                      <a:ext uri="{FF2B5EF4-FFF2-40B4-BE49-F238E27FC236}">
                        <a16:creationId xmlns:a16="http://schemas.microsoft.com/office/drawing/2014/main" id="{B550F92C-CD83-E58A-83A4-476E72568B61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rot="16200000" flipH="1">
                    <a:off x="7724903" y="4318090"/>
                    <a:ext cx="275737" cy="442513"/>
                  </a:xfrm>
                  <a:prstGeom prst="straightConnector1">
                    <a:avLst/>
                  </a:prstGeom>
                  <a:ln>
                    <a:solidFill>
                      <a:schemeClr val="tx1"/>
                    </a:solidFill>
                    <a:tailEnd type="triangle"/>
                  </a:ln>
                </p:spPr>
                <p:style>
                  <a:lnRef idx="2">
                    <a:schemeClr val="accent1"/>
                  </a:lnRef>
                  <a:fillRef idx="0">
                    <a:schemeClr val="accent1"/>
                  </a:fillRef>
                  <a:effectRef idx="1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120" name="Straight Arrow Connector 119">
                    <a:extLst>
                      <a:ext uri="{FF2B5EF4-FFF2-40B4-BE49-F238E27FC236}">
                        <a16:creationId xmlns:a16="http://schemas.microsoft.com/office/drawing/2014/main" id="{D90E340E-1C82-213D-2FBB-3488D636823F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rot="16200000">
                    <a:off x="7724902" y="3642355"/>
                    <a:ext cx="275737" cy="442513"/>
                  </a:xfrm>
                  <a:prstGeom prst="straightConnector1">
                    <a:avLst/>
                  </a:prstGeom>
                  <a:ln>
                    <a:solidFill>
                      <a:schemeClr val="tx1"/>
                    </a:solidFill>
                    <a:tailEnd type="triangle"/>
                  </a:ln>
                </p:spPr>
                <p:style>
                  <a:lnRef idx="2">
                    <a:schemeClr val="accent1"/>
                  </a:lnRef>
                  <a:fillRef idx="0">
                    <a:schemeClr val="accent1"/>
                  </a:fillRef>
                  <a:effectRef idx="1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121" name="Straight Arrow Connector 120">
                    <a:extLst>
                      <a:ext uri="{FF2B5EF4-FFF2-40B4-BE49-F238E27FC236}">
                        <a16:creationId xmlns:a16="http://schemas.microsoft.com/office/drawing/2014/main" id="{3D704DD0-5543-5F59-7E83-128C23220DD2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rot="16200000">
                    <a:off x="6942108" y="2946849"/>
                    <a:ext cx="4621" cy="496428"/>
                  </a:xfrm>
                  <a:prstGeom prst="straightConnector1">
                    <a:avLst/>
                  </a:prstGeom>
                  <a:ln>
                    <a:solidFill>
                      <a:schemeClr val="tx1"/>
                    </a:solidFill>
                    <a:tailEnd type="triangle"/>
                  </a:ln>
                </p:spPr>
                <p:style>
                  <a:lnRef idx="2">
                    <a:schemeClr val="accent1"/>
                  </a:lnRef>
                  <a:fillRef idx="0">
                    <a:schemeClr val="accent1"/>
                  </a:fillRef>
                  <a:effectRef idx="1">
                    <a:schemeClr val="accent1"/>
                  </a:effectRef>
                  <a:fontRef idx="minor">
                    <a:schemeClr val="tx1"/>
                  </a:fontRef>
                </p:style>
              </p:cxnSp>
              <p:sp>
                <p:nvSpPr>
                  <p:cNvPr id="122" name="Oval 121">
                    <a:extLst>
                      <a:ext uri="{FF2B5EF4-FFF2-40B4-BE49-F238E27FC236}">
                        <a16:creationId xmlns:a16="http://schemas.microsoft.com/office/drawing/2014/main" id="{A72D367B-5E61-0E01-35CA-00BE4713747C}"/>
                      </a:ext>
                    </a:extLst>
                  </p:cNvPr>
                  <p:cNvSpPr/>
                  <p:nvPr/>
                </p:nvSpPr>
                <p:spPr>
                  <a:xfrm rot="16200000">
                    <a:off x="7310776" y="3098958"/>
                    <a:ext cx="205539" cy="190500"/>
                  </a:xfrm>
                  <a:prstGeom prst="ellipse">
                    <a:avLst/>
                  </a:prstGeom>
                  <a:solidFill>
                    <a:schemeClr val="tx1">
                      <a:lumMod val="50000"/>
                      <a:lumOff val="50000"/>
                    </a:schemeClr>
                  </a:solidFill>
                  <a:ln>
                    <a:solidFill>
                      <a:schemeClr val="tx1"/>
                    </a:solidFill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 sz="2800"/>
                  </a:p>
                </p:txBody>
              </p:sp>
              <p:sp>
                <p:nvSpPr>
                  <p:cNvPr id="123" name="Oval 122">
                    <a:extLst>
                      <a:ext uri="{FF2B5EF4-FFF2-40B4-BE49-F238E27FC236}">
                        <a16:creationId xmlns:a16="http://schemas.microsoft.com/office/drawing/2014/main" id="{6C1EA2E4-9FDC-534A-60B9-350D36586E0C}"/>
                      </a:ext>
                    </a:extLst>
                  </p:cNvPr>
                  <p:cNvSpPr/>
                  <p:nvPr/>
                </p:nvSpPr>
                <p:spPr>
                  <a:xfrm rot="16200000">
                    <a:off x="8146925" y="4606445"/>
                    <a:ext cx="205539" cy="190500"/>
                  </a:xfrm>
                  <a:prstGeom prst="ellipse">
                    <a:avLst/>
                  </a:prstGeom>
                  <a:solidFill>
                    <a:srgbClr val="730806"/>
                  </a:solidFill>
                  <a:ln>
                    <a:solidFill>
                      <a:schemeClr val="tx1"/>
                    </a:solidFill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 sz="2800"/>
                  </a:p>
                </p:txBody>
              </p:sp>
              <p:cxnSp>
                <p:nvCxnSpPr>
                  <p:cNvPr id="125" name="Straight Arrow Connector 124">
                    <a:extLst>
                      <a:ext uri="{FF2B5EF4-FFF2-40B4-BE49-F238E27FC236}">
                        <a16:creationId xmlns:a16="http://schemas.microsoft.com/office/drawing/2014/main" id="{54083D6E-FD2F-7E91-C199-A59CD6392B2D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V="1">
                    <a:off x="8430212" y="4712935"/>
                    <a:ext cx="477136" cy="2526"/>
                  </a:xfrm>
                  <a:prstGeom prst="straightConnector1">
                    <a:avLst/>
                  </a:prstGeom>
                  <a:ln>
                    <a:solidFill>
                      <a:schemeClr val="tx1"/>
                    </a:solidFill>
                    <a:tailEnd type="triangle"/>
                  </a:ln>
                </p:spPr>
                <p:style>
                  <a:lnRef idx="2">
                    <a:schemeClr val="accent1"/>
                  </a:lnRef>
                  <a:fillRef idx="0">
                    <a:schemeClr val="accent1"/>
                  </a:fillRef>
                  <a:effectRef idx="1">
                    <a:schemeClr val="accent1"/>
                  </a:effectRef>
                  <a:fontRef idx="minor">
                    <a:schemeClr val="tx1"/>
                  </a:fontRef>
                </p:style>
              </p:cxnSp>
              <p:sp>
                <p:nvSpPr>
                  <p:cNvPr id="127" name="Oval 126">
                    <a:extLst>
                      <a:ext uri="{FF2B5EF4-FFF2-40B4-BE49-F238E27FC236}">
                        <a16:creationId xmlns:a16="http://schemas.microsoft.com/office/drawing/2014/main" id="{D0EC9794-A4B6-FA34-FD25-7807F45FCAED}"/>
                      </a:ext>
                    </a:extLst>
                  </p:cNvPr>
                  <p:cNvSpPr/>
                  <p:nvPr/>
                </p:nvSpPr>
                <p:spPr>
                  <a:xfrm rot="16200000">
                    <a:off x="8955175" y="4605906"/>
                    <a:ext cx="205539" cy="190500"/>
                  </a:xfrm>
                  <a:prstGeom prst="ellipse">
                    <a:avLst/>
                  </a:prstGeom>
                  <a:solidFill>
                    <a:srgbClr val="C00000"/>
                  </a:solidFill>
                  <a:ln>
                    <a:solidFill>
                      <a:schemeClr val="tx1"/>
                    </a:solidFill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 sz="2800" dirty="0"/>
                  </a:p>
                </p:txBody>
              </p:sp>
              <p:sp>
                <p:nvSpPr>
                  <p:cNvPr id="128" name="Oval 127">
                    <a:extLst>
                      <a:ext uri="{FF2B5EF4-FFF2-40B4-BE49-F238E27FC236}">
                        <a16:creationId xmlns:a16="http://schemas.microsoft.com/office/drawing/2014/main" id="{566C1181-D31E-04AD-F576-F52D79BF6891}"/>
                      </a:ext>
                    </a:extLst>
                  </p:cNvPr>
                  <p:cNvSpPr/>
                  <p:nvPr/>
                </p:nvSpPr>
                <p:spPr>
                  <a:xfrm rot="16200000">
                    <a:off x="8139271" y="3506584"/>
                    <a:ext cx="205539" cy="190500"/>
                  </a:xfrm>
                  <a:prstGeom prst="ellipse">
                    <a:avLst/>
                  </a:prstGeom>
                  <a:solidFill>
                    <a:srgbClr val="730806"/>
                  </a:solidFill>
                  <a:ln>
                    <a:solidFill>
                      <a:schemeClr val="tx1"/>
                    </a:solidFill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 sz="2800" dirty="0"/>
                  </a:p>
                </p:txBody>
              </p:sp>
              <p:cxnSp>
                <p:nvCxnSpPr>
                  <p:cNvPr id="129" name="Straight Arrow Connector 128">
                    <a:extLst>
                      <a:ext uri="{FF2B5EF4-FFF2-40B4-BE49-F238E27FC236}">
                        <a16:creationId xmlns:a16="http://schemas.microsoft.com/office/drawing/2014/main" id="{AD83A68A-BE61-FCD3-8DA9-1C275671D90A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>
                    <a:off x="8442914" y="3666883"/>
                    <a:ext cx="444206" cy="156212"/>
                  </a:xfrm>
                  <a:prstGeom prst="straightConnector1">
                    <a:avLst/>
                  </a:prstGeom>
                  <a:ln>
                    <a:solidFill>
                      <a:schemeClr val="tx1"/>
                    </a:solidFill>
                    <a:tailEnd type="triangle"/>
                  </a:ln>
                </p:spPr>
                <p:style>
                  <a:lnRef idx="2">
                    <a:schemeClr val="accent1"/>
                  </a:lnRef>
                  <a:fillRef idx="0">
                    <a:schemeClr val="accent1"/>
                  </a:fillRef>
                  <a:effectRef idx="1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130" name="Straight Arrow Connector 129">
                    <a:extLst>
                      <a:ext uri="{FF2B5EF4-FFF2-40B4-BE49-F238E27FC236}">
                        <a16:creationId xmlns:a16="http://schemas.microsoft.com/office/drawing/2014/main" id="{C77B26E8-A53C-D718-C1DE-6EEBD2565FB7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V="1">
                    <a:off x="8443598" y="3293164"/>
                    <a:ext cx="417620" cy="228648"/>
                  </a:xfrm>
                  <a:prstGeom prst="straightConnector1">
                    <a:avLst/>
                  </a:prstGeom>
                  <a:ln>
                    <a:solidFill>
                      <a:schemeClr val="tx1"/>
                    </a:solidFill>
                    <a:tailEnd type="triangle"/>
                  </a:ln>
                </p:spPr>
                <p:style>
                  <a:lnRef idx="2">
                    <a:schemeClr val="accent1"/>
                  </a:lnRef>
                  <a:fillRef idx="0">
                    <a:schemeClr val="accent1"/>
                  </a:fillRef>
                  <a:effectRef idx="1">
                    <a:schemeClr val="accent1"/>
                  </a:effectRef>
                  <a:fontRef idx="minor">
                    <a:schemeClr val="tx1"/>
                  </a:fontRef>
                </p:style>
              </p:cxnSp>
              <p:sp>
                <p:nvSpPr>
                  <p:cNvPr id="131" name="Oval 130">
                    <a:extLst>
                      <a:ext uri="{FF2B5EF4-FFF2-40B4-BE49-F238E27FC236}">
                        <a16:creationId xmlns:a16="http://schemas.microsoft.com/office/drawing/2014/main" id="{6D5C3E45-D1A4-0E39-2F8E-DF031ED33D73}"/>
                      </a:ext>
                    </a:extLst>
                  </p:cNvPr>
                  <p:cNvSpPr/>
                  <p:nvPr/>
                </p:nvSpPr>
                <p:spPr>
                  <a:xfrm rot="16200000">
                    <a:off x="8937035" y="3750140"/>
                    <a:ext cx="205539" cy="190500"/>
                  </a:xfrm>
                  <a:prstGeom prst="ellipse">
                    <a:avLst/>
                  </a:prstGeom>
                  <a:solidFill>
                    <a:srgbClr val="730806"/>
                  </a:solidFill>
                  <a:ln>
                    <a:solidFill>
                      <a:schemeClr val="tx1"/>
                    </a:solidFill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 sz="2800"/>
                  </a:p>
                </p:txBody>
              </p:sp>
              <p:sp>
                <p:nvSpPr>
                  <p:cNvPr id="132" name="Oval 131">
                    <a:extLst>
                      <a:ext uri="{FF2B5EF4-FFF2-40B4-BE49-F238E27FC236}">
                        <a16:creationId xmlns:a16="http://schemas.microsoft.com/office/drawing/2014/main" id="{E35E5E26-EBC8-7990-8E87-906EA07D7A82}"/>
                      </a:ext>
                    </a:extLst>
                  </p:cNvPr>
                  <p:cNvSpPr/>
                  <p:nvPr/>
                </p:nvSpPr>
                <p:spPr>
                  <a:xfrm rot="16200000">
                    <a:off x="8925548" y="3175931"/>
                    <a:ext cx="205539" cy="190500"/>
                  </a:xfrm>
                  <a:prstGeom prst="ellipse">
                    <a:avLst/>
                  </a:prstGeom>
                  <a:solidFill>
                    <a:srgbClr val="730806"/>
                  </a:solidFill>
                  <a:ln>
                    <a:solidFill>
                      <a:schemeClr val="tx1"/>
                    </a:solidFill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 sz="2800"/>
                  </a:p>
                </p:txBody>
              </p:sp>
              <p:sp>
                <p:nvSpPr>
                  <p:cNvPr id="133" name="TextBox 132">
                    <a:extLst>
                      <a:ext uri="{FF2B5EF4-FFF2-40B4-BE49-F238E27FC236}">
                        <a16:creationId xmlns:a16="http://schemas.microsoft.com/office/drawing/2014/main" id="{F2859B2F-895B-C8F3-F724-40ADF5A81D75}"/>
                      </a:ext>
                    </a:extLst>
                  </p:cNvPr>
                  <p:cNvSpPr txBox="1"/>
                  <p:nvPr/>
                </p:nvSpPr>
                <p:spPr>
                  <a:xfrm>
                    <a:off x="7589645" y="2999232"/>
                    <a:ext cx="126204" cy="400110"/>
                  </a:xfrm>
                  <a:prstGeom prst="rect">
                    <a:avLst/>
                  </a:prstGeom>
                  <a:noFill/>
                  <a:ln>
                    <a:noFill/>
                  </a:ln>
                </p:spPr>
                <p:txBody>
                  <a:bodyPr wrap="square" rtlCol="0">
                    <a:spAutoFit/>
                  </a:bodyPr>
                  <a:lstStyle/>
                  <a:p>
                    <a:pPr algn="ctr"/>
                    <a:r>
                      <a:rPr lang="en-US" sz="2000" dirty="0"/>
                      <a:t>†</a:t>
                    </a:r>
                  </a:p>
                </p:txBody>
              </p:sp>
              <p:cxnSp>
                <p:nvCxnSpPr>
                  <p:cNvPr id="134" name="Straight Connector 133">
                    <a:extLst>
                      <a:ext uri="{FF2B5EF4-FFF2-40B4-BE49-F238E27FC236}">
                        <a16:creationId xmlns:a16="http://schemas.microsoft.com/office/drawing/2014/main" id="{637F252A-57D9-1E6B-7919-F4B30391AE21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>
                    <a:off x="7826868" y="2740383"/>
                    <a:ext cx="0" cy="3044952"/>
                  </a:xfrm>
                  <a:prstGeom prst="line">
                    <a:avLst/>
                  </a:prstGeom>
                  <a:ln>
                    <a:solidFill>
                      <a:schemeClr val="tx1"/>
                    </a:solidFill>
                    <a:prstDash val="dash"/>
                  </a:ln>
                </p:spPr>
                <p:style>
                  <a:lnRef idx="2">
                    <a:schemeClr val="accent1"/>
                  </a:lnRef>
                  <a:fillRef idx="0">
                    <a:schemeClr val="accent1"/>
                  </a:fillRef>
                  <a:effectRef idx="1">
                    <a:schemeClr val="accent1"/>
                  </a:effectRef>
                  <a:fontRef idx="minor">
                    <a:schemeClr val="tx1"/>
                  </a:fontRef>
                </p:style>
              </p:cxnSp>
              <p:sp>
                <p:nvSpPr>
                  <p:cNvPr id="135" name="TextBox 134">
                    <a:extLst>
                      <a:ext uri="{FF2B5EF4-FFF2-40B4-BE49-F238E27FC236}">
                        <a16:creationId xmlns:a16="http://schemas.microsoft.com/office/drawing/2014/main" id="{ABD9C64C-28CC-458C-E6FE-229582024959}"/>
                      </a:ext>
                    </a:extLst>
                  </p:cNvPr>
                  <p:cNvSpPr txBox="1"/>
                  <p:nvPr/>
                </p:nvSpPr>
                <p:spPr>
                  <a:xfrm>
                    <a:off x="3395544" y="5792685"/>
                    <a:ext cx="1574982" cy="523220"/>
                  </a:xfrm>
                  <a:prstGeom prst="rect">
                    <a:avLst/>
                  </a:prstGeom>
                  <a:noFill/>
                  <a:ln>
                    <a:noFill/>
                  </a:ln>
                </p:spPr>
                <p:txBody>
                  <a:bodyPr wrap="square" rtlCol="0">
                    <a:spAutoFit/>
                  </a:bodyPr>
                  <a:lstStyle/>
                  <a:p>
                    <a:pPr algn="ctr"/>
                    <a:r>
                      <a:rPr lang="en-US" sz="1400" b="1" dirty="0"/>
                      <a:t>Introduction </a:t>
                    </a:r>
                  </a:p>
                  <a:p>
                    <a:pPr algn="ctr"/>
                    <a:r>
                      <a:rPr lang="en-US" sz="1400" b="1" dirty="0"/>
                      <a:t>(from reservoir)</a:t>
                    </a:r>
                  </a:p>
                </p:txBody>
              </p:sp>
              <p:sp>
                <p:nvSpPr>
                  <p:cNvPr id="137" name="Oval 136">
                    <a:extLst>
                      <a:ext uri="{FF2B5EF4-FFF2-40B4-BE49-F238E27FC236}">
                        <a16:creationId xmlns:a16="http://schemas.microsoft.com/office/drawing/2014/main" id="{34408081-3847-7701-04CE-E5804BF35BAC}"/>
                      </a:ext>
                    </a:extLst>
                  </p:cNvPr>
                  <p:cNvSpPr/>
                  <p:nvPr/>
                </p:nvSpPr>
                <p:spPr>
                  <a:xfrm rot="16200000">
                    <a:off x="2439414" y="3738069"/>
                    <a:ext cx="205539" cy="190500"/>
                  </a:xfrm>
                  <a:prstGeom prst="ellipse">
                    <a:avLst/>
                  </a:prstGeom>
                  <a:solidFill>
                    <a:schemeClr val="bg2"/>
                  </a:solidFill>
                  <a:ln>
                    <a:solidFill>
                      <a:schemeClr val="tx1"/>
                    </a:solidFill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 sz="2800"/>
                  </a:p>
                </p:txBody>
              </p:sp>
              <p:sp>
                <p:nvSpPr>
                  <p:cNvPr id="138" name="Oval 137">
                    <a:extLst>
                      <a:ext uri="{FF2B5EF4-FFF2-40B4-BE49-F238E27FC236}">
                        <a16:creationId xmlns:a16="http://schemas.microsoft.com/office/drawing/2014/main" id="{0D00CF86-A99B-AF9C-924F-6F143A129381}"/>
                      </a:ext>
                    </a:extLst>
                  </p:cNvPr>
                  <p:cNvSpPr/>
                  <p:nvPr/>
                </p:nvSpPr>
                <p:spPr>
                  <a:xfrm rot="16200000">
                    <a:off x="2555163" y="4291130"/>
                    <a:ext cx="205539" cy="190500"/>
                  </a:xfrm>
                  <a:prstGeom prst="ellipse">
                    <a:avLst/>
                  </a:prstGeom>
                  <a:solidFill>
                    <a:schemeClr val="bg2"/>
                  </a:solidFill>
                  <a:ln>
                    <a:solidFill>
                      <a:schemeClr val="tx1"/>
                    </a:solidFill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 sz="2800"/>
                  </a:p>
                </p:txBody>
              </p:sp>
              <p:sp>
                <p:nvSpPr>
                  <p:cNvPr id="139" name="Oval 138">
                    <a:extLst>
                      <a:ext uri="{FF2B5EF4-FFF2-40B4-BE49-F238E27FC236}">
                        <a16:creationId xmlns:a16="http://schemas.microsoft.com/office/drawing/2014/main" id="{882C04C1-DFC4-3F4C-9190-B99B73A6EC36}"/>
                      </a:ext>
                    </a:extLst>
                  </p:cNvPr>
                  <p:cNvSpPr/>
                  <p:nvPr/>
                </p:nvSpPr>
                <p:spPr>
                  <a:xfrm rot="16200000">
                    <a:off x="3329867" y="4236050"/>
                    <a:ext cx="205539" cy="190500"/>
                  </a:xfrm>
                  <a:prstGeom prst="ellipse">
                    <a:avLst/>
                  </a:prstGeom>
                  <a:solidFill>
                    <a:schemeClr val="bg2"/>
                  </a:solidFill>
                  <a:ln>
                    <a:solidFill>
                      <a:schemeClr val="tx1"/>
                    </a:solidFill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 sz="2800" dirty="0"/>
                  </a:p>
                </p:txBody>
              </p:sp>
              <p:sp>
                <p:nvSpPr>
                  <p:cNvPr id="143" name="Arc 142">
                    <a:extLst>
                      <a:ext uri="{FF2B5EF4-FFF2-40B4-BE49-F238E27FC236}">
                        <a16:creationId xmlns:a16="http://schemas.microsoft.com/office/drawing/2014/main" id="{48E57FBB-D2E1-801C-9F08-916723442519}"/>
                      </a:ext>
                    </a:extLst>
                  </p:cNvPr>
                  <p:cNvSpPr/>
                  <p:nvPr/>
                </p:nvSpPr>
                <p:spPr>
                  <a:xfrm rot="18967714">
                    <a:off x="3424584" y="5498985"/>
                    <a:ext cx="1572016" cy="1546965"/>
                  </a:xfrm>
                  <a:prstGeom prst="arc">
                    <a:avLst/>
                  </a:prstGeom>
                  <a:ln>
                    <a:solidFill>
                      <a:schemeClr val="tx1"/>
                    </a:solidFill>
                    <a:headEnd type="none" w="med" len="med"/>
                    <a:tailEnd type="triangle" w="med" len="med"/>
                  </a:ln>
                </p:spPr>
                <p:style>
                  <a:lnRef idx="2">
                    <a:schemeClr val="accent1"/>
                  </a:lnRef>
                  <a:fillRef idx="0">
                    <a:schemeClr val="accent1"/>
                  </a:fillRef>
                  <a:effectRef idx="1">
                    <a:schemeClr val="accent1"/>
                  </a:effectRef>
                  <a:fontRef idx="minor">
                    <a:schemeClr val="tx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144" name="Arc 143">
                    <a:extLst>
                      <a:ext uri="{FF2B5EF4-FFF2-40B4-BE49-F238E27FC236}">
                        <a16:creationId xmlns:a16="http://schemas.microsoft.com/office/drawing/2014/main" id="{F44E3D55-D88E-8200-9511-C38155CEBA4D}"/>
                      </a:ext>
                    </a:extLst>
                  </p:cNvPr>
                  <p:cNvSpPr/>
                  <p:nvPr/>
                </p:nvSpPr>
                <p:spPr>
                  <a:xfrm rot="18967714">
                    <a:off x="6998425" y="5498986"/>
                    <a:ext cx="1572016" cy="1546965"/>
                  </a:xfrm>
                  <a:prstGeom prst="arc">
                    <a:avLst/>
                  </a:prstGeom>
                  <a:ln>
                    <a:solidFill>
                      <a:schemeClr val="tx1"/>
                    </a:solidFill>
                    <a:headEnd type="none" w="med" len="med"/>
                    <a:tailEnd type="triangle" w="med" len="med"/>
                  </a:ln>
                </p:spPr>
                <p:style>
                  <a:lnRef idx="2">
                    <a:schemeClr val="accent1"/>
                  </a:lnRef>
                  <a:fillRef idx="0">
                    <a:schemeClr val="accent1"/>
                  </a:fillRef>
                  <a:effectRef idx="1">
                    <a:schemeClr val="accent1"/>
                  </a:effectRef>
                  <a:fontRef idx="minor">
                    <a:schemeClr val="tx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cxnSp>
                <p:nvCxnSpPr>
                  <p:cNvPr id="146" name="Straight Connector 145">
                    <a:extLst>
                      <a:ext uri="{FF2B5EF4-FFF2-40B4-BE49-F238E27FC236}">
                        <a16:creationId xmlns:a16="http://schemas.microsoft.com/office/drawing/2014/main" id="{BF5DD334-B9B6-D737-D8A4-F2BF52DB6651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>
                    <a:off x="4134599" y="6432385"/>
                    <a:ext cx="3692269" cy="0"/>
                  </a:xfrm>
                  <a:prstGeom prst="line">
                    <a:avLst/>
                  </a:prstGeom>
                  <a:ln>
                    <a:solidFill>
                      <a:schemeClr val="tx1"/>
                    </a:solidFill>
                  </a:ln>
                </p:spPr>
                <p:style>
                  <a:lnRef idx="2">
                    <a:schemeClr val="accent1"/>
                  </a:lnRef>
                  <a:fillRef idx="0">
                    <a:schemeClr val="accent1"/>
                  </a:fillRef>
                  <a:effectRef idx="1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147" name="Straight Connector 146">
                    <a:extLst>
                      <a:ext uri="{FF2B5EF4-FFF2-40B4-BE49-F238E27FC236}">
                        <a16:creationId xmlns:a16="http://schemas.microsoft.com/office/drawing/2014/main" id="{E137FD5B-758F-62EC-5E08-47CB635406C3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>
                    <a:off x="7826868" y="6350966"/>
                    <a:ext cx="0" cy="162838"/>
                  </a:xfrm>
                  <a:prstGeom prst="line">
                    <a:avLst/>
                  </a:prstGeom>
                  <a:ln>
                    <a:solidFill>
                      <a:schemeClr val="tx1"/>
                    </a:solidFill>
                  </a:ln>
                </p:spPr>
                <p:style>
                  <a:lnRef idx="2">
                    <a:schemeClr val="accent1"/>
                  </a:lnRef>
                  <a:fillRef idx="0">
                    <a:schemeClr val="accent1"/>
                  </a:fillRef>
                  <a:effectRef idx="1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148" name="Straight Connector 147">
                    <a:extLst>
                      <a:ext uri="{FF2B5EF4-FFF2-40B4-BE49-F238E27FC236}">
                        <a16:creationId xmlns:a16="http://schemas.microsoft.com/office/drawing/2014/main" id="{5B5D519B-7A28-5A6B-776D-4DC628BC852E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>
                    <a:off x="4134599" y="6603574"/>
                    <a:ext cx="4616111" cy="0"/>
                  </a:xfrm>
                  <a:prstGeom prst="line">
                    <a:avLst/>
                  </a:prstGeom>
                  <a:ln>
                    <a:solidFill>
                      <a:schemeClr val="tx1"/>
                    </a:solidFill>
                    <a:headEnd type="none" w="med" len="med"/>
                    <a:tailEnd type="triangle" w="med" len="med"/>
                  </a:ln>
                </p:spPr>
                <p:style>
                  <a:lnRef idx="2">
                    <a:schemeClr val="accent1"/>
                  </a:lnRef>
                  <a:fillRef idx="0">
                    <a:schemeClr val="accent1"/>
                  </a:fillRef>
                  <a:effectRef idx="1">
                    <a:schemeClr val="accent1"/>
                  </a:effectRef>
                  <a:fontRef idx="minor">
                    <a:schemeClr val="tx1"/>
                  </a:fontRef>
                </p:style>
              </p:cxnSp>
              <p:sp>
                <p:nvSpPr>
                  <p:cNvPr id="149" name="TextBox 148">
                    <a:extLst>
                      <a:ext uri="{FF2B5EF4-FFF2-40B4-BE49-F238E27FC236}">
                        <a16:creationId xmlns:a16="http://schemas.microsoft.com/office/drawing/2014/main" id="{554E6020-3A4D-9624-E868-6F63F7DB96A1}"/>
                      </a:ext>
                    </a:extLst>
                  </p:cNvPr>
                  <p:cNvSpPr txBox="1"/>
                  <p:nvPr/>
                </p:nvSpPr>
                <p:spPr>
                  <a:xfrm>
                    <a:off x="7820982" y="6300922"/>
                    <a:ext cx="1009579" cy="261610"/>
                  </a:xfrm>
                  <a:prstGeom prst="rect">
                    <a:avLst/>
                  </a:prstGeom>
                  <a:noFill/>
                  <a:ln>
                    <a:noFill/>
                  </a:ln>
                </p:spPr>
                <p:txBody>
                  <a:bodyPr wrap="square" rtlCol="0">
                    <a:spAutoFit/>
                  </a:bodyPr>
                  <a:lstStyle/>
                  <a:p>
                    <a:pPr algn="ctr"/>
                    <a:r>
                      <a:rPr lang="en-US" sz="1100" b="1" dirty="0"/>
                      <a:t>Extinction</a:t>
                    </a:r>
                  </a:p>
                </p:txBody>
              </p:sp>
              <p:sp>
                <p:nvSpPr>
                  <p:cNvPr id="150" name="TextBox 149">
                    <a:extLst>
                      <a:ext uri="{FF2B5EF4-FFF2-40B4-BE49-F238E27FC236}">
                        <a16:creationId xmlns:a16="http://schemas.microsoft.com/office/drawing/2014/main" id="{F1F8774B-D24A-B9C0-0586-4562660AD246}"/>
                      </a:ext>
                    </a:extLst>
                  </p:cNvPr>
                  <p:cNvSpPr txBox="1"/>
                  <p:nvPr/>
                </p:nvSpPr>
                <p:spPr>
                  <a:xfrm>
                    <a:off x="8748921" y="6451212"/>
                    <a:ext cx="1009579" cy="261610"/>
                  </a:xfrm>
                  <a:prstGeom prst="rect">
                    <a:avLst/>
                  </a:prstGeom>
                  <a:solidFill>
                    <a:schemeClr val="bg1"/>
                  </a:solidFill>
                  <a:ln>
                    <a:noFill/>
                  </a:ln>
                </p:spPr>
                <p:txBody>
                  <a:bodyPr wrap="square" rtlCol="0">
                    <a:spAutoFit/>
                  </a:bodyPr>
                  <a:lstStyle/>
                  <a:p>
                    <a:pPr algn="ctr"/>
                    <a:r>
                      <a:rPr lang="en-US" sz="1100" b="1" dirty="0"/>
                      <a:t>Emergence</a:t>
                    </a:r>
                  </a:p>
                </p:txBody>
              </p:sp>
              <p:sp>
                <p:nvSpPr>
                  <p:cNvPr id="151" name="TextBox 150">
                    <a:extLst>
                      <a:ext uri="{FF2B5EF4-FFF2-40B4-BE49-F238E27FC236}">
                        <a16:creationId xmlns:a16="http://schemas.microsoft.com/office/drawing/2014/main" id="{1F8F59D6-6F56-A8E9-EE47-4CC202C0B938}"/>
                      </a:ext>
                    </a:extLst>
                  </p:cNvPr>
                  <p:cNvSpPr txBox="1"/>
                  <p:nvPr/>
                </p:nvSpPr>
                <p:spPr>
                  <a:xfrm>
                    <a:off x="6938841" y="5789424"/>
                    <a:ext cx="1776053" cy="523220"/>
                  </a:xfrm>
                  <a:prstGeom prst="rect">
                    <a:avLst/>
                  </a:prstGeom>
                  <a:noFill/>
                  <a:ln>
                    <a:noFill/>
                  </a:ln>
                </p:spPr>
                <p:txBody>
                  <a:bodyPr wrap="square" rtlCol="0">
                    <a:spAutoFit/>
                  </a:bodyPr>
                  <a:lstStyle/>
                  <a:p>
                    <a:pPr algn="ctr"/>
                    <a:r>
                      <a:rPr lang="en-US" sz="1400" b="1" dirty="0"/>
                      <a:t>Incipient epidemic (R</a:t>
                    </a:r>
                    <a:r>
                      <a:rPr lang="en-US" sz="1400" b="1" baseline="-25000" dirty="0"/>
                      <a:t>e</a:t>
                    </a:r>
                    <a:r>
                      <a:rPr lang="en-US" sz="1400" b="1" dirty="0"/>
                      <a:t> &gt; 1)</a:t>
                    </a:r>
                  </a:p>
                </p:txBody>
              </p:sp>
              <p:sp>
                <p:nvSpPr>
                  <p:cNvPr id="153" name="TextBox 152">
                    <a:extLst>
                      <a:ext uri="{FF2B5EF4-FFF2-40B4-BE49-F238E27FC236}">
                        <a16:creationId xmlns:a16="http://schemas.microsoft.com/office/drawing/2014/main" id="{74D886FD-5BE0-5779-6C1A-B6E50C15AA70}"/>
                      </a:ext>
                    </a:extLst>
                  </p:cNvPr>
                  <p:cNvSpPr txBox="1"/>
                  <p:nvPr/>
                </p:nvSpPr>
                <p:spPr>
                  <a:xfrm>
                    <a:off x="4924545" y="5486584"/>
                    <a:ext cx="2114496" cy="415498"/>
                  </a:xfrm>
                  <a:prstGeom prst="rect">
                    <a:avLst/>
                  </a:prstGeom>
                  <a:noFill/>
                  <a:ln>
                    <a:noFill/>
                  </a:ln>
                </p:spPr>
                <p:txBody>
                  <a:bodyPr wrap="square" rtlCol="0">
                    <a:spAutoFit/>
                  </a:bodyPr>
                  <a:lstStyle/>
                  <a:p>
                    <a:pPr algn="ctr"/>
                    <a:r>
                      <a:rPr lang="en-US" sz="1050" b="1" dirty="0"/>
                      <a:t>Adaptation in stuttering chains of transmission, R</a:t>
                    </a:r>
                    <a:r>
                      <a:rPr lang="en-US" sz="1050" b="1" baseline="-25000" dirty="0"/>
                      <a:t>0</a:t>
                    </a:r>
                    <a:r>
                      <a:rPr lang="en-US" sz="1050" b="1" dirty="0"/>
                      <a:t> increasing</a:t>
                    </a:r>
                  </a:p>
                </p:txBody>
              </p:sp>
              <p:cxnSp>
                <p:nvCxnSpPr>
                  <p:cNvPr id="154" name="Straight Connector 153">
                    <a:extLst>
                      <a:ext uri="{FF2B5EF4-FFF2-40B4-BE49-F238E27FC236}">
                        <a16:creationId xmlns:a16="http://schemas.microsoft.com/office/drawing/2014/main" id="{A17563DE-CC77-3A33-005E-4A3AF17FE4D5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>
                    <a:off x="5258164" y="5972203"/>
                    <a:ext cx="1265813" cy="0"/>
                  </a:xfrm>
                  <a:prstGeom prst="line">
                    <a:avLst/>
                  </a:prstGeom>
                  <a:ln w="76200">
                    <a:solidFill>
                      <a:schemeClr val="tx1"/>
                    </a:solidFill>
                    <a:headEnd type="none" w="med" len="med"/>
                    <a:tailEnd type="triangle" w="med" len="med"/>
                  </a:ln>
                </p:spPr>
                <p:style>
                  <a:lnRef idx="2">
                    <a:schemeClr val="accent1"/>
                  </a:lnRef>
                  <a:fillRef idx="0">
                    <a:schemeClr val="accent1"/>
                  </a:fillRef>
                  <a:effectRef idx="1">
                    <a:schemeClr val="accent1"/>
                  </a:effectRef>
                  <a:fontRef idx="minor">
                    <a:schemeClr val="tx1"/>
                  </a:fontRef>
                </p:style>
              </p:cxnSp>
            </p:grpSp>
            <p:sp>
              <p:nvSpPr>
                <p:cNvPr id="160" name="TextBox 159">
                  <a:extLst>
                    <a:ext uri="{FF2B5EF4-FFF2-40B4-BE49-F238E27FC236}">
                      <a16:creationId xmlns:a16="http://schemas.microsoft.com/office/drawing/2014/main" id="{839B537A-D142-3223-7867-03BFE101EEB1}"/>
                    </a:ext>
                  </a:extLst>
                </p:cNvPr>
                <p:cNvSpPr txBox="1"/>
                <p:nvPr/>
              </p:nvSpPr>
              <p:spPr>
                <a:xfrm>
                  <a:off x="1238086" y="1248793"/>
                  <a:ext cx="2309863" cy="584775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wrap="none" rtlCol="0">
                  <a:spAutoFit/>
                </a:bodyPr>
                <a:lstStyle/>
                <a:p>
                  <a:pPr algn="ctr"/>
                  <a:r>
                    <a:rPr lang="en-US" sz="1600" b="1" dirty="0"/>
                    <a:t>Endemic circulation in </a:t>
                  </a:r>
                </a:p>
                <a:p>
                  <a:pPr algn="ctr"/>
                  <a:r>
                    <a:rPr lang="en-US" sz="1600" b="1" dirty="0"/>
                    <a:t>animal reservoir </a:t>
                  </a:r>
                </a:p>
              </p:txBody>
            </p:sp>
            <p:sp>
              <p:nvSpPr>
                <p:cNvPr id="161" name="TextBox 160">
                  <a:extLst>
                    <a:ext uri="{FF2B5EF4-FFF2-40B4-BE49-F238E27FC236}">
                      <a16:creationId xmlns:a16="http://schemas.microsoft.com/office/drawing/2014/main" id="{E783E13D-26A7-A580-D5C4-3C6C94F5B8D5}"/>
                    </a:ext>
                  </a:extLst>
                </p:cNvPr>
                <p:cNvSpPr txBox="1"/>
                <p:nvPr/>
              </p:nvSpPr>
              <p:spPr>
                <a:xfrm>
                  <a:off x="3691790" y="1247004"/>
                  <a:ext cx="3389966" cy="584775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wrap="none" rtlCol="0">
                  <a:spAutoFit/>
                </a:bodyPr>
                <a:lstStyle/>
                <a:p>
                  <a:pPr algn="ctr"/>
                  <a:r>
                    <a:rPr lang="en-US" sz="1600" b="1" dirty="0"/>
                    <a:t>Stuttering transmission in humans</a:t>
                  </a:r>
                </a:p>
                <a:p>
                  <a:pPr algn="ctr"/>
                  <a:r>
                    <a:rPr lang="en-US" sz="1600" b="1" dirty="0"/>
                    <a:t>R</a:t>
                  </a:r>
                  <a:r>
                    <a:rPr lang="en-US" sz="1600" b="1" baseline="-25000" dirty="0"/>
                    <a:t>e</a:t>
                  </a:r>
                  <a:r>
                    <a:rPr lang="en-US" sz="1600" b="1" dirty="0"/>
                    <a:t> &lt; 1 </a:t>
                  </a:r>
                </a:p>
              </p:txBody>
            </p:sp>
            <p:sp>
              <p:nvSpPr>
                <p:cNvPr id="162" name="TextBox 161">
                  <a:extLst>
                    <a:ext uri="{FF2B5EF4-FFF2-40B4-BE49-F238E27FC236}">
                      <a16:creationId xmlns:a16="http://schemas.microsoft.com/office/drawing/2014/main" id="{7343F0F9-0B0C-630E-C542-68FC28724C67}"/>
                    </a:ext>
                  </a:extLst>
                </p:cNvPr>
                <p:cNvSpPr txBox="1"/>
                <p:nvPr/>
              </p:nvSpPr>
              <p:spPr>
                <a:xfrm>
                  <a:off x="7315504" y="1251030"/>
                  <a:ext cx="3576492" cy="584775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wrap="none" rtlCol="0">
                  <a:spAutoFit/>
                </a:bodyPr>
                <a:lstStyle/>
                <a:p>
                  <a:pPr algn="ctr"/>
                  <a:r>
                    <a:rPr lang="en-US" sz="1600" b="1" dirty="0"/>
                    <a:t>Sustainable transmission in humans</a:t>
                  </a:r>
                </a:p>
                <a:p>
                  <a:pPr algn="ctr"/>
                  <a:r>
                    <a:rPr lang="en-US" sz="1600" b="1" dirty="0"/>
                    <a:t>R</a:t>
                  </a:r>
                  <a:r>
                    <a:rPr lang="en-US" sz="1600" b="1" baseline="-25000" dirty="0"/>
                    <a:t>e</a:t>
                  </a:r>
                  <a:r>
                    <a:rPr lang="en-US" sz="1600" b="1" dirty="0"/>
                    <a:t> &gt; 1 </a:t>
                  </a:r>
                </a:p>
              </p:txBody>
            </p:sp>
            <p:sp>
              <p:nvSpPr>
                <p:cNvPr id="163" name="TextBox 162">
                  <a:extLst>
                    <a:ext uri="{FF2B5EF4-FFF2-40B4-BE49-F238E27FC236}">
                      <a16:creationId xmlns:a16="http://schemas.microsoft.com/office/drawing/2014/main" id="{E173A5DB-59F8-CEED-D761-D4473FBA4D89}"/>
                    </a:ext>
                  </a:extLst>
                </p:cNvPr>
                <p:cNvSpPr txBox="1"/>
                <p:nvPr/>
              </p:nvSpPr>
              <p:spPr>
                <a:xfrm>
                  <a:off x="7391275" y="4629727"/>
                  <a:ext cx="3113629" cy="415498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wrap="square" rtlCol="0">
                  <a:spAutoFit/>
                </a:bodyPr>
                <a:lstStyle/>
                <a:p>
                  <a:pPr algn="ctr"/>
                  <a:r>
                    <a:rPr lang="en-US" sz="1050" b="1" dirty="0"/>
                    <a:t>Further evolution to high </a:t>
                  </a:r>
                </a:p>
                <a:p>
                  <a:pPr algn="ctr"/>
                  <a:r>
                    <a:rPr lang="en-US" sz="1050" b="1" dirty="0"/>
                    <a:t>transmissibility, R</a:t>
                  </a:r>
                  <a:r>
                    <a:rPr lang="en-US" sz="1050" b="1" baseline="-25000" dirty="0"/>
                    <a:t>0</a:t>
                  </a:r>
                  <a:r>
                    <a:rPr lang="en-US" sz="1050" b="1" dirty="0"/>
                    <a:t> increasing</a:t>
                  </a:r>
                </a:p>
              </p:txBody>
            </p:sp>
            <p:sp>
              <p:nvSpPr>
                <p:cNvPr id="186" name="TextBox 185">
                  <a:extLst>
                    <a:ext uri="{FF2B5EF4-FFF2-40B4-BE49-F238E27FC236}">
                      <a16:creationId xmlns:a16="http://schemas.microsoft.com/office/drawing/2014/main" id="{8EA93AAC-60B1-9152-2B8C-8E937E3DE136}"/>
                    </a:ext>
                  </a:extLst>
                </p:cNvPr>
                <p:cNvSpPr txBox="1"/>
                <p:nvPr/>
              </p:nvSpPr>
              <p:spPr>
                <a:xfrm>
                  <a:off x="9688635" y="4963098"/>
                  <a:ext cx="859124" cy="307777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wrap="square">
                  <a:spAutoFit/>
                </a:bodyPr>
                <a:lstStyle/>
                <a:p>
                  <a:r>
                    <a:rPr lang="en-US" sz="1400" b="1" dirty="0"/>
                    <a:t>(R</a:t>
                  </a:r>
                  <a:r>
                    <a:rPr lang="en-US" sz="1400" b="1" baseline="-25000" dirty="0"/>
                    <a:t>e</a:t>
                  </a:r>
                  <a:r>
                    <a:rPr lang="en-US" sz="1400" b="1" dirty="0"/>
                    <a:t> &gt;&gt; 1)</a:t>
                  </a:r>
                  <a:endParaRPr lang="en-US" sz="1400" dirty="0"/>
                </a:p>
              </p:txBody>
            </p:sp>
            <p:cxnSp>
              <p:nvCxnSpPr>
                <p:cNvPr id="212" name="Straight Connector 211">
                  <a:extLst>
                    <a:ext uri="{FF2B5EF4-FFF2-40B4-BE49-F238E27FC236}">
                      <a16:creationId xmlns:a16="http://schemas.microsoft.com/office/drawing/2014/main" id="{AF8C462E-E4FE-C2C8-3256-BE51940A869E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3523879" y="5903301"/>
                  <a:ext cx="6024514" cy="0"/>
                </a:xfrm>
                <a:prstGeom prst="line">
                  <a:avLst/>
                </a:prstGeom>
                <a:ln>
                  <a:solidFill>
                    <a:schemeClr val="tx1"/>
                  </a:solidFill>
                  <a:headEnd type="none" w="med" len="med"/>
                  <a:tailEnd type="triangle" w="med" len="med"/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sp>
              <p:nvSpPr>
                <p:cNvPr id="213" name="TextBox 212">
                  <a:extLst>
                    <a:ext uri="{FF2B5EF4-FFF2-40B4-BE49-F238E27FC236}">
                      <a16:creationId xmlns:a16="http://schemas.microsoft.com/office/drawing/2014/main" id="{6D6C235D-29C6-24E6-D1D8-2B4995075960}"/>
                    </a:ext>
                  </a:extLst>
                </p:cNvPr>
                <p:cNvSpPr txBox="1"/>
                <p:nvPr/>
              </p:nvSpPr>
              <p:spPr>
                <a:xfrm>
                  <a:off x="9513048" y="5758135"/>
                  <a:ext cx="1573547" cy="261610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wrap="square" rtlCol="0">
                  <a:spAutoFit/>
                </a:bodyPr>
                <a:lstStyle/>
                <a:p>
                  <a:pPr algn="ctr"/>
                  <a:r>
                    <a:rPr lang="en-US" sz="1100" b="1" dirty="0"/>
                    <a:t>Continued evolution</a:t>
                  </a:r>
                </a:p>
              </p:txBody>
            </p:sp>
          </p:grpSp>
        </p:grpSp>
        <p:cxnSp>
          <p:nvCxnSpPr>
            <p:cNvPr id="224" name="Straight Arrow Connector 223">
              <a:extLst>
                <a:ext uri="{FF2B5EF4-FFF2-40B4-BE49-F238E27FC236}">
                  <a16:creationId xmlns:a16="http://schemas.microsoft.com/office/drawing/2014/main" id="{D71A36E4-C998-886D-A803-FC9DB9691D66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8377084" y="2176925"/>
              <a:ext cx="417620" cy="228648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cxnSp>
        <p:nvCxnSpPr>
          <p:cNvPr id="234" name="Straight Arrow Connector 233">
            <a:extLst>
              <a:ext uri="{FF2B5EF4-FFF2-40B4-BE49-F238E27FC236}">
                <a16:creationId xmlns:a16="http://schemas.microsoft.com/office/drawing/2014/main" id="{269ECAD1-0F7A-E0B2-C91A-34FB4C3DDF1B}"/>
              </a:ext>
            </a:extLst>
          </p:cNvPr>
          <p:cNvCxnSpPr>
            <a:cxnSpLocks/>
          </p:cNvCxnSpPr>
          <p:nvPr/>
        </p:nvCxnSpPr>
        <p:spPr>
          <a:xfrm rot="5400000" flipV="1">
            <a:off x="9163549" y="4283017"/>
            <a:ext cx="275737" cy="442513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5" name="Oval 234">
            <a:extLst>
              <a:ext uri="{FF2B5EF4-FFF2-40B4-BE49-F238E27FC236}">
                <a16:creationId xmlns:a16="http://schemas.microsoft.com/office/drawing/2014/main" id="{0F882BAD-5D72-AAD6-F736-944C7238B7BF}"/>
              </a:ext>
            </a:extLst>
          </p:cNvPr>
          <p:cNvSpPr/>
          <p:nvPr/>
        </p:nvSpPr>
        <p:spPr>
          <a:xfrm rot="16200000">
            <a:off x="9578105" y="4608798"/>
            <a:ext cx="205539" cy="190500"/>
          </a:xfrm>
          <a:prstGeom prst="ellipse">
            <a:avLst/>
          </a:prstGeom>
          <a:solidFill>
            <a:srgbClr val="FF0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800"/>
          </a:p>
        </p:txBody>
      </p:sp>
    </p:spTree>
    <p:extLst>
      <p:ext uri="{BB962C8B-B14F-4D97-AF65-F5344CB8AC3E}">
        <p14:creationId xmlns:p14="http://schemas.microsoft.com/office/powerpoint/2010/main" val="215379852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8" name="Group 7">
            <a:extLst>
              <a:ext uri="{FF2B5EF4-FFF2-40B4-BE49-F238E27FC236}">
                <a16:creationId xmlns:a16="http://schemas.microsoft.com/office/drawing/2014/main" id="{664C9AA8-1A07-1E12-06DF-6FCBD551E0A9}"/>
              </a:ext>
            </a:extLst>
          </p:cNvPr>
          <p:cNvGrpSpPr/>
          <p:nvPr/>
        </p:nvGrpSpPr>
        <p:grpSpPr>
          <a:xfrm>
            <a:off x="1610382" y="1236074"/>
            <a:ext cx="9197826" cy="4385851"/>
            <a:chOff x="1610382" y="1236074"/>
            <a:chExt cx="9197826" cy="4385851"/>
          </a:xfrm>
        </p:grpSpPr>
        <p:pic>
          <p:nvPicPr>
            <p:cNvPr id="5" name="Picture 4">
              <a:extLst>
                <a:ext uri="{FF2B5EF4-FFF2-40B4-BE49-F238E27FC236}">
                  <a16:creationId xmlns:a16="http://schemas.microsoft.com/office/drawing/2014/main" id="{403CC240-5EE6-6CDC-1994-79DF6229DD2B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rcRect r="16113"/>
            <a:stretch>
              <a:fillRect/>
            </a:stretch>
          </p:blipFill>
          <p:spPr>
            <a:xfrm>
              <a:off x="1610382" y="1236074"/>
              <a:ext cx="9197826" cy="4385851"/>
            </a:xfrm>
            <a:prstGeom prst="rect">
              <a:avLst/>
            </a:prstGeom>
          </p:spPr>
        </p:pic>
        <p:pic>
          <p:nvPicPr>
            <p:cNvPr id="7" name="Picture 6">
              <a:extLst>
                <a:ext uri="{FF2B5EF4-FFF2-40B4-BE49-F238E27FC236}">
                  <a16:creationId xmlns:a16="http://schemas.microsoft.com/office/drawing/2014/main" id="{93C93258-F8C3-C944-2428-2A24FB615E9C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8320059" y="2527426"/>
              <a:ext cx="1612864" cy="1803145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668267653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" name="Group 3">
            <a:extLst>
              <a:ext uri="{FF2B5EF4-FFF2-40B4-BE49-F238E27FC236}">
                <a16:creationId xmlns:a16="http://schemas.microsoft.com/office/drawing/2014/main" id="{78513636-59E4-ECB9-141C-62649884E34A}"/>
              </a:ext>
            </a:extLst>
          </p:cNvPr>
          <p:cNvGrpSpPr/>
          <p:nvPr/>
        </p:nvGrpSpPr>
        <p:grpSpPr>
          <a:xfrm>
            <a:off x="802329" y="1411226"/>
            <a:ext cx="10587341" cy="3598379"/>
            <a:chOff x="802329" y="1411226"/>
            <a:chExt cx="10587341" cy="3598379"/>
          </a:xfrm>
        </p:grpSpPr>
        <p:grpSp>
          <p:nvGrpSpPr>
            <p:cNvPr id="20" name="Group 19">
              <a:extLst>
                <a:ext uri="{FF2B5EF4-FFF2-40B4-BE49-F238E27FC236}">
                  <a16:creationId xmlns:a16="http://schemas.microsoft.com/office/drawing/2014/main" id="{B927756D-7CCE-795A-8B0D-F8B0CFBB0337}"/>
                </a:ext>
              </a:extLst>
            </p:cNvPr>
            <p:cNvGrpSpPr/>
            <p:nvPr/>
          </p:nvGrpSpPr>
          <p:grpSpPr>
            <a:xfrm>
              <a:off x="802329" y="1411226"/>
              <a:ext cx="10587341" cy="3598379"/>
              <a:chOff x="146564" y="1008890"/>
              <a:chExt cx="10587341" cy="3598379"/>
            </a:xfrm>
          </p:grpSpPr>
          <p:pic>
            <p:nvPicPr>
              <p:cNvPr id="11" name="Picture 10">
                <a:extLst>
                  <a:ext uri="{FF2B5EF4-FFF2-40B4-BE49-F238E27FC236}">
                    <a16:creationId xmlns:a16="http://schemas.microsoft.com/office/drawing/2014/main" id="{4FA16419-7EA1-375A-41ED-F90027922ECC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3"/>
              <a:srcRect r="13379"/>
              <a:stretch>
                <a:fillRect/>
              </a:stretch>
            </p:blipFill>
            <p:spPr>
              <a:xfrm>
                <a:off x="237182" y="1136135"/>
                <a:ext cx="5306883" cy="3471134"/>
              </a:xfrm>
              <a:prstGeom prst="rect">
                <a:avLst/>
              </a:prstGeom>
            </p:spPr>
          </p:pic>
          <p:pic>
            <p:nvPicPr>
              <p:cNvPr id="13" name="Picture 12">
                <a:extLst>
                  <a:ext uri="{FF2B5EF4-FFF2-40B4-BE49-F238E27FC236}">
                    <a16:creationId xmlns:a16="http://schemas.microsoft.com/office/drawing/2014/main" id="{5060A0DD-4A90-29B6-D756-EB5454F72AC6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4"/>
              <a:srcRect r="17172"/>
              <a:stretch>
                <a:fillRect/>
              </a:stretch>
            </p:blipFill>
            <p:spPr>
              <a:xfrm>
                <a:off x="5659397" y="1136135"/>
                <a:ext cx="5074508" cy="3471134"/>
              </a:xfrm>
              <a:prstGeom prst="rect">
                <a:avLst/>
              </a:prstGeom>
            </p:spPr>
          </p:pic>
          <p:pic>
            <p:nvPicPr>
              <p:cNvPr id="15" name="Picture 14">
                <a:extLst>
                  <a:ext uri="{FF2B5EF4-FFF2-40B4-BE49-F238E27FC236}">
                    <a16:creationId xmlns:a16="http://schemas.microsoft.com/office/drawing/2014/main" id="{3F1408FE-A074-EAF6-DF61-94C4721C9118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5"/>
              <a:stretch>
                <a:fillRect/>
              </a:stretch>
            </p:blipFill>
            <p:spPr>
              <a:xfrm>
                <a:off x="4478738" y="2454876"/>
                <a:ext cx="946220" cy="1554505"/>
              </a:xfrm>
              <a:prstGeom prst="rect">
                <a:avLst/>
              </a:prstGeom>
            </p:spPr>
          </p:pic>
          <p:pic>
            <p:nvPicPr>
              <p:cNvPr id="17" name="Picture 16">
                <a:extLst>
                  <a:ext uri="{FF2B5EF4-FFF2-40B4-BE49-F238E27FC236}">
                    <a16:creationId xmlns:a16="http://schemas.microsoft.com/office/drawing/2014/main" id="{F49C3A33-6A89-6C93-8B27-CE19A84EEAFB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6"/>
              <a:stretch>
                <a:fillRect/>
              </a:stretch>
            </p:blipFill>
            <p:spPr>
              <a:xfrm>
                <a:off x="9532640" y="2224688"/>
                <a:ext cx="1067228" cy="1784693"/>
              </a:xfrm>
              <a:prstGeom prst="rect">
                <a:avLst/>
              </a:prstGeom>
            </p:spPr>
          </p:pic>
          <p:sp>
            <p:nvSpPr>
              <p:cNvPr id="18" name="TextBox 17">
                <a:extLst>
                  <a:ext uri="{FF2B5EF4-FFF2-40B4-BE49-F238E27FC236}">
                    <a16:creationId xmlns:a16="http://schemas.microsoft.com/office/drawing/2014/main" id="{CE199A26-7C3B-2C64-1ACE-9883967048DC}"/>
                  </a:ext>
                </a:extLst>
              </p:cNvPr>
              <p:cNvSpPr txBox="1"/>
              <p:nvPr/>
            </p:nvSpPr>
            <p:spPr>
              <a:xfrm>
                <a:off x="146564" y="1008890"/>
                <a:ext cx="375424" cy="46166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2400" b="1" dirty="0"/>
                  <a:t>A</a:t>
                </a:r>
              </a:p>
            </p:txBody>
          </p:sp>
          <p:sp>
            <p:nvSpPr>
              <p:cNvPr id="19" name="TextBox 18">
                <a:extLst>
                  <a:ext uri="{FF2B5EF4-FFF2-40B4-BE49-F238E27FC236}">
                    <a16:creationId xmlns:a16="http://schemas.microsoft.com/office/drawing/2014/main" id="{8DC18F5A-52E4-7E80-FCEB-96797505755B}"/>
                  </a:ext>
                </a:extLst>
              </p:cNvPr>
              <p:cNvSpPr txBox="1"/>
              <p:nvPr/>
            </p:nvSpPr>
            <p:spPr>
              <a:xfrm>
                <a:off x="5554467" y="1008890"/>
                <a:ext cx="375424" cy="46166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2400" b="1" dirty="0"/>
                  <a:t>B</a:t>
                </a:r>
              </a:p>
            </p:txBody>
          </p:sp>
        </p:grpSp>
        <p:pic>
          <p:nvPicPr>
            <p:cNvPr id="3" name="Picture 2">
              <a:extLst>
                <a:ext uri="{FF2B5EF4-FFF2-40B4-BE49-F238E27FC236}">
                  <a16:creationId xmlns:a16="http://schemas.microsoft.com/office/drawing/2014/main" id="{291D4C6E-0057-D973-9833-70FD1D896938}"/>
                </a:ext>
              </a:extLst>
            </p:cNvPr>
            <p:cNvPicPr>
              <a:picLocks noChangeAspect="1"/>
            </p:cNvPicPr>
            <p:nvPr/>
          </p:nvPicPr>
          <p:blipFill>
            <a:blip r:embed="rId7"/>
            <a:stretch>
              <a:fillRect/>
            </a:stretch>
          </p:blipFill>
          <p:spPr>
            <a:xfrm>
              <a:off x="905287" y="1904790"/>
              <a:ext cx="291951" cy="2299734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1013023072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1" name="Group 20">
            <a:extLst>
              <a:ext uri="{FF2B5EF4-FFF2-40B4-BE49-F238E27FC236}">
                <a16:creationId xmlns:a16="http://schemas.microsoft.com/office/drawing/2014/main" id="{170AF8D8-2249-164B-C85F-D2A870EA9A40}"/>
              </a:ext>
            </a:extLst>
          </p:cNvPr>
          <p:cNvGrpSpPr/>
          <p:nvPr/>
        </p:nvGrpSpPr>
        <p:grpSpPr>
          <a:xfrm>
            <a:off x="2340576" y="1224532"/>
            <a:ext cx="7510848" cy="4408936"/>
            <a:chOff x="928029" y="1224532"/>
            <a:chExt cx="7510848" cy="4408936"/>
          </a:xfrm>
        </p:grpSpPr>
        <p:pic>
          <p:nvPicPr>
            <p:cNvPr id="18" name="Picture 17">
              <a:extLst>
                <a:ext uri="{FF2B5EF4-FFF2-40B4-BE49-F238E27FC236}">
                  <a16:creationId xmlns:a16="http://schemas.microsoft.com/office/drawing/2014/main" id="{C6CFF72B-6F35-2878-63DF-95EBE6EF175D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rcRect r="17340"/>
            <a:stretch>
              <a:fillRect/>
            </a:stretch>
          </p:blipFill>
          <p:spPr>
            <a:xfrm>
              <a:off x="928029" y="1224532"/>
              <a:ext cx="6424646" cy="4408936"/>
            </a:xfrm>
            <a:prstGeom prst="rect">
              <a:avLst/>
            </a:prstGeom>
          </p:spPr>
        </p:pic>
        <p:pic>
          <p:nvPicPr>
            <p:cNvPr id="20" name="Picture 19">
              <a:extLst>
                <a:ext uri="{FF2B5EF4-FFF2-40B4-BE49-F238E27FC236}">
                  <a16:creationId xmlns:a16="http://schemas.microsoft.com/office/drawing/2014/main" id="{D60B020A-644D-6A43-B918-11155C3D063C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7229839" y="3492844"/>
              <a:ext cx="1209038" cy="1465070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3566548319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" name="Group 6">
            <a:extLst>
              <a:ext uri="{FF2B5EF4-FFF2-40B4-BE49-F238E27FC236}">
                <a16:creationId xmlns:a16="http://schemas.microsoft.com/office/drawing/2014/main" id="{6E66451C-C92B-DD63-14DF-4E4E60A6AAEF}"/>
              </a:ext>
            </a:extLst>
          </p:cNvPr>
          <p:cNvGrpSpPr/>
          <p:nvPr/>
        </p:nvGrpSpPr>
        <p:grpSpPr>
          <a:xfrm>
            <a:off x="0" y="1541524"/>
            <a:ext cx="12131709" cy="4151025"/>
            <a:chOff x="0" y="1307608"/>
            <a:chExt cx="12131709" cy="4151025"/>
          </a:xfrm>
        </p:grpSpPr>
        <p:pic>
          <p:nvPicPr>
            <p:cNvPr id="5" name="Picture 4">
              <a:extLst>
                <a:ext uri="{FF2B5EF4-FFF2-40B4-BE49-F238E27FC236}">
                  <a16:creationId xmlns:a16="http://schemas.microsoft.com/office/drawing/2014/main" id="{BBC16EDD-33DA-7906-AB2C-DDE84853BA36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60291" y="1421668"/>
              <a:ext cx="6087969" cy="4036965"/>
            </a:xfrm>
            <a:prstGeom prst="rect">
              <a:avLst/>
            </a:prstGeom>
          </p:spPr>
        </p:pic>
        <p:pic>
          <p:nvPicPr>
            <p:cNvPr id="3" name="Picture 2">
              <a:extLst>
                <a:ext uri="{FF2B5EF4-FFF2-40B4-BE49-F238E27FC236}">
                  <a16:creationId xmlns:a16="http://schemas.microsoft.com/office/drawing/2014/main" id="{BCDD6D9A-26B8-F5AF-1A9B-1F7F0A458E70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rcRect r="13441"/>
            <a:stretch>
              <a:fillRect/>
            </a:stretch>
          </p:blipFill>
          <p:spPr>
            <a:xfrm>
              <a:off x="6062640" y="1410517"/>
              <a:ext cx="6069069" cy="4024433"/>
            </a:xfrm>
            <a:prstGeom prst="rect">
              <a:avLst/>
            </a:prstGeom>
          </p:spPr>
        </p:pic>
        <p:grpSp>
          <p:nvGrpSpPr>
            <p:cNvPr id="65" name="Group 64">
              <a:extLst>
                <a:ext uri="{FF2B5EF4-FFF2-40B4-BE49-F238E27FC236}">
                  <a16:creationId xmlns:a16="http://schemas.microsoft.com/office/drawing/2014/main" id="{41D652AB-09F6-F524-0438-5AABC8245A51}"/>
                </a:ext>
              </a:extLst>
            </p:cNvPr>
            <p:cNvGrpSpPr/>
            <p:nvPr/>
          </p:nvGrpSpPr>
          <p:grpSpPr>
            <a:xfrm>
              <a:off x="0" y="1307608"/>
              <a:ext cx="11958719" cy="3463191"/>
              <a:chOff x="41250" y="1206008"/>
              <a:chExt cx="11958719" cy="3463191"/>
            </a:xfrm>
          </p:grpSpPr>
          <p:grpSp>
            <p:nvGrpSpPr>
              <p:cNvPr id="33" name="Group 32">
                <a:extLst>
                  <a:ext uri="{FF2B5EF4-FFF2-40B4-BE49-F238E27FC236}">
                    <a16:creationId xmlns:a16="http://schemas.microsoft.com/office/drawing/2014/main" id="{AFBEC055-3555-4ED8-33A2-6501DF8905BF}"/>
                  </a:ext>
                </a:extLst>
              </p:cNvPr>
              <p:cNvGrpSpPr/>
              <p:nvPr/>
            </p:nvGrpSpPr>
            <p:grpSpPr>
              <a:xfrm>
                <a:off x="41250" y="1206008"/>
                <a:ext cx="6377773" cy="461665"/>
                <a:chOff x="-193530" y="1182241"/>
                <a:chExt cx="6377773" cy="461665"/>
              </a:xfrm>
            </p:grpSpPr>
            <p:sp>
              <p:nvSpPr>
                <p:cNvPr id="28" name="TextBox 27">
                  <a:extLst>
                    <a:ext uri="{FF2B5EF4-FFF2-40B4-BE49-F238E27FC236}">
                      <a16:creationId xmlns:a16="http://schemas.microsoft.com/office/drawing/2014/main" id="{425EC6C6-8F2A-8D91-C850-9F9144647A39}"/>
                    </a:ext>
                  </a:extLst>
                </p:cNvPr>
                <p:cNvSpPr txBox="1"/>
                <p:nvPr/>
              </p:nvSpPr>
              <p:spPr>
                <a:xfrm>
                  <a:off x="-193530" y="1182241"/>
                  <a:ext cx="375424" cy="461665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r>
                    <a:rPr lang="en-US" sz="2400" b="1" dirty="0"/>
                    <a:t>A</a:t>
                  </a:r>
                </a:p>
              </p:txBody>
            </p:sp>
            <p:sp>
              <p:nvSpPr>
                <p:cNvPr id="29" name="TextBox 28">
                  <a:extLst>
                    <a:ext uri="{FF2B5EF4-FFF2-40B4-BE49-F238E27FC236}">
                      <a16:creationId xmlns:a16="http://schemas.microsoft.com/office/drawing/2014/main" id="{4659AD57-C480-8EDA-7581-0899B8F8CC3F}"/>
                    </a:ext>
                  </a:extLst>
                </p:cNvPr>
                <p:cNvSpPr txBox="1"/>
                <p:nvPr/>
              </p:nvSpPr>
              <p:spPr>
                <a:xfrm>
                  <a:off x="5808819" y="1182241"/>
                  <a:ext cx="375424" cy="461665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r>
                    <a:rPr lang="en-US" sz="2400" b="1" dirty="0"/>
                    <a:t>B</a:t>
                  </a:r>
                </a:p>
              </p:txBody>
            </p:sp>
          </p:grpSp>
          <p:pic>
            <p:nvPicPr>
              <p:cNvPr id="60" name="Picture 59">
                <a:extLst>
                  <a:ext uri="{FF2B5EF4-FFF2-40B4-BE49-F238E27FC236}">
                    <a16:creationId xmlns:a16="http://schemas.microsoft.com/office/drawing/2014/main" id="{AF0F5904-9966-74E0-5FD6-BCDB3CBA35CD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5"/>
              <a:stretch>
                <a:fillRect/>
              </a:stretch>
            </p:blipFill>
            <p:spPr>
              <a:xfrm>
                <a:off x="11144680" y="3213087"/>
                <a:ext cx="855289" cy="1456112"/>
              </a:xfrm>
              <a:prstGeom prst="rect">
                <a:avLst/>
              </a:prstGeom>
            </p:spPr>
          </p:pic>
        </p:grpSp>
        <p:pic>
          <p:nvPicPr>
            <p:cNvPr id="6" name="Picture 5">
              <a:extLst>
                <a:ext uri="{FF2B5EF4-FFF2-40B4-BE49-F238E27FC236}">
                  <a16:creationId xmlns:a16="http://schemas.microsoft.com/office/drawing/2014/main" id="{53230671-AAB7-5863-B271-7548C7CC8D27}"/>
                </a:ext>
              </a:extLst>
            </p:cNvPr>
            <p:cNvPicPr>
              <a:picLocks noChangeAspect="1"/>
            </p:cNvPicPr>
            <p:nvPr/>
          </p:nvPicPr>
          <p:blipFill>
            <a:blip r:embed="rId6"/>
            <a:stretch>
              <a:fillRect/>
            </a:stretch>
          </p:blipFill>
          <p:spPr>
            <a:xfrm>
              <a:off x="11051495" y="3314687"/>
              <a:ext cx="907224" cy="1536945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3538012271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0" name="Group 9">
            <a:extLst>
              <a:ext uri="{FF2B5EF4-FFF2-40B4-BE49-F238E27FC236}">
                <a16:creationId xmlns:a16="http://schemas.microsoft.com/office/drawing/2014/main" id="{60F7196A-573B-4EDF-C6A7-5AB4704A08FA}"/>
              </a:ext>
            </a:extLst>
          </p:cNvPr>
          <p:cNvGrpSpPr/>
          <p:nvPr/>
        </p:nvGrpSpPr>
        <p:grpSpPr>
          <a:xfrm>
            <a:off x="28275" y="1308742"/>
            <a:ext cx="12146140" cy="4240515"/>
            <a:chOff x="-21032" y="1500429"/>
            <a:chExt cx="12146140" cy="4240515"/>
          </a:xfrm>
        </p:grpSpPr>
        <p:pic>
          <p:nvPicPr>
            <p:cNvPr id="4" name="Picture 3">
              <a:extLst>
                <a:ext uri="{FF2B5EF4-FFF2-40B4-BE49-F238E27FC236}">
                  <a16:creationId xmlns:a16="http://schemas.microsoft.com/office/drawing/2014/main" id="{F1EB91B5-D092-FBEB-233E-85C762303181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rcRect r="16882"/>
            <a:stretch>
              <a:fillRect/>
            </a:stretch>
          </p:blipFill>
          <p:spPr>
            <a:xfrm>
              <a:off x="6527867" y="1644432"/>
              <a:ext cx="5597241" cy="4094440"/>
            </a:xfrm>
            <a:prstGeom prst="rect">
              <a:avLst/>
            </a:prstGeom>
          </p:spPr>
        </p:pic>
        <p:pic>
          <p:nvPicPr>
            <p:cNvPr id="5" name="Picture 4">
              <a:extLst>
                <a:ext uri="{FF2B5EF4-FFF2-40B4-BE49-F238E27FC236}">
                  <a16:creationId xmlns:a16="http://schemas.microsoft.com/office/drawing/2014/main" id="{C1E55B57-4851-763C-338F-6AAA06EA8108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14138" y="1644432"/>
              <a:ext cx="6478559" cy="4096512"/>
            </a:xfrm>
            <a:prstGeom prst="rect">
              <a:avLst/>
            </a:prstGeom>
          </p:spPr>
        </p:pic>
        <p:pic>
          <p:nvPicPr>
            <p:cNvPr id="7" name="Picture 6">
              <a:extLst>
                <a:ext uri="{FF2B5EF4-FFF2-40B4-BE49-F238E27FC236}">
                  <a16:creationId xmlns:a16="http://schemas.microsoft.com/office/drawing/2014/main" id="{62F896AF-2CD8-B6BA-2069-920B9E5C7446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rcRect r="6393"/>
            <a:stretch>
              <a:fillRect/>
            </a:stretch>
          </p:blipFill>
          <p:spPr>
            <a:xfrm>
              <a:off x="10937632" y="3500038"/>
              <a:ext cx="953015" cy="1574881"/>
            </a:xfrm>
            <a:prstGeom prst="rect">
              <a:avLst/>
            </a:prstGeom>
          </p:spPr>
        </p:pic>
        <p:sp>
          <p:nvSpPr>
            <p:cNvPr id="8" name="TextBox 7">
              <a:extLst>
                <a:ext uri="{FF2B5EF4-FFF2-40B4-BE49-F238E27FC236}">
                  <a16:creationId xmlns:a16="http://schemas.microsoft.com/office/drawing/2014/main" id="{BE0610BF-D7EF-E57C-F0DD-B3CA9605C4B8}"/>
                </a:ext>
              </a:extLst>
            </p:cNvPr>
            <p:cNvSpPr txBox="1"/>
            <p:nvPr/>
          </p:nvSpPr>
          <p:spPr>
            <a:xfrm>
              <a:off x="-21032" y="1500430"/>
              <a:ext cx="375424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400" b="1" dirty="0"/>
                <a:t>A</a:t>
              </a:r>
            </a:p>
          </p:txBody>
        </p:sp>
        <p:sp>
          <p:nvSpPr>
            <p:cNvPr id="9" name="TextBox 8">
              <a:extLst>
                <a:ext uri="{FF2B5EF4-FFF2-40B4-BE49-F238E27FC236}">
                  <a16:creationId xmlns:a16="http://schemas.microsoft.com/office/drawing/2014/main" id="{96898782-1EF2-C95B-C3D4-5F50898D52CB}"/>
                </a:ext>
              </a:extLst>
            </p:cNvPr>
            <p:cNvSpPr txBox="1"/>
            <p:nvPr/>
          </p:nvSpPr>
          <p:spPr>
            <a:xfrm>
              <a:off x="6304985" y="1500429"/>
              <a:ext cx="375424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400" b="1" dirty="0"/>
                <a:t>B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3104051715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1" name="Group 60">
            <a:extLst>
              <a:ext uri="{FF2B5EF4-FFF2-40B4-BE49-F238E27FC236}">
                <a16:creationId xmlns:a16="http://schemas.microsoft.com/office/drawing/2014/main" id="{6E1DA796-1107-1155-6ABD-66CA29D0CB4A}"/>
              </a:ext>
            </a:extLst>
          </p:cNvPr>
          <p:cNvGrpSpPr/>
          <p:nvPr/>
        </p:nvGrpSpPr>
        <p:grpSpPr>
          <a:xfrm>
            <a:off x="1330064" y="915545"/>
            <a:ext cx="10350811" cy="4200809"/>
            <a:chOff x="1330064" y="915545"/>
            <a:chExt cx="10350811" cy="4200809"/>
          </a:xfrm>
        </p:grpSpPr>
        <p:cxnSp>
          <p:nvCxnSpPr>
            <p:cNvPr id="5" name="Straight Arrow Connector 4">
              <a:extLst>
                <a:ext uri="{FF2B5EF4-FFF2-40B4-BE49-F238E27FC236}">
                  <a16:creationId xmlns:a16="http://schemas.microsoft.com/office/drawing/2014/main" id="{FBDBB355-5657-5884-3A29-D17DAAAAC624}"/>
                </a:ext>
              </a:extLst>
            </p:cNvPr>
            <p:cNvCxnSpPr/>
            <p:nvPr/>
          </p:nvCxnSpPr>
          <p:spPr>
            <a:xfrm>
              <a:off x="1853513" y="3140676"/>
              <a:ext cx="8155460" cy="0"/>
            </a:xfrm>
            <a:prstGeom prst="straightConnector1">
              <a:avLst/>
            </a:prstGeom>
            <a:ln w="57150">
              <a:solidFill>
                <a:srgbClr val="000000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" name="Straight Connector 6">
              <a:extLst>
                <a:ext uri="{FF2B5EF4-FFF2-40B4-BE49-F238E27FC236}">
                  <a16:creationId xmlns:a16="http://schemas.microsoft.com/office/drawing/2014/main" id="{843D9C31-3A17-031F-D7C0-5864BDF1ADF1}"/>
                </a:ext>
              </a:extLst>
            </p:cNvPr>
            <p:cNvCxnSpPr/>
            <p:nvPr/>
          </p:nvCxnSpPr>
          <p:spPr>
            <a:xfrm>
              <a:off x="2512541" y="2774092"/>
              <a:ext cx="0" cy="733168"/>
            </a:xfrm>
            <a:prstGeom prst="line">
              <a:avLst/>
            </a:prstGeom>
            <a:ln w="57150">
              <a:solidFill>
                <a:srgbClr val="000000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" name="Straight Connector 7">
              <a:extLst>
                <a:ext uri="{FF2B5EF4-FFF2-40B4-BE49-F238E27FC236}">
                  <a16:creationId xmlns:a16="http://schemas.microsoft.com/office/drawing/2014/main" id="{D306BBE8-9573-12E0-5F5D-0C188200ABD4}"/>
                </a:ext>
              </a:extLst>
            </p:cNvPr>
            <p:cNvCxnSpPr/>
            <p:nvPr/>
          </p:nvCxnSpPr>
          <p:spPr>
            <a:xfrm>
              <a:off x="3356919" y="2774092"/>
              <a:ext cx="0" cy="733168"/>
            </a:xfrm>
            <a:prstGeom prst="line">
              <a:avLst/>
            </a:prstGeom>
            <a:ln w="57150">
              <a:solidFill>
                <a:srgbClr val="000000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" name="Straight Connector 8">
              <a:extLst>
                <a:ext uri="{FF2B5EF4-FFF2-40B4-BE49-F238E27FC236}">
                  <a16:creationId xmlns:a16="http://schemas.microsoft.com/office/drawing/2014/main" id="{C0F6C748-3CA7-1676-460E-EE111864BBE2}"/>
                </a:ext>
              </a:extLst>
            </p:cNvPr>
            <p:cNvCxnSpPr/>
            <p:nvPr/>
          </p:nvCxnSpPr>
          <p:spPr>
            <a:xfrm>
              <a:off x="4289999" y="2774092"/>
              <a:ext cx="0" cy="733168"/>
            </a:xfrm>
            <a:prstGeom prst="line">
              <a:avLst/>
            </a:prstGeom>
            <a:ln w="57150">
              <a:solidFill>
                <a:srgbClr val="000000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" name="Straight Connector 9">
              <a:extLst>
                <a:ext uri="{FF2B5EF4-FFF2-40B4-BE49-F238E27FC236}">
                  <a16:creationId xmlns:a16="http://schemas.microsoft.com/office/drawing/2014/main" id="{7572D86A-E617-0005-38FB-316181E2CE77}"/>
                </a:ext>
              </a:extLst>
            </p:cNvPr>
            <p:cNvCxnSpPr/>
            <p:nvPr/>
          </p:nvCxnSpPr>
          <p:spPr>
            <a:xfrm>
              <a:off x="8620898" y="2774092"/>
              <a:ext cx="0" cy="733168"/>
            </a:xfrm>
            <a:prstGeom prst="line">
              <a:avLst/>
            </a:prstGeom>
            <a:ln w="57150">
              <a:solidFill>
                <a:srgbClr val="000000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5" name="TextBox 14">
              <a:extLst>
                <a:ext uri="{FF2B5EF4-FFF2-40B4-BE49-F238E27FC236}">
                  <a16:creationId xmlns:a16="http://schemas.microsoft.com/office/drawing/2014/main" id="{08ED1F9F-E259-94D0-316D-29F9AA940C4A}"/>
                </a:ext>
              </a:extLst>
            </p:cNvPr>
            <p:cNvSpPr txBox="1"/>
            <p:nvPr/>
          </p:nvSpPr>
          <p:spPr>
            <a:xfrm>
              <a:off x="2245797" y="3423506"/>
              <a:ext cx="479298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400" b="1" dirty="0"/>
                <a:t>R</a:t>
              </a:r>
              <a:r>
                <a:rPr lang="en-US" sz="2400" b="1" baseline="-25000" dirty="0"/>
                <a:t>T</a:t>
              </a:r>
              <a:endParaRPr lang="en-US" sz="2400" b="1" dirty="0"/>
            </a:p>
          </p:txBody>
        </p:sp>
        <p:sp>
          <p:nvSpPr>
            <p:cNvPr id="16" name="TextBox 15">
              <a:extLst>
                <a:ext uri="{FF2B5EF4-FFF2-40B4-BE49-F238E27FC236}">
                  <a16:creationId xmlns:a16="http://schemas.microsoft.com/office/drawing/2014/main" id="{058A7A98-30BF-9CBE-95B5-7FAC26A5AD95}"/>
                </a:ext>
              </a:extLst>
            </p:cNvPr>
            <p:cNvSpPr txBox="1"/>
            <p:nvPr/>
          </p:nvSpPr>
          <p:spPr>
            <a:xfrm>
              <a:off x="2852786" y="3412179"/>
              <a:ext cx="1372235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400" b="1" dirty="0"/>
                <a:t>R</a:t>
              </a:r>
              <a:r>
                <a:rPr lang="en-US" sz="2400" b="1" baseline="-25000" dirty="0"/>
                <a:t>0,Spillover</a:t>
              </a:r>
              <a:endParaRPr lang="en-US" sz="2400" b="1" dirty="0"/>
            </a:p>
          </p:txBody>
        </p:sp>
        <p:sp>
          <p:nvSpPr>
            <p:cNvPr id="17" name="TextBox 16">
              <a:extLst>
                <a:ext uri="{FF2B5EF4-FFF2-40B4-BE49-F238E27FC236}">
                  <a16:creationId xmlns:a16="http://schemas.microsoft.com/office/drawing/2014/main" id="{BA93D761-7DF5-DE60-BCC6-2064079429BE}"/>
                </a:ext>
              </a:extLst>
            </p:cNvPr>
            <p:cNvSpPr txBox="1"/>
            <p:nvPr/>
          </p:nvSpPr>
          <p:spPr>
            <a:xfrm>
              <a:off x="8118642" y="3412179"/>
              <a:ext cx="1278555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400" b="1" dirty="0"/>
                <a:t>R</a:t>
              </a:r>
              <a:r>
                <a:rPr lang="en-US" sz="2400" b="1" baseline="-25000" dirty="0"/>
                <a:t>0,Evolved</a:t>
              </a:r>
              <a:endParaRPr lang="en-US" sz="2400" b="1" dirty="0"/>
            </a:p>
          </p:txBody>
        </p:sp>
        <p:sp>
          <p:nvSpPr>
            <p:cNvPr id="18" name="TextBox 17">
              <a:extLst>
                <a:ext uri="{FF2B5EF4-FFF2-40B4-BE49-F238E27FC236}">
                  <a16:creationId xmlns:a16="http://schemas.microsoft.com/office/drawing/2014/main" id="{BFBDD839-3871-0D9E-5CA9-A442AB0D4DC9}"/>
                </a:ext>
              </a:extLst>
            </p:cNvPr>
            <p:cNvSpPr txBox="1"/>
            <p:nvPr/>
          </p:nvSpPr>
          <p:spPr>
            <a:xfrm>
              <a:off x="4109576" y="3423506"/>
              <a:ext cx="349776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400" b="1" dirty="0"/>
                <a:t>1</a:t>
              </a:r>
            </a:p>
          </p:txBody>
        </p:sp>
        <p:sp>
          <p:nvSpPr>
            <p:cNvPr id="19" name="Freeform 18">
              <a:extLst>
                <a:ext uri="{FF2B5EF4-FFF2-40B4-BE49-F238E27FC236}">
                  <a16:creationId xmlns:a16="http://schemas.microsoft.com/office/drawing/2014/main" id="{17004B8A-550E-DEFF-4470-32705129BAEA}"/>
                </a:ext>
              </a:extLst>
            </p:cNvPr>
            <p:cNvSpPr/>
            <p:nvPr/>
          </p:nvSpPr>
          <p:spPr>
            <a:xfrm>
              <a:off x="2374805" y="1406013"/>
              <a:ext cx="6327515" cy="1276946"/>
            </a:xfrm>
            <a:custGeom>
              <a:avLst/>
              <a:gdLst>
                <a:gd name="csX0" fmla="*/ 6227805 w 6227805"/>
                <a:gd name="csY0" fmla="*/ 1276946 h 1276946"/>
                <a:gd name="csX1" fmla="*/ 2594919 w 6227805"/>
                <a:gd name="csY1" fmla="*/ 81 h 1276946"/>
                <a:gd name="csX2" fmla="*/ 0 w 6227805"/>
                <a:gd name="csY2" fmla="*/ 1227519 h 1276946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</a:cxnLst>
              <a:rect l="l" t="t" r="r" b="b"/>
              <a:pathLst>
                <a:path w="6227805" h="1276946">
                  <a:moveTo>
                    <a:pt x="6227805" y="1276946"/>
                  </a:moveTo>
                  <a:cubicBezTo>
                    <a:pt x="4930345" y="642632"/>
                    <a:pt x="3632886" y="8319"/>
                    <a:pt x="2594919" y="81"/>
                  </a:cubicBezTo>
                  <a:cubicBezTo>
                    <a:pt x="1556952" y="-8157"/>
                    <a:pt x="778476" y="609681"/>
                    <a:pt x="0" y="1227519"/>
                  </a:cubicBezTo>
                </a:path>
              </a:pathLst>
            </a:custGeom>
            <a:noFill/>
            <a:ln w="57150">
              <a:solidFill>
                <a:srgbClr val="FF0000"/>
              </a:solidFill>
              <a:headEnd type="none" w="med" len="med"/>
              <a:tailEnd type="triangle" w="med" len="me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0" name="Freeform 19">
              <a:extLst>
                <a:ext uri="{FF2B5EF4-FFF2-40B4-BE49-F238E27FC236}">
                  <a16:creationId xmlns:a16="http://schemas.microsoft.com/office/drawing/2014/main" id="{B6BF2A0C-8C35-7044-189C-8FBC81500F64}"/>
                </a:ext>
              </a:extLst>
            </p:cNvPr>
            <p:cNvSpPr/>
            <p:nvPr/>
          </p:nvSpPr>
          <p:spPr>
            <a:xfrm>
              <a:off x="2363149" y="2051002"/>
              <a:ext cx="1108241" cy="634534"/>
            </a:xfrm>
            <a:custGeom>
              <a:avLst/>
              <a:gdLst>
                <a:gd name="csX0" fmla="*/ 989650 w 989650"/>
                <a:gd name="csY0" fmla="*/ 634534 h 634534"/>
                <a:gd name="csX1" fmla="*/ 585996 w 989650"/>
                <a:gd name="csY1" fmla="*/ 221 h 634534"/>
                <a:gd name="csX2" fmla="*/ 0 w 989650"/>
                <a:gd name="csY2" fmla="*/ 589503 h 63453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</a:cxnLst>
              <a:rect l="l" t="t" r="r" b="b"/>
              <a:pathLst>
                <a:path w="989650" h="634534">
                  <a:moveTo>
                    <a:pt x="989650" y="634534"/>
                  </a:moveTo>
                  <a:cubicBezTo>
                    <a:pt x="868828" y="322183"/>
                    <a:pt x="748007" y="9832"/>
                    <a:pt x="585996" y="221"/>
                  </a:cubicBezTo>
                  <a:cubicBezTo>
                    <a:pt x="423985" y="-9390"/>
                    <a:pt x="203200" y="296373"/>
                    <a:pt x="0" y="589503"/>
                  </a:cubicBezTo>
                </a:path>
              </a:pathLst>
            </a:custGeom>
            <a:noFill/>
            <a:ln w="57150">
              <a:solidFill>
                <a:srgbClr val="00B050"/>
              </a:solidFill>
              <a:headEnd type="none" w="med" len="med"/>
              <a:tailEnd type="triangle" w="med" len="me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grpSp>
          <p:nvGrpSpPr>
            <p:cNvPr id="30" name="Group 29">
              <a:extLst>
                <a:ext uri="{FF2B5EF4-FFF2-40B4-BE49-F238E27FC236}">
                  <a16:creationId xmlns:a16="http://schemas.microsoft.com/office/drawing/2014/main" id="{5B04AAE2-4695-FA17-96F2-BAA175E35A27}"/>
                </a:ext>
              </a:extLst>
            </p:cNvPr>
            <p:cNvGrpSpPr/>
            <p:nvPr/>
          </p:nvGrpSpPr>
          <p:grpSpPr>
            <a:xfrm>
              <a:off x="2580351" y="3152305"/>
              <a:ext cx="702522" cy="323453"/>
              <a:chOff x="2580351" y="3081535"/>
              <a:chExt cx="702522" cy="323453"/>
            </a:xfrm>
          </p:grpSpPr>
          <p:sp>
            <p:nvSpPr>
              <p:cNvPr id="29" name="TextBox 28">
                <a:extLst>
                  <a:ext uri="{FF2B5EF4-FFF2-40B4-BE49-F238E27FC236}">
                    <a16:creationId xmlns:a16="http://schemas.microsoft.com/office/drawing/2014/main" id="{5C7B4F28-928A-05C5-CEEA-C0196BDF4F84}"/>
                  </a:ext>
                </a:extLst>
              </p:cNvPr>
              <p:cNvSpPr txBox="1"/>
              <p:nvPr/>
            </p:nvSpPr>
            <p:spPr>
              <a:xfrm>
                <a:off x="2597454" y="3081535"/>
                <a:ext cx="654189" cy="307777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rtlCol="0">
                <a:spAutoFit/>
              </a:bodyPr>
              <a:lstStyle/>
              <a:p>
                <a:r>
                  <a:rPr lang="en-US" sz="1400" dirty="0"/>
                  <a:t>Small</a:t>
                </a:r>
              </a:p>
            </p:txBody>
          </p:sp>
          <p:cxnSp>
            <p:nvCxnSpPr>
              <p:cNvPr id="22" name="Straight Connector 21">
                <a:extLst>
                  <a:ext uri="{FF2B5EF4-FFF2-40B4-BE49-F238E27FC236}">
                    <a16:creationId xmlns:a16="http://schemas.microsoft.com/office/drawing/2014/main" id="{85F74841-4242-01CE-EAFC-E2CA09EA8643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2587929" y="3345284"/>
                <a:ext cx="694944" cy="1464"/>
              </a:xfrm>
              <a:prstGeom prst="line">
                <a:avLst/>
              </a:prstGeom>
              <a:ln w="19050">
                <a:solidFill>
                  <a:schemeClr val="tx1"/>
                </a:solidFill>
                <a:prstDash val="sysDash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5" name="Straight Connector 24">
                <a:extLst>
                  <a:ext uri="{FF2B5EF4-FFF2-40B4-BE49-F238E27FC236}">
                    <a16:creationId xmlns:a16="http://schemas.microsoft.com/office/drawing/2014/main" id="{0B4E0BEB-32A9-3549-EEBA-261718E7608D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2580351" y="3281816"/>
                <a:ext cx="0" cy="116906"/>
              </a:xfrm>
              <a:prstGeom prst="line">
                <a:avLst/>
              </a:prstGeom>
              <a:ln w="19050">
                <a:solidFill>
                  <a:schemeClr val="tx1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7" name="Straight Connector 26">
                <a:extLst>
                  <a:ext uri="{FF2B5EF4-FFF2-40B4-BE49-F238E27FC236}">
                    <a16:creationId xmlns:a16="http://schemas.microsoft.com/office/drawing/2014/main" id="{DD8E9BAF-D8D2-B3FF-F148-F0C5D2A7B2A4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3271365" y="3288082"/>
                <a:ext cx="0" cy="116906"/>
              </a:xfrm>
              <a:prstGeom prst="line">
                <a:avLst/>
              </a:prstGeom>
              <a:ln w="19050">
                <a:solidFill>
                  <a:schemeClr val="tx1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31" name="Group 30">
              <a:extLst>
                <a:ext uri="{FF2B5EF4-FFF2-40B4-BE49-F238E27FC236}">
                  <a16:creationId xmlns:a16="http://schemas.microsoft.com/office/drawing/2014/main" id="{92493FDE-C1BF-1FAF-D5F2-459C2A92F607}"/>
                </a:ext>
              </a:extLst>
            </p:cNvPr>
            <p:cNvGrpSpPr/>
            <p:nvPr/>
          </p:nvGrpSpPr>
          <p:grpSpPr>
            <a:xfrm>
              <a:off x="3447336" y="3150186"/>
              <a:ext cx="748680" cy="323453"/>
              <a:chOff x="2547399" y="3081535"/>
              <a:chExt cx="748680" cy="323453"/>
            </a:xfrm>
          </p:grpSpPr>
          <p:sp>
            <p:nvSpPr>
              <p:cNvPr id="32" name="TextBox 31">
                <a:extLst>
                  <a:ext uri="{FF2B5EF4-FFF2-40B4-BE49-F238E27FC236}">
                    <a16:creationId xmlns:a16="http://schemas.microsoft.com/office/drawing/2014/main" id="{6810D38A-D4AE-3E57-79BF-77676AD8082B}"/>
                  </a:ext>
                </a:extLst>
              </p:cNvPr>
              <p:cNvSpPr txBox="1"/>
              <p:nvPr/>
            </p:nvSpPr>
            <p:spPr>
              <a:xfrm>
                <a:off x="2597454" y="3081535"/>
                <a:ext cx="654189" cy="307777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rtlCol="0">
                <a:spAutoFit/>
              </a:bodyPr>
              <a:lstStyle/>
              <a:p>
                <a:r>
                  <a:rPr lang="en-US" sz="1400" dirty="0"/>
                  <a:t>Small</a:t>
                </a:r>
              </a:p>
            </p:txBody>
          </p:sp>
          <p:cxnSp>
            <p:nvCxnSpPr>
              <p:cNvPr id="33" name="Straight Connector 32">
                <a:extLst>
                  <a:ext uri="{FF2B5EF4-FFF2-40B4-BE49-F238E27FC236}">
                    <a16:creationId xmlns:a16="http://schemas.microsoft.com/office/drawing/2014/main" id="{49848E89-F298-E425-0995-081BC911BF4C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2563216" y="3345284"/>
                <a:ext cx="722376" cy="0"/>
              </a:xfrm>
              <a:prstGeom prst="line">
                <a:avLst/>
              </a:prstGeom>
              <a:ln w="19050">
                <a:solidFill>
                  <a:schemeClr val="tx1"/>
                </a:solidFill>
                <a:prstDash val="sysDash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4" name="Straight Connector 33">
                <a:extLst>
                  <a:ext uri="{FF2B5EF4-FFF2-40B4-BE49-F238E27FC236}">
                    <a16:creationId xmlns:a16="http://schemas.microsoft.com/office/drawing/2014/main" id="{53BA1544-0A85-724A-F9D6-215F1C6D7AA5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2547399" y="3281816"/>
                <a:ext cx="0" cy="116906"/>
              </a:xfrm>
              <a:prstGeom prst="line">
                <a:avLst/>
              </a:prstGeom>
              <a:ln w="19050">
                <a:solidFill>
                  <a:schemeClr val="tx1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5" name="Straight Connector 34">
                <a:extLst>
                  <a:ext uri="{FF2B5EF4-FFF2-40B4-BE49-F238E27FC236}">
                    <a16:creationId xmlns:a16="http://schemas.microsoft.com/office/drawing/2014/main" id="{E2451F83-2298-5D2F-4D6B-BE478B7DECEC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3296079" y="3288082"/>
                <a:ext cx="0" cy="116906"/>
              </a:xfrm>
              <a:prstGeom prst="line">
                <a:avLst/>
              </a:prstGeom>
              <a:ln w="19050">
                <a:solidFill>
                  <a:schemeClr val="tx1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36" name="Group 35">
              <a:extLst>
                <a:ext uri="{FF2B5EF4-FFF2-40B4-BE49-F238E27FC236}">
                  <a16:creationId xmlns:a16="http://schemas.microsoft.com/office/drawing/2014/main" id="{9D2C542F-EF7E-DAD3-E4B8-1F96F83AE96F}"/>
                </a:ext>
              </a:extLst>
            </p:cNvPr>
            <p:cNvGrpSpPr/>
            <p:nvPr/>
          </p:nvGrpSpPr>
          <p:grpSpPr>
            <a:xfrm>
              <a:off x="4417647" y="3141927"/>
              <a:ext cx="4092263" cy="332447"/>
              <a:chOff x="905492" y="3071290"/>
              <a:chExt cx="4092263" cy="332447"/>
            </a:xfrm>
          </p:grpSpPr>
          <p:sp>
            <p:nvSpPr>
              <p:cNvPr id="37" name="TextBox 36">
                <a:extLst>
                  <a:ext uri="{FF2B5EF4-FFF2-40B4-BE49-F238E27FC236}">
                    <a16:creationId xmlns:a16="http://schemas.microsoft.com/office/drawing/2014/main" id="{F9873BA4-1D92-1B50-16DA-682358D3964A}"/>
                  </a:ext>
                </a:extLst>
              </p:cNvPr>
              <p:cNvSpPr txBox="1"/>
              <p:nvPr/>
            </p:nvSpPr>
            <p:spPr>
              <a:xfrm>
                <a:off x="2449747" y="3071290"/>
                <a:ext cx="654189" cy="307777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rtlCol="0">
                <a:spAutoFit/>
              </a:bodyPr>
              <a:lstStyle/>
              <a:p>
                <a:r>
                  <a:rPr lang="en-US" sz="1400" dirty="0"/>
                  <a:t>Large</a:t>
                </a:r>
              </a:p>
            </p:txBody>
          </p:sp>
          <p:cxnSp>
            <p:nvCxnSpPr>
              <p:cNvPr id="38" name="Straight Connector 37">
                <a:extLst>
                  <a:ext uri="{FF2B5EF4-FFF2-40B4-BE49-F238E27FC236}">
                    <a16:creationId xmlns:a16="http://schemas.microsoft.com/office/drawing/2014/main" id="{8DFF93E1-0873-4B28-38EE-57A24234388E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905492" y="3337512"/>
                <a:ext cx="4092263" cy="9369"/>
              </a:xfrm>
              <a:prstGeom prst="line">
                <a:avLst/>
              </a:prstGeom>
              <a:ln w="19050">
                <a:solidFill>
                  <a:schemeClr val="tx1"/>
                </a:solidFill>
                <a:prstDash val="sysDash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9" name="Straight Connector 38">
                <a:extLst>
                  <a:ext uri="{FF2B5EF4-FFF2-40B4-BE49-F238E27FC236}">
                    <a16:creationId xmlns:a16="http://schemas.microsoft.com/office/drawing/2014/main" id="{00F4922C-E1F2-943A-281B-C4B8987D2241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905492" y="3286831"/>
                <a:ext cx="0" cy="116906"/>
              </a:xfrm>
              <a:prstGeom prst="line">
                <a:avLst/>
              </a:prstGeom>
              <a:ln w="19050">
                <a:solidFill>
                  <a:schemeClr val="tx1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0" name="Straight Connector 39">
                <a:extLst>
                  <a:ext uri="{FF2B5EF4-FFF2-40B4-BE49-F238E27FC236}">
                    <a16:creationId xmlns:a16="http://schemas.microsoft.com/office/drawing/2014/main" id="{0B2F52F9-D000-300C-329A-ACA8DA6D5726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4988769" y="3279059"/>
                <a:ext cx="0" cy="116906"/>
              </a:xfrm>
              <a:prstGeom prst="line">
                <a:avLst/>
              </a:prstGeom>
              <a:ln w="19050">
                <a:solidFill>
                  <a:schemeClr val="tx1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46" name="Triangle 45">
              <a:extLst>
                <a:ext uri="{FF2B5EF4-FFF2-40B4-BE49-F238E27FC236}">
                  <a16:creationId xmlns:a16="http://schemas.microsoft.com/office/drawing/2014/main" id="{0E09C803-31C0-D7A4-99C7-B5E5E9046EB7}"/>
                </a:ext>
              </a:extLst>
            </p:cNvPr>
            <p:cNvSpPr/>
            <p:nvPr/>
          </p:nvSpPr>
          <p:spPr>
            <a:xfrm rot="16200000" flipH="1">
              <a:off x="5343629" y="1839084"/>
              <a:ext cx="446184" cy="6108355"/>
            </a:xfrm>
            <a:prstGeom prst="triangle">
              <a:avLst>
                <a:gd name="adj" fmla="val 100000"/>
              </a:avLst>
            </a:prstGeom>
            <a:gradFill>
              <a:gsLst>
                <a:gs pos="0">
                  <a:schemeClr val="accent6"/>
                </a:gs>
                <a:gs pos="50000">
                  <a:srgbClr val="FFFF00"/>
                </a:gs>
                <a:gs pos="70000">
                  <a:srgbClr val="FFC000"/>
                </a:gs>
                <a:gs pos="100000">
                  <a:srgbClr val="FF0000"/>
                </a:gs>
              </a:gsLst>
              <a:lin ang="5400000" scaled="1"/>
            </a:gradFill>
            <a:ln w="28575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7" name="TextBox 46">
              <a:extLst>
                <a:ext uri="{FF2B5EF4-FFF2-40B4-BE49-F238E27FC236}">
                  <a16:creationId xmlns:a16="http://schemas.microsoft.com/office/drawing/2014/main" id="{85984EB6-4FE1-E829-9F3A-B2790D7E160F}"/>
                </a:ext>
              </a:extLst>
            </p:cNvPr>
            <p:cNvSpPr txBox="1"/>
            <p:nvPr/>
          </p:nvSpPr>
          <p:spPr>
            <a:xfrm>
              <a:off x="8620898" y="4723334"/>
              <a:ext cx="2967944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b="1" dirty="0"/>
                <a:t>Effort required for control</a:t>
              </a:r>
            </a:p>
          </p:txBody>
        </p:sp>
        <p:cxnSp>
          <p:nvCxnSpPr>
            <p:cNvPr id="48" name="Straight Arrow Connector 47">
              <a:extLst>
                <a:ext uri="{FF2B5EF4-FFF2-40B4-BE49-F238E27FC236}">
                  <a16:creationId xmlns:a16="http://schemas.microsoft.com/office/drawing/2014/main" id="{16429F16-8EE3-9BEC-DC19-FDA2A4588D22}"/>
                </a:ext>
              </a:extLst>
            </p:cNvPr>
            <p:cNvCxnSpPr>
              <a:cxnSpLocks/>
            </p:cNvCxnSpPr>
            <p:nvPr/>
          </p:nvCxnSpPr>
          <p:spPr>
            <a:xfrm>
              <a:off x="1943825" y="3951209"/>
              <a:ext cx="1413094" cy="0"/>
            </a:xfrm>
            <a:prstGeom prst="straightConnector1">
              <a:avLst/>
            </a:prstGeom>
            <a:ln w="38100">
              <a:solidFill>
                <a:srgbClr val="000000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49" name="TextBox 48">
              <a:extLst>
                <a:ext uri="{FF2B5EF4-FFF2-40B4-BE49-F238E27FC236}">
                  <a16:creationId xmlns:a16="http://schemas.microsoft.com/office/drawing/2014/main" id="{D68B5F82-70E9-8EAD-4429-773C8BB6D648}"/>
                </a:ext>
              </a:extLst>
            </p:cNvPr>
            <p:cNvSpPr txBox="1"/>
            <p:nvPr/>
          </p:nvSpPr>
          <p:spPr>
            <a:xfrm>
              <a:off x="1853513" y="3990983"/>
              <a:ext cx="2415000" cy="92333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/>
                <a:t>Waning immunity:</a:t>
              </a:r>
            </a:p>
            <a:p>
              <a:r>
                <a:rPr lang="en-US" dirty="0"/>
                <a:t>R</a:t>
              </a:r>
              <a:r>
                <a:rPr lang="en-US" baseline="-25000" dirty="0"/>
                <a:t>e</a:t>
              </a:r>
              <a:r>
                <a:rPr lang="en-US" dirty="0"/>
                <a:t> increases</a:t>
              </a:r>
            </a:p>
            <a:p>
              <a:r>
                <a:rPr lang="en-US" dirty="0"/>
                <a:t>toward R</a:t>
              </a:r>
              <a:r>
                <a:rPr lang="en-US" baseline="-25000" dirty="0"/>
                <a:t>0</a:t>
              </a:r>
              <a:endParaRPr lang="en-US" dirty="0"/>
            </a:p>
          </p:txBody>
        </p:sp>
        <p:sp>
          <p:nvSpPr>
            <p:cNvPr id="50" name="TextBox 49">
              <a:extLst>
                <a:ext uri="{FF2B5EF4-FFF2-40B4-BE49-F238E27FC236}">
                  <a16:creationId xmlns:a16="http://schemas.microsoft.com/office/drawing/2014/main" id="{0277668D-47A5-1C15-F65C-9BACE67EABE3}"/>
                </a:ext>
              </a:extLst>
            </p:cNvPr>
            <p:cNvSpPr txBox="1"/>
            <p:nvPr/>
          </p:nvSpPr>
          <p:spPr>
            <a:xfrm>
              <a:off x="3824485" y="3998273"/>
              <a:ext cx="5274549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/>
                <a:t>Evolution after spillover: </a:t>
              </a:r>
            </a:p>
            <a:p>
              <a:r>
                <a:rPr lang="en-US" dirty="0"/>
                <a:t>Adaptation continues to increase R</a:t>
              </a:r>
              <a:r>
                <a:rPr lang="en-US" baseline="-25000" dirty="0"/>
                <a:t>0</a:t>
              </a:r>
              <a:endParaRPr lang="en-US" dirty="0"/>
            </a:p>
          </p:txBody>
        </p:sp>
        <p:cxnSp>
          <p:nvCxnSpPr>
            <p:cNvPr id="51" name="Straight Arrow Connector 50">
              <a:extLst>
                <a:ext uri="{FF2B5EF4-FFF2-40B4-BE49-F238E27FC236}">
                  <a16:creationId xmlns:a16="http://schemas.microsoft.com/office/drawing/2014/main" id="{2254C197-C7A3-5389-AD9B-C6AD52B33375}"/>
                </a:ext>
              </a:extLst>
            </p:cNvPr>
            <p:cNvCxnSpPr>
              <a:cxnSpLocks/>
            </p:cNvCxnSpPr>
            <p:nvPr/>
          </p:nvCxnSpPr>
          <p:spPr>
            <a:xfrm>
              <a:off x="4289999" y="3951209"/>
              <a:ext cx="4330899" cy="0"/>
            </a:xfrm>
            <a:prstGeom prst="straightConnector1">
              <a:avLst/>
            </a:prstGeom>
            <a:ln w="38100">
              <a:solidFill>
                <a:srgbClr val="000000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58" name="TextBox 57">
              <a:extLst>
                <a:ext uri="{FF2B5EF4-FFF2-40B4-BE49-F238E27FC236}">
                  <a16:creationId xmlns:a16="http://schemas.microsoft.com/office/drawing/2014/main" id="{9740B1DB-91B1-8A25-A5B1-1403D878065F}"/>
                </a:ext>
              </a:extLst>
            </p:cNvPr>
            <p:cNvSpPr txBox="1"/>
            <p:nvPr/>
          </p:nvSpPr>
          <p:spPr>
            <a:xfrm>
              <a:off x="10012403" y="2860929"/>
              <a:ext cx="1668472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b="1" dirty="0"/>
                <a:t>Reproductive Number, R</a:t>
              </a:r>
            </a:p>
          </p:txBody>
        </p:sp>
        <p:sp>
          <p:nvSpPr>
            <p:cNvPr id="59" name="TextBox 58">
              <a:extLst>
                <a:ext uri="{FF2B5EF4-FFF2-40B4-BE49-F238E27FC236}">
                  <a16:creationId xmlns:a16="http://schemas.microsoft.com/office/drawing/2014/main" id="{FB7CCD49-7884-34BF-D582-F7C6AE328653}"/>
                </a:ext>
              </a:extLst>
            </p:cNvPr>
            <p:cNvSpPr txBox="1"/>
            <p:nvPr/>
          </p:nvSpPr>
          <p:spPr>
            <a:xfrm>
              <a:off x="1330064" y="1594212"/>
              <a:ext cx="2478420" cy="52322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2800" dirty="0"/>
                <a:t>Prevention</a:t>
              </a:r>
            </a:p>
          </p:txBody>
        </p:sp>
        <p:sp>
          <p:nvSpPr>
            <p:cNvPr id="60" name="TextBox 59">
              <a:extLst>
                <a:ext uri="{FF2B5EF4-FFF2-40B4-BE49-F238E27FC236}">
                  <a16:creationId xmlns:a16="http://schemas.microsoft.com/office/drawing/2014/main" id="{C388FE61-AAA3-34EE-21FF-D99626C3948A}"/>
                </a:ext>
              </a:extLst>
            </p:cNvPr>
            <p:cNvSpPr txBox="1"/>
            <p:nvPr/>
          </p:nvSpPr>
          <p:spPr>
            <a:xfrm>
              <a:off x="4722692" y="915545"/>
              <a:ext cx="2478420" cy="52322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2800" dirty="0"/>
                <a:t>Eradication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1959933025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1B06BAE-3BF6-E544-5CC4-D2DE0C1FCAC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9936996-8C04-A7ED-49CF-02937FA54E0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Supplement</a:t>
            </a:r>
          </a:p>
        </p:txBody>
      </p:sp>
    </p:spTree>
    <p:extLst>
      <p:ext uri="{BB962C8B-B14F-4D97-AF65-F5344CB8AC3E}">
        <p14:creationId xmlns:p14="http://schemas.microsoft.com/office/powerpoint/2010/main" val="3402681980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8DA6442-15D8-834B-F0AE-CE5FD0364DB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" name="Group 3">
            <a:extLst>
              <a:ext uri="{FF2B5EF4-FFF2-40B4-BE49-F238E27FC236}">
                <a16:creationId xmlns:a16="http://schemas.microsoft.com/office/drawing/2014/main" id="{09BF489E-9EE9-CCD3-6BF7-E703021825C2}"/>
              </a:ext>
            </a:extLst>
          </p:cNvPr>
          <p:cNvGrpSpPr/>
          <p:nvPr/>
        </p:nvGrpSpPr>
        <p:grpSpPr>
          <a:xfrm>
            <a:off x="213719" y="537202"/>
            <a:ext cx="11528296" cy="5911228"/>
            <a:chOff x="282917" y="601457"/>
            <a:chExt cx="11528296" cy="5911228"/>
          </a:xfrm>
        </p:grpSpPr>
        <p:pic>
          <p:nvPicPr>
            <p:cNvPr id="17" name="Picture 16">
              <a:extLst>
                <a:ext uri="{FF2B5EF4-FFF2-40B4-BE49-F238E27FC236}">
                  <a16:creationId xmlns:a16="http://schemas.microsoft.com/office/drawing/2014/main" id="{18C33EDA-0775-C975-D82C-7ADE4FFB0175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rcRect t="3853"/>
            <a:stretch>
              <a:fillRect/>
            </a:stretch>
          </p:blipFill>
          <p:spPr>
            <a:xfrm>
              <a:off x="668165" y="1633882"/>
              <a:ext cx="9952700" cy="4869706"/>
            </a:xfrm>
            <a:prstGeom prst="rect">
              <a:avLst/>
            </a:prstGeom>
          </p:spPr>
        </p:pic>
        <p:cxnSp>
          <p:nvCxnSpPr>
            <p:cNvPr id="7" name="Straight Connector 6">
              <a:extLst>
                <a:ext uri="{FF2B5EF4-FFF2-40B4-BE49-F238E27FC236}">
                  <a16:creationId xmlns:a16="http://schemas.microsoft.com/office/drawing/2014/main" id="{FB31DABE-C29B-BA30-F413-38BEEDB42DDF}"/>
                </a:ext>
              </a:extLst>
            </p:cNvPr>
            <p:cNvCxnSpPr>
              <a:cxnSpLocks/>
            </p:cNvCxnSpPr>
            <p:nvPr/>
          </p:nvCxnSpPr>
          <p:spPr>
            <a:xfrm>
              <a:off x="1995463" y="659218"/>
              <a:ext cx="0" cy="5289695"/>
            </a:xfrm>
            <a:prstGeom prst="line">
              <a:avLst/>
            </a:prstGeom>
            <a:ln w="38100">
              <a:solidFill>
                <a:srgbClr val="000000">
                  <a:alpha val="50196"/>
                </a:srgbClr>
              </a:solidFill>
              <a:prstDash val="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" name="Straight Connector 13">
              <a:extLst>
                <a:ext uri="{FF2B5EF4-FFF2-40B4-BE49-F238E27FC236}">
                  <a16:creationId xmlns:a16="http://schemas.microsoft.com/office/drawing/2014/main" id="{8E41D8F2-0E03-820F-E1E3-0B92E7BBF7BC}"/>
                </a:ext>
              </a:extLst>
            </p:cNvPr>
            <p:cNvCxnSpPr>
              <a:cxnSpLocks/>
            </p:cNvCxnSpPr>
            <p:nvPr/>
          </p:nvCxnSpPr>
          <p:spPr>
            <a:xfrm>
              <a:off x="3274912" y="659218"/>
              <a:ext cx="0" cy="5289695"/>
            </a:xfrm>
            <a:prstGeom prst="line">
              <a:avLst/>
            </a:prstGeom>
            <a:ln w="38100">
              <a:solidFill>
                <a:srgbClr val="000000">
                  <a:alpha val="50196"/>
                </a:srgbClr>
              </a:solidFill>
              <a:prstDash val="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Straight Connector 14">
              <a:extLst>
                <a:ext uri="{FF2B5EF4-FFF2-40B4-BE49-F238E27FC236}">
                  <a16:creationId xmlns:a16="http://schemas.microsoft.com/office/drawing/2014/main" id="{939FE8CE-5218-28F8-A7A1-3210C39DB1C7}"/>
                </a:ext>
              </a:extLst>
            </p:cNvPr>
            <p:cNvCxnSpPr>
              <a:cxnSpLocks/>
            </p:cNvCxnSpPr>
            <p:nvPr/>
          </p:nvCxnSpPr>
          <p:spPr>
            <a:xfrm>
              <a:off x="4618160" y="655172"/>
              <a:ext cx="0" cy="5293741"/>
            </a:xfrm>
            <a:prstGeom prst="line">
              <a:avLst/>
            </a:prstGeom>
            <a:ln w="38100">
              <a:solidFill>
                <a:srgbClr val="000000">
                  <a:alpha val="50196"/>
                </a:srgbClr>
              </a:solidFill>
              <a:prstDash val="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" name="Straight Connector 17">
              <a:extLst>
                <a:ext uri="{FF2B5EF4-FFF2-40B4-BE49-F238E27FC236}">
                  <a16:creationId xmlns:a16="http://schemas.microsoft.com/office/drawing/2014/main" id="{D7366925-9642-3659-2895-E90660D60652}"/>
                </a:ext>
              </a:extLst>
            </p:cNvPr>
            <p:cNvCxnSpPr>
              <a:cxnSpLocks/>
            </p:cNvCxnSpPr>
            <p:nvPr/>
          </p:nvCxnSpPr>
          <p:spPr>
            <a:xfrm>
              <a:off x="6096000" y="655172"/>
              <a:ext cx="0" cy="5289695"/>
            </a:xfrm>
            <a:prstGeom prst="line">
              <a:avLst/>
            </a:prstGeom>
            <a:ln w="38100">
              <a:solidFill>
                <a:srgbClr val="000000">
                  <a:alpha val="50196"/>
                </a:srgbClr>
              </a:solidFill>
              <a:prstDash val="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" name="Straight Connector 18">
              <a:extLst>
                <a:ext uri="{FF2B5EF4-FFF2-40B4-BE49-F238E27FC236}">
                  <a16:creationId xmlns:a16="http://schemas.microsoft.com/office/drawing/2014/main" id="{66774355-0CE0-0D25-49E2-0CF67CA52AAE}"/>
                </a:ext>
              </a:extLst>
            </p:cNvPr>
            <p:cNvCxnSpPr>
              <a:cxnSpLocks/>
            </p:cNvCxnSpPr>
            <p:nvPr/>
          </p:nvCxnSpPr>
          <p:spPr>
            <a:xfrm>
              <a:off x="7747676" y="655171"/>
              <a:ext cx="0" cy="5289695"/>
            </a:xfrm>
            <a:prstGeom prst="line">
              <a:avLst/>
            </a:prstGeom>
            <a:ln w="38100">
              <a:solidFill>
                <a:srgbClr val="000000">
                  <a:alpha val="50196"/>
                </a:srgbClr>
              </a:solidFill>
              <a:prstDash val="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" name="Straight Connector 19">
              <a:extLst>
                <a:ext uri="{FF2B5EF4-FFF2-40B4-BE49-F238E27FC236}">
                  <a16:creationId xmlns:a16="http://schemas.microsoft.com/office/drawing/2014/main" id="{6E8CED40-A2DF-0481-45EA-465281B0E107}"/>
                </a:ext>
              </a:extLst>
            </p:cNvPr>
            <p:cNvCxnSpPr>
              <a:cxnSpLocks/>
            </p:cNvCxnSpPr>
            <p:nvPr/>
          </p:nvCxnSpPr>
          <p:spPr>
            <a:xfrm>
              <a:off x="9544578" y="655171"/>
              <a:ext cx="0" cy="5294376"/>
            </a:xfrm>
            <a:prstGeom prst="line">
              <a:avLst/>
            </a:prstGeom>
            <a:ln w="38100">
              <a:solidFill>
                <a:srgbClr val="000000">
                  <a:alpha val="50196"/>
                </a:srgbClr>
              </a:solidFill>
              <a:prstDash val="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1" name="Oval 20">
              <a:extLst>
                <a:ext uri="{FF2B5EF4-FFF2-40B4-BE49-F238E27FC236}">
                  <a16:creationId xmlns:a16="http://schemas.microsoft.com/office/drawing/2014/main" id="{A3F12E43-AFDF-A9FC-B245-DAE6DBB55C7F}"/>
                </a:ext>
              </a:extLst>
            </p:cNvPr>
            <p:cNvSpPr/>
            <p:nvPr/>
          </p:nvSpPr>
          <p:spPr>
            <a:xfrm>
              <a:off x="1115890" y="776177"/>
              <a:ext cx="734876" cy="659219"/>
            </a:xfrm>
            <a:prstGeom prst="ellipse">
              <a:avLst/>
            </a:prstGeom>
            <a:solidFill>
              <a:schemeClr val="bg1">
                <a:lumMod val="9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solidFill>
                  <a:schemeClr val="bg2"/>
                </a:solidFill>
              </a:endParaRPr>
            </a:p>
          </p:txBody>
        </p:sp>
        <p:sp>
          <p:nvSpPr>
            <p:cNvPr id="22" name="Oval 21">
              <a:extLst>
                <a:ext uri="{FF2B5EF4-FFF2-40B4-BE49-F238E27FC236}">
                  <a16:creationId xmlns:a16="http://schemas.microsoft.com/office/drawing/2014/main" id="{EA46955E-72EE-01EC-F29A-403FC8727072}"/>
                </a:ext>
              </a:extLst>
            </p:cNvPr>
            <p:cNvSpPr/>
            <p:nvPr/>
          </p:nvSpPr>
          <p:spPr>
            <a:xfrm>
              <a:off x="2278382" y="776177"/>
              <a:ext cx="734876" cy="659219"/>
            </a:xfrm>
            <a:prstGeom prst="ellipse">
              <a:avLst/>
            </a:prstGeom>
            <a:solidFill>
              <a:schemeClr val="bg1">
                <a:lumMod val="8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3" name="Oval 22">
              <a:extLst>
                <a:ext uri="{FF2B5EF4-FFF2-40B4-BE49-F238E27FC236}">
                  <a16:creationId xmlns:a16="http://schemas.microsoft.com/office/drawing/2014/main" id="{CF5B8690-CDEA-B353-E042-5CEA88B17150}"/>
                </a:ext>
              </a:extLst>
            </p:cNvPr>
            <p:cNvSpPr/>
            <p:nvPr/>
          </p:nvSpPr>
          <p:spPr>
            <a:xfrm>
              <a:off x="3579098" y="776177"/>
              <a:ext cx="734876" cy="659219"/>
            </a:xfrm>
            <a:prstGeom prst="ellipse">
              <a:avLst/>
            </a:prstGeom>
            <a:solidFill>
              <a:schemeClr val="bg1">
                <a:lumMod val="7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4" name="Oval 23">
              <a:extLst>
                <a:ext uri="{FF2B5EF4-FFF2-40B4-BE49-F238E27FC236}">
                  <a16:creationId xmlns:a16="http://schemas.microsoft.com/office/drawing/2014/main" id="{D81BAEDE-4500-3573-9591-1DAC6966FE7F}"/>
                </a:ext>
              </a:extLst>
            </p:cNvPr>
            <p:cNvSpPr/>
            <p:nvPr/>
          </p:nvSpPr>
          <p:spPr>
            <a:xfrm>
              <a:off x="4989642" y="776177"/>
              <a:ext cx="734876" cy="659219"/>
            </a:xfrm>
            <a:prstGeom prst="ellipse">
              <a:avLst/>
            </a:prstGeom>
            <a:solidFill>
              <a:schemeClr val="bg1">
                <a:lumMod val="6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5" name="Oval 24">
              <a:extLst>
                <a:ext uri="{FF2B5EF4-FFF2-40B4-BE49-F238E27FC236}">
                  <a16:creationId xmlns:a16="http://schemas.microsoft.com/office/drawing/2014/main" id="{3873C632-FC51-AEC8-F3D7-889EA7F326F9}"/>
                </a:ext>
              </a:extLst>
            </p:cNvPr>
            <p:cNvSpPr/>
            <p:nvPr/>
          </p:nvSpPr>
          <p:spPr>
            <a:xfrm>
              <a:off x="6554400" y="776177"/>
              <a:ext cx="734876" cy="659219"/>
            </a:xfrm>
            <a:prstGeom prst="ellipse">
              <a:avLst/>
            </a:prstGeom>
            <a:solidFill>
              <a:schemeClr val="bg1">
                <a:lumMod val="5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6" name="Oval 25">
              <a:extLst>
                <a:ext uri="{FF2B5EF4-FFF2-40B4-BE49-F238E27FC236}">
                  <a16:creationId xmlns:a16="http://schemas.microsoft.com/office/drawing/2014/main" id="{4B9D3C4E-4DF0-67D9-FCBF-7890AAF8FDA4}"/>
                </a:ext>
              </a:extLst>
            </p:cNvPr>
            <p:cNvSpPr/>
            <p:nvPr/>
          </p:nvSpPr>
          <p:spPr>
            <a:xfrm>
              <a:off x="8278689" y="839973"/>
              <a:ext cx="734876" cy="659219"/>
            </a:xfrm>
            <a:prstGeom prst="ellipse">
              <a:avLst/>
            </a:prstGeom>
            <a:solidFill>
              <a:schemeClr val="tx1">
                <a:lumMod val="65000"/>
                <a:lumOff val="3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7" name="Oval 26">
              <a:extLst>
                <a:ext uri="{FF2B5EF4-FFF2-40B4-BE49-F238E27FC236}">
                  <a16:creationId xmlns:a16="http://schemas.microsoft.com/office/drawing/2014/main" id="{AB72C0F0-5BAD-108D-C63F-EC7539736A31}"/>
                </a:ext>
              </a:extLst>
            </p:cNvPr>
            <p:cNvSpPr/>
            <p:nvPr/>
          </p:nvSpPr>
          <p:spPr>
            <a:xfrm>
              <a:off x="10075592" y="839973"/>
              <a:ext cx="734876" cy="659219"/>
            </a:xfrm>
            <a:prstGeom prst="ellipse">
              <a:avLst/>
            </a:prstGeom>
            <a:solidFill>
              <a:schemeClr val="tx1">
                <a:lumMod val="75000"/>
                <a:lumOff val="2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7" name="TextBox 36">
              <a:extLst>
                <a:ext uri="{FF2B5EF4-FFF2-40B4-BE49-F238E27FC236}">
                  <a16:creationId xmlns:a16="http://schemas.microsoft.com/office/drawing/2014/main" id="{54A07BF5-7FC2-5ECE-9276-1195C75F04B6}"/>
                </a:ext>
              </a:extLst>
            </p:cNvPr>
            <p:cNvSpPr txBox="1"/>
            <p:nvPr/>
          </p:nvSpPr>
          <p:spPr>
            <a:xfrm>
              <a:off x="9919453" y="601457"/>
              <a:ext cx="1636800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200" b="1" dirty="0"/>
                <a:t>Supercritical</a:t>
              </a:r>
            </a:p>
          </p:txBody>
        </p:sp>
        <p:sp>
          <p:nvSpPr>
            <p:cNvPr id="38" name="TextBox 37">
              <a:extLst>
                <a:ext uri="{FF2B5EF4-FFF2-40B4-BE49-F238E27FC236}">
                  <a16:creationId xmlns:a16="http://schemas.microsoft.com/office/drawing/2014/main" id="{0DE8055B-9EDE-C690-DED9-CDBC7D1AC65A}"/>
                </a:ext>
              </a:extLst>
            </p:cNvPr>
            <p:cNvSpPr txBox="1"/>
            <p:nvPr/>
          </p:nvSpPr>
          <p:spPr>
            <a:xfrm rot="20144511">
              <a:off x="1922156" y="4945274"/>
              <a:ext cx="1462762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200" b="1" dirty="0"/>
                <a:t>5 mutations away</a:t>
              </a:r>
            </a:p>
          </p:txBody>
        </p:sp>
        <p:sp>
          <p:nvSpPr>
            <p:cNvPr id="39" name="TextBox 38">
              <a:extLst>
                <a:ext uri="{FF2B5EF4-FFF2-40B4-BE49-F238E27FC236}">
                  <a16:creationId xmlns:a16="http://schemas.microsoft.com/office/drawing/2014/main" id="{05675CF5-5E9C-2714-D1E7-560DB705C422}"/>
                </a:ext>
              </a:extLst>
            </p:cNvPr>
            <p:cNvSpPr txBox="1"/>
            <p:nvPr/>
          </p:nvSpPr>
          <p:spPr>
            <a:xfrm rot="20447985">
              <a:off x="3238816" y="4122967"/>
              <a:ext cx="1468607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200" b="1" dirty="0"/>
                <a:t>4 mutations away</a:t>
              </a:r>
            </a:p>
          </p:txBody>
        </p:sp>
        <p:sp>
          <p:nvSpPr>
            <p:cNvPr id="40" name="TextBox 39">
              <a:extLst>
                <a:ext uri="{FF2B5EF4-FFF2-40B4-BE49-F238E27FC236}">
                  <a16:creationId xmlns:a16="http://schemas.microsoft.com/office/drawing/2014/main" id="{6645ADF2-0C39-2A74-DCC1-697D177D1A83}"/>
                </a:ext>
              </a:extLst>
            </p:cNvPr>
            <p:cNvSpPr txBox="1"/>
            <p:nvPr/>
          </p:nvSpPr>
          <p:spPr>
            <a:xfrm rot="20758846">
              <a:off x="4599496" y="3343863"/>
              <a:ext cx="1605031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200" b="1" dirty="0"/>
                <a:t>3 mutations away</a:t>
              </a:r>
            </a:p>
          </p:txBody>
        </p:sp>
        <p:sp>
          <p:nvSpPr>
            <p:cNvPr id="41" name="TextBox 40">
              <a:extLst>
                <a:ext uri="{FF2B5EF4-FFF2-40B4-BE49-F238E27FC236}">
                  <a16:creationId xmlns:a16="http://schemas.microsoft.com/office/drawing/2014/main" id="{46CB9B47-FA29-979B-AAF6-6E510B664B12}"/>
                </a:ext>
              </a:extLst>
            </p:cNvPr>
            <p:cNvSpPr txBox="1"/>
            <p:nvPr/>
          </p:nvSpPr>
          <p:spPr>
            <a:xfrm rot="21084129">
              <a:off x="6218580" y="2657887"/>
              <a:ext cx="1520982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200" b="1" dirty="0"/>
                <a:t>2 mutations away</a:t>
              </a:r>
            </a:p>
          </p:txBody>
        </p:sp>
        <p:sp>
          <p:nvSpPr>
            <p:cNvPr id="42" name="TextBox 41">
              <a:extLst>
                <a:ext uri="{FF2B5EF4-FFF2-40B4-BE49-F238E27FC236}">
                  <a16:creationId xmlns:a16="http://schemas.microsoft.com/office/drawing/2014/main" id="{78155DEF-F05B-3892-AC12-378CE09D586C}"/>
                </a:ext>
              </a:extLst>
            </p:cNvPr>
            <p:cNvSpPr txBox="1"/>
            <p:nvPr/>
          </p:nvSpPr>
          <p:spPr>
            <a:xfrm rot="21395310">
              <a:off x="7907778" y="2116118"/>
              <a:ext cx="1636800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200" b="1" dirty="0"/>
                <a:t>1 mutations away</a:t>
              </a:r>
            </a:p>
          </p:txBody>
        </p:sp>
        <p:sp>
          <p:nvSpPr>
            <p:cNvPr id="43" name="TextBox 42">
              <a:extLst>
                <a:ext uri="{FF2B5EF4-FFF2-40B4-BE49-F238E27FC236}">
                  <a16:creationId xmlns:a16="http://schemas.microsoft.com/office/drawing/2014/main" id="{4BC3F99F-1E99-BBA3-7213-6C0248BD4427}"/>
                </a:ext>
              </a:extLst>
            </p:cNvPr>
            <p:cNvSpPr txBox="1"/>
            <p:nvPr/>
          </p:nvSpPr>
          <p:spPr>
            <a:xfrm rot="16200000">
              <a:off x="-1385047" y="3390439"/>
              <a:ext cx="3982260" cy="646331"/>
            </a:xfrm>
            <a:prstGeom prst="rect">
              <a:avLst/>
            </a:prstGeom>
            <a:solidFill>
              <a:schemeClr val="bg1"/>
            </a:solidFill>
          </p:spPr>
          <p:txBody>
            <a:bodyPr wrap="square" rtlCol="0">
              <a:spAutoFit/>
            </a:bodyPr>
            <a:lstStyle/>
            <a:p>
              <a:pPr algn="ctr"/>
              <a:r>
                <a:rPr lang="en-US" b="1" dirty="0"/>
                <a:t>Probability of becoming supercritical before extinction</a:t>
              </a:r>
            </a:p>
          </p:txBody>
        </p:sp>
        <p:sp>
          <p:nvSpPr>
            <p:cNvPr id="2" name="TextBox 1">
              <a:extLst>
                <a:ext uri="{FF2B5EF4-FFF2-40B4-BE49-F238E27FC236}">
                  <a16:creationId xmlns:a16="http://schemas.microsoft.com/office/drawing/2014/main" id="{DBB45029-7F84-730B-F23C-B9BCC236FBBC}"/>
                </a:ext>
              </a:extLst>
            </p:cNvPr>
            <p:cNvSpPr txBox="1"/>
            <p:nvPr/>
          </p:nvSpPr>
          <p:spPr>
            <a:xfrm>
              <a:off x="3445679" y="6143353"/>
              <a:ext cx="3982260" cy="369332"/>
            </a:xfrm>
            <a:prstGeom prst="rect">
              <a:avLst/>
            </a:prstGeom>
            <a:solidFill>
              <a:schemeClr val="bg1"/>
            </a:solidFill>
          </p:spPr>
          <p:txBody>
            <a:bodyPr wrap="square" rtlCol="0">
              <a:spAutoFit/>
            </a:bodyPr>
            <a:lstStyle/>
            <a:p>
              <a:pPr algn="ctr"/>
              <a:r>
                <a:rPr lang="en-US" b="1" dirty="0"/>
                <a:t>R</a:t>
              </a:r>
              <a:r>
                <a:rPr lang="en-US" b="1" baseline="-25000" dirty="0"/>
                <a:t>0 </a:t>
              </a:r>
              <a:r>
                <a:rPr lang="en-US" b="1" dirty="0"/>
                <a:t>of introduced pathogen</a:t>
              </a:r>
            </a:p>
          </p:txBody>
        </p:sp>
        <p:sp>
          <p:nvSpPr>
            <p:cNvPr id="3" name="TextBox 2">
              <a:extLst>
                <a:ext uri="{FF2B5EF4-FFF2-40B4-BE49-F238E27FC236}">
                  <a16:creationId xmlns:a16="http://schemas.microsoft.com/office/drawing/2014/main" id="{1AD6392A-27B5-2C94-12B5-1A3AF20D6F73}"/>
                </a:ext>
              </a:extLst>
            </p:cNvPr>
            <p:cNvSpPr txBox="1"/>
            <p:nvPr/>
          </p:nvSpPr>
          <p:spPr>
            <a:xfrm>
              <a:off x="9953824" y="2643987"/>
              <a:ext cx="1857389" cy="646331"/>
            </a:xfrm>
            <a:prstGeom prst="rect">
              <a:avLst/>
            </a:prstGeom>
            <a:solidFill>
              <a:schemeClr val="bg1"/>
            </a:solidFill>
          </p:spPr>
          <p:txBody>
            <a:bodyPr wrap="square" rtlCol="0">
              <a:spAutoFit/>
            </a:bodyPr>
            <a:lstStyle/>
            <a:p>
              <a:r>
                <a:rPr lang="en-US" sz="1200" b="1" dirty="0"/>
                <a:t>Number of mutations required, additive model (Antia et al 2003)</a:t>
              </a:r>
            </a:p>
          </p:txBody>
        </p:sp>
        <p:cxnSp>
          <p:nvCxnSpPr>
            <p:cNvPr id="12" name="Straight Arrow Connector 11">
              <a:extLst>
                <a:ext uri="{FF2B5EF4-FFF2-40B4-BE49-F238E27FC236}">
                  <a16:creationId xmlns:a16="http://schemas.microsoft.com/office/drawing/2014/main" id="{21207878-4C3A-208C-C634-B0C8F80D925D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893298" y="1105786"/>
              <a:ext cx="318276" cy="1"/>
            </a:xfrm>
            <a:prstGeom prst="straightConnector1">
              <a:avLst/>
            </a:prstGeom>
            <a:ln w="28575">
              <a:solidFill>
                <a:srgbClr val="000000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" name="Straight Arrow Connector 12">
              <a:extLst>
                <a:ext uri="{FF2B5EF4-FFF2-40B4-BE49-F238E27FC236}">
                  <a16:creationId xmlns:a16="http://schemas.microsoft.com/office/drawing/2014/main" id="{4DE7494E-0F22-A5E1-ED14-5423878013EC}"/>
                </a:ext>
              </a:extLst>
            </p:cNvPr>
            <p:cNvCxnSpPr>
              <a:cxnSpLocks/>
            </p:cNvCxnSpPr>
            <p:nvPr/>
          </p:nvCxnSpPr>
          <p:spPr>
            <a:xfrm>
              <a:off x="3087689" y="1105786"/>
              <a:ext cx="432421" cy="0"/>
            </a:xfrm>
            <a:prstGeom prst="straightConnector1">
              <a:avLst/>
            </a:prstGeom>
            <a:ln w="28575">
              <a:solidFill>
                <a:srgbClr val="000000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" name="Straight Arrow Connector 15">
              <a:extLst>
                <a:ext uri="{FF2B5EF4-FFF2-40B4-BE49-F238E27FC236}">
                  <a16:creationId xmlns:a16="http://schemas.microsoft.com/office/drawing/2014/main" id="{AF19151D-52B9-2FFF-6D40-37D0407E6910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4377772" y="1105786"/>
              <a:ext cx="517687" cy="1"/>
            </a:xfrm>
            <a:prstGeom prst="straightConnector1">
              <a:avLst/>
            </a:prstGeom>
            <a:ln w="28575">
              <a:solidFill>
                <a:srgbClr val="000000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8" name="Straight Arrow Connector 27">
              <a:extLst>
                <a:ext uri="{FF2B5EF4-FFF2-40B4-BE49-F238E27FC236}">
                  <a16:creationId xmlns:a16="http://schemas.microsoft.com/office/drawing/2014/main" id="{EA4717A4-B255-E956-0C71-4DDD61DE7749}"/>
                </a:ext>
              </a:extLst>
            </p:cNvPr>
            <p:cNvCxnSpPr>
              <a:cxnSpLocks/>
            </p:cNvCxnSpPr>
            <p:nvPr/>
          </p:nvCxnSpPr>
          <p:spPr>
            <a:xfrm>
              <a:off x="5879805" y="1105786"/>
              <a:ext cx="552893" cy="0"/>
            </a:xfrm>
            <a:prstGeom prst="straightConnector1">
              <a:avLst/>
            </a:prstGeom>
            <a:ln w="28575">
              <a:solidFill>
                <a:srgbClr val="000000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9" name="Straight Arrow Connector 28">
              <a:extLst>
                <a:ext uri="{FF2B5EF4-FFF2-40B4-BE49-F238E27FC236}">
                  <a16:creationId xmlns:a16="http://schemas.microsoft.com/office/drawing/2014/main" id="{4A6DAA65-499F-3B11-962C-FBCF3B534A49}"/>
                </a:ext>
              </a:extLst>
            </p:cNvPr>
            <p:cNvCxnSpPr>
              <a:cxnSpLocks/>
            </p:cNvCxnSpPr>
            <p:nvPr/>
          </p:nvCxnSpPr>
          <p:spPr>
            <a:xfrm>
              <a:off x="7427939" y="1127051"/>
              <a:ext cx="716601" cy="0"/>
            </a:xfrm>
            <a:prstGeom prst="straightConnector1">
              <a:avLst/>
            </a:prstGeom>
            <a:ln w="28575">
              <a:solidFill>
                <a:srgbClr val="000000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7" name="Straight Arrow Connector 46">
              <a:extLst>
                <a:ext uri="{FF2B5EF4-FFF2-40B4-BE49-F238E27FC236}">
                  <a16:creationId xmlns:a16="http://schemas.microsoft.com/office/drawing/2014/main" id="{884F3F8B-981E-E7A4-7601-F4E5C91BE7C5}"/>
                </a:ext>
              </a:extLst>
            </p:cNvPr>
            <p:cNvCxnSpPr>
              <a:cxnSpLocks/>
            </p:cNvCxnSpPr>
            <p:nvPr/>
          </p:nvCxnSpPr>
          <p:spPr>
            <a:xfrm>
              <a:off x="9143999" y="1127051"/>
              <a:ext cx="823912" cy="0"/>
            </a:xfrm>
            <a:prstGeom prst="straightConnector1">
              <a:avLst/>
            </a:prstGeom>
            <a:ln w="28575">
              <a:solidFill>
                <a:srgbClr val="000000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853901674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TextBox 20">
            <a:extLst>
              <a:ext uri="{FF2B5EF4-FFF2-40B4-BE49-F238E27FC236}">
                <a16:creationId xmlns:a16="http://schemas.microsoft.com/office/drawing/2014/main" id="{70421E8D-0AC2-FCA8-C8C7-4E2A5F1252D3}"/>
              </a:ext>
            </a:extLst>
          </p:cNvPr>
          <p:cNvSpPr txBox="1"/>
          <p:nvPr/>
        </p:nvSpPr>
        <p:spPr>
          <a:xfrm>
            <a:off x="1030570" y="637241"/>
            <a:ext cx="9854666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400" dirty="0"/>
              <a:t>0.05                    	               0.1           </a:t>
            </a:r>
          </a:p>
        </p:txBody>
      </p:sp>
      <p:grpSp>
        <p:nvGrpSpPr>
          <p:cNvPr id="8" name="Group 7">
            <a:extLst>
              <a:ext uri="{FF2B5EF4-FFF2-40B4-BE49-F238E27FC236}">
                <a16:creationId xmlns:a16="http://schemas.microsoft.com/office/drawing/2014/main" id="{19A06D81-CCBF-3F0C-BFE1-ED31DE30B276}"/>
              </a:ext>
            </a:extLst>
          </p:cNvPr>
          <p:cNvGrpSpPr/>
          <p:nvPr/>
        </p:nvGrpSpPr>
        <p:grpSpPr>
          <a:xfrm>
            <a:off x="1252715" y="150780"/>
            <a:ext cx="8550241" cy="6207473"/>
            <a:chOff x="1252715" y="150780"/>
            <a:chExt cx="8550241" cy="6207473"/>
          </a:xfrm>
        </p:grpSpPr>
        <p:grpSp>
          <p:nvGrpSpPr>
            <p:cNvPr id="2" name="Group 1">
              <a:extLst>
                <a:ext uri="{FF2B5EF4-FFF2-40B4-BE49-F238E27FC236}">
                  <a16:creationId xmlns:a16="http://schemas.microsoft.com/office/drawing/2014/main" id="{7F23D4DA-08D8-9B06-786C-DCB1F505C299}"/>
                </a:ext>
              </a:extLst>
            </p:cNvPr>
            <p:cNvGrpSpPr/>
            <p:nvPr/>
          </p:nvGrpSpPr>
          <p:grpSpPr>
            <a:xfrm>
              <a:off x="1252715" y="150780"/>
              <a:ext cx="7751704" cy="6207473"/>
              <a:chOff x="1252715" y="150780"/>
              <a:chExt cx="7751704" cy="6207473"/>
            </a:xfrm>
          </p:grpSpPr>
          <p:sp>
            <p:nvSpPr>
              <p:cNvPr id="22" name="TextBox 21">
                <a:extLst>
                  <a:ext uri="{FF2B5EF4-FFF2-40B4-BE49-F238E27FC236}">
                    <a16:creationId xmlns:a16="http://schemas.microsoft.com/office/drawing/2014/main" id="{E61AD6CB-353C-4944-5D47-BD2DFC852E77}"/>
                  </a:ext>
                </a:extLst>
              </p:cNvPr>
              <p:cNvSpPr txBox="1"/>
              <p:nvPr/>
            </p:nvSpPr>
            <p:spPr>
              <a:xfrm>
                <a:off x="4086905" y="5896588"/>
                <a:ext cx="3613938" cy="461665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rtlCol="0">
                <a:spAutoFit/>
              </a:bodyPr>
              <a:lstStyle/>
              <a:p>
                <a:pPr algn="ctr"/>
                <a:r>
                  <a:rPr lang="en-US" sz="2400" dirty="0"/>
                  <a:t>R</a:t>
                </a:r>
                <a:r>
                  <a:rPr lang="en-US" sz="2400" baseline="-25000" dirty="0"/>
                  <a:t>0</a:t>
                </a:r>
                <a:r>
                  <a:rPr lang="en-US" sz="2400" i="1" baseline="-25000" dirty="0"/>
                  <a:t> </a:t>
                </a:r>
                <a:r>
                  <a:rPr lang="en-US" sz="2400" dirty="0"/>
                  <a:t>of introduced pathogen</a:t>
                </a:r>
              </a:p>
            </p:txBody>
          </p:sp>
          <p:cxnSp>
            <p:nvCxnSpPr>
              <p:cNvPr id="4" name="Straight Arrow Connector 3">
                <a:extLst>
                  <a:ext uri="{FF2B5EF4-FFF2-40B4-BE49-F238E27FC236}">
                    <a16:creationId xmlns:a16="http://schemas.microsoft.com/office/drawing/2014/main" id="{58025F53-6181-6A0A-6055-2D3B808C612E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822048" y="762675"/>
                <a:ext cx="0" cy="5031639"/>
              </a:xfrm>
              <a:prstGeom prst="straightConnector1">
                <a:avLst/>
              </a:prstGeom>
              <a:ln w="50800">
                <a:solidFill>
                  <a:srgbClr val="000000"/>
                </a:solidFill>
                <a:headEnd type="none" w="med" len="med"/>
                <a:tailEnd type="triangle" w="med" len="med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652580C6-C65B-40C5-9280-7B4BA900E845}"/>
                  </a:ext>
                </a:extLst>
              </p:cNvPr>
              <p:cNvSpPr txBox="1"/>
              <p:nvPr/>
            </p:nvSpPr>
            <p:spPr>
              <a:xfrm rot="16200000">
                <a:off x="-1240225" y="2928473"/>
                <a:ext cx="5447546" cy="4616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sz="2400" dirty="0"/>
                  <a:t>Beneficial mutation rate (infection</a:t>
                </a:r>
                <a:r>
                  <a:rPr lang="en-US" sz="2400" baseline="30000" dirty="0"/>
                  <a:t>-1</a:t>
                </a:r>
                <a:r>
                  <a:rPr lang="en-US" sz="2400" dirty="0"/>
                  <a:t>), 𝝁</a:t>
                </a:r>
              </a:p>
            </p:txBody>
          </p:sp>
          <p:cxnSp>
            <p:nvCxnSpPr>
              <p:cNvPr id="6" name="Straight Arrow Connector 5">
                <a:extLst>
                  <a:ext uri="{FF2B5EF4-FFF2-40B4-BE49-F238E27FC236}">
                    <a16:creationId xmlns:a16="http://schemas.microsoft.com/office/drawing/2014/main" id="{BDB677B0-7284-CE5B-D658-D3E7E1C79144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1994080" y="621489"/>
                <a:ext cx="6913218" cy="16303"/>
              </a:xfrm>
              <a:prstGeom prst="straightConnector1">
                <a:avLst/>
              </a:prstGeom>
              <a:ln w="50800">
                <a:solidFill>
                  <a:srgbClr val="000000"/>
                </a:solidFill>
                <a:headEnd type="none" w="med" len="med"/>
                <a:tailEnd type="triangle" w="med" len="med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04F920D0-DAAC-EBA7-CD11-B1CB322C6069}"/>
                  </a:ext>
                </a:extLst>
              </p:cNvPr>
              <p:cNvSpPr txBox="1"/>
              <p:nvPr/>
            </p:nvSpPr>
            <p:spPr>
              <a:xfrm>
                <a:off x="2683997" y="150780"/>
                <a:ext cx="6098582" cy="46166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:r>
                  <a:rPr lang="en-US" sz="2400" dirty="0"/>
                  <a:t>Increase in fitness with mutation, 𝛔 </a:t>
                </a:r>
              </a:p>
            </p:txBody>
          </p:sp>
          <p:pic>
            <p:nvPicPr>
              <p:cNvPr id="13" name="Picture 12">
                <a:extLst>
                  <a:ext uri="{FF2B5EF4-FFF2-40B4-BE49-F238E27FC236}">
                    <a16:creationId xmlns:a16="http://schemas.microsoft.com/office/drawing/2014/main" id="{FA81F183-62F9-E787-C61C-B2651EF3F934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3"/>
              <a:srcRect t="2047"/>
              <a:stretch>
                <a:fillRect/>
              </a:stretch>
            </p:blipFill>
            <p:spPr>
              <a:xfrm>
                <a:off x="5769864" y="1037590"/>
                <a:ext cx="3200400" cy="2624835"/>
              </a:xfrm>
              <a:prstGeom prst="rect">
                <a:avLst/>
              </a:prstGeom>
            </p:spPr>
          </p:pic>
          <p:pic>
            <p:nvPicPr>
              <p:cNvPr id="15" name="Picture 14">
                <a:extLst>
                  <a:ext uri="{FF2B5EF4-FFF2-40B4-BE49-F238E27FC236}">
                    <a16:creationId xmlns:a16="http://schemas.microsoft.com/office/drawing/2014/main" id="{31BCB963-5445-3B92-B130-00AC8D073694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4"/>
              <a:srcRect t="2047"/>
              <a:stretch>
                <a:fillRect/>
              </a:stretch>
            </p:blipFill>
            <p:spPr>
              <a:xfrm>
                <a:off x="5804019" y="3346703"/>
                <a:ext cx="3200400" cy="2624835"/>
              </a:xfrm>
              <a:prstGeom prst="rect">
                <a:avLst/>
              </a:prstGeom>
            </p:spPr>
          </p:pic>
          <p:pic>
            <p:nvPicPr>
              <p:cNvPr id="17" name="Picture 16">
                <a:extLst>
                  <a:ext uri="{FF2B5EF4-FFF2-40B4-BE49-F238E27FC236}">
                    <a16:creationId xmlns:a16="http://schemas.microsoft.com/office/drawing/2014/main" id="{73B31C3E-8894-DF77-F215-6D8C1B9E8530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5"/>
              <a:stretch>
                <a:fillRect/>
              </a:stretch>
            </p:blipFill>
            <p:spPr>
              <a:xfrm>
                <a:off x="2808789" y="3316634"/>
                <a:ext cx="3200400" cy="2679700"/>
              </a:xfrm>
              <a:prstGeom prst="rect">
                <a:avLst/>
              </a:prstGeom>
            </p:spPr>
          </p:pic>
          <p:sp>
            <p:nvSpPr>
              <p:cNvPr id="18" name="TextBox 17">
                <a:extLst>
                  <a:ext uri="{FF2B5EF4-FFF2-40B4-BE49-F238E27FC236}">
                    <a16:creationId xmlns:a16="http://schemas.microsoft.com/office/drawing/2014/main" id="{200A0337-15B9-F1C3-B024-09A550DADE9A}"/>
                  </a:ext>
                </a:extLst>
              </p:cNvPr>
              <p:cNvSpPr txBox="1"/>
              <p:nvPr/>
            </p:nvSpPr>
            <p:spPr>
              <a:xfrm rot="16200000">
                <a:off x="791758" y="3152447"/>
                <a:ext cx="3555460" cy="461665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rtlCol="0">
                <a:spAutoFit/>
              </a:bodyPr>
              <a:lstStyle/>
              <a:p>
                <a:pPr algn="ctr"/>
                <a:r>
                  <a:rPr lang="en-US" sz="2400" dirty="0"/>
                  <a:t>Log10 Spillover rate year</a:t>
                </a:r>
                <a:r>
                  <a:rPr lang="en-US" sz="2400" baseline="30000" dirty="0"/>
                  <a:t>-1</a:t>
                </a:r>
                <a:endParaRPr lang="en-US" sz="2400" dirty="0"/>
              </a:p>
            </p:txBody>
          </p:sp>
          <p:pic>
            <p:nvPicPr>
              <p:cNvPr id="11" name="Picture 10">
                <a:extLst>
                  <a:ext uri="{FF2B5EF4-FFF2-40B4-BE49-F238E27FC236}">
                    <a16:creationId xmlns:a16="http://schemas.microsoft.com/office/drawing/2014/main" id="{48383853-578F-0541-8122-9CC2136F8282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6"/>
              <a:srcRect b="11634"/>
              <a:stretch>
                <a:fillRect/>
              </a:stretch>
            </p:blipFill>
            <p:spPr>
              <a:xfrm>
                <a:off x="2791177" y="982726"/>
                <a:ext cx="3200400" cy="2367948"/>
              </a:xfrm>
              <a:prstGeom prst="rect">
                <a:avLst/>
              </a:prstGeom>
            </p:spPr>
          </p:pic>
          <p:sp>
            <p:nvSpPr>
              <p:cNvPr id="19" name="TextBox 18">
                <a:extLst>
                  <a:ext uri="{FF2B5EF4-FFF2-40B4-BE49-F238E27FC236}">
                    <a16:creationId xmlns:a16="http://schemas.microsoft.com/office/drawing/2014/main" id="{D49AD00F-3790-E226-B296-76CB489DBD7D}"/>
                  </a:ext>
                </a:extLst>
              </p:cNvPr>
              <p:cNvSpPr txBox="1"/>
              <p:nvPr/>
            </p:nvSpPr>
            <p:spPr>
              <a:xfrm>
                <a:off x="1803725" y="2072473"/>
                <a:ext cx="694421" cy="46166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2400" dirty="0"/>
                  <a:t>10</a:t>
                </a:r>
                <a:r>
                  <a:rPr lang="en-US" sz="2400" baseline="30000" dirty="0"/>
                  <a:t>-4</a:t>
                </a:r>
                <a:endParaRPr lang="en-US" sz="2400" dirty="0"/>
              </a:p>
            </p:txBody>
          </p:sp>
          <p:sp>
            <p:nvSpPr>
              <p:cNvPr id="20" name="TextBox 19">
                <a:extLst>
                  <a:ext uri="{FF2B5EF4-FFF2-40B4-BE49-F238E27FC236}">
                    <a16:creationId xmlns:a16="http://schemas.microsoft.com/office/drawing/2014/main" id="{8C0EA5A7-B5BF-D117-FCB3-F4EFEB8613D8}"/>
                  </a:ext>
                </a:extLst>
              </p:cNvPr>
              <p:cNvSpPr txBox="1"/>
              <p:nvPr/>
            </p:nvSpPr>
            <p:spPr>
              <a:xfrm>
                <a:off x="1803725" y="4230126"/>
                <a:ext cx="694421" cy="46166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2400" dirty="0"/>
                  <a:t>10</a:t>
                </a:r>
                <a:r>
                  <a:rPr lang="en-US" sz="2400" baseline="30000" dirty="0"/>
                  <a:t>-3</a:t>
                </a:r>
                <a:endParaRPr lang="en-US" sz="2400" dirty="0"/>
              </a:p>
            </p:txBody>
          </p:sp>
        </p:grpSp>
        <p:pic>
          <p:nvPicPr>
            <p:cNvPr id="3" name="Picture 2">
              <a:extLst>
                <a:ext uri="{FF2B5EF4-FFF2-40B4-BE49-F238E27FC236}">
                  <a16:creationId xmlns:a16="http://schemas.microsoft.com/office/drawing/2014/main" id="{A1DA62D8-ED2D-5F01-CE7D-15CD91B5CD04}"/>
                </a:ext>
              </a:extLst>
            </p:cNvPr>
            <p:cNvPicPr>
              <a:picLocks noChangeAspect="1"/>
            </p:cNvPicPr>
            <p:nvPr/>
          </p:nvPicPr>
          <p:blipFill>
            <a:blip r:embed="rId7"/>
            <a:stretch>
              <a:fillRect/>
            </a:stretch>
          </p:blipFill>
          <p:spPr>
            <a:xfrm>
              <a:off x="8857118" y="3060973"/>
              <a:ext cx="945838" cy="1185827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2476638573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1">
            <a:extLst>
              <a:ext uri="{FF2B5EF4-FFF2-40B4-BE49-F238E27FC236}">
                <a16:creationId xmlns:a16="http://schemas.microsoft.com/office/drawing/2014/main" id="{8E77DC06-07FB-963E-6112-A2B9DC226B80}"/>
              </a:ext>
            </a:extLst>
          </p:cNvPr>
          <p:cNvGrpSpPr/>
          <p:nvPr/>
        </p:nvGrpSpPr>
        <p:grpSpPr>
          <a:xfrm>
            <a:off x="2711302" y="1918741"/>
            <a:ext cx="6370124" cy="3963113"/>
            <a:chOff x="0" y="1918741"/>
            <a:chExt cx="6370124" cy="3963113"/>
          </a:xfrm>
        </p:grpSpPr>
        <p:pic>
          <p:nvPicPr>
            <p:cNvPr id="5" name="Picture 4">
              <a:extLst>
                <a:ext uri="{FF2B5EF4-FFF2-40B4-BE49-F238E27FC236}">
                  <a16:creationId xmlns:a16="http://schemas.microsoft.com/office/drawing/2014/main" id="{341EA408-8090-9129-0FE7-6DC52923A953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rcRect l="410" t="4159" r="15806"/>
            <a:stretch>
              <a:fillRect/>
            </a:stretch>
          </p:blipFill>
          <p:spPr>
            <a:xfrm>
              <a:off x="0" y="1918741"/>
              <a:ext cx="5459263" cy="3963113"/>
            </a:xfrm>
            <a:prstGeom prst="rect">
              <a:avLst/>
            </a:prstGeom>
          </p:spPr>
        </p:pic>
        <p:pic>
          <p:nvPicPr>
            <p:cNvPr id="19" name="Picture 18">
              <a:extLst>
                <a:ext uri="{FF2B5EF4-FFF2-40B4-BE49-F238E27FC236}">
                  <a16:creationId xmlns:a16="http://schemas.microsoft.com/office/drawing/2014/main" id="{EB861EEC-218C-96ED-43BC-418A07CBBC3F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5424286" y="4260013"/>
              <a:ext cx="945838" cy="1185827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715218794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18528</TotalTime>
  <Words>179</Words>
  <Application>Microsoft Macintosh PowerPoint</Application>
  <PresentationFormat>Widescreen</PresentationFormat>
  <Paragraphs>66</Paragraphs>
  <Slides>12</Slides>
  <Notes>7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6" baseType="lpstr">
      <vt:lpstr>Aptos</vt:lpstr>
      <vt:lpstr>Aptos Display</vt:lpstr>
      <vt:lpstr>Arial</vt:lpstr>
      <vt:lpstr>Office Theme</vt:lpstr>
      <vt:lpstr>Manuscript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Supplement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Hirst, Cora</dc:creator>
  <cp:lastModifiedBy>Hirst, Cora</cp:lastModifiedBy>
  <cp:revision>220</cp:revision>
  <dcterms:created xsi:type="dcterms:W3CDTF">2025-10-21T13:38:03Z</dcterms:created>
  <dcterms:modified xsi:type="dcterms:W3CDTF">2026-09-12T14:40:43Z</dcterms:modified>
</cp:coreProperties>
</file>