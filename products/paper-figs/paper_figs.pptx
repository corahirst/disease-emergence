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412" r:id="rId2"/>
    <p:sldId id="417" r:id="rId3"/>
    <p:sldId id="415" r:id="rId4"/>
    <p:sldId id="418" r:id="rId5"/>
    <p:sldId id="419" r:id="rId6"/>
    <p:sldId id="421" r:id="rId7"/>
    <p:sldId id="429" r:id="rId8"/>
    <p:sldId id="423" r:id="rId9"/>
    <p:sldId id="424" r:id="rId10"/>
    <p:sldId id="427" r:id="rId11"/>
    <p:sldId id="425" r:id="rId12"/>
    <p:sldId id="4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30806"/>
    <a:srgbClr val="FD0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9"/>
    <p:restoredTop sz="94726"/>
  </p:normalViewPr>
  <p:slideViewPr>
    <p:cSldViewPr snapToGrid="0">
      <p:cViewPr varScale="1">
        <p:scale>
          <a:sx n="120" d="100"/>
          <a:sy n="120" d="100"/>
        </p:scale>
        <p:origin x="1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CADE5-B242-284B-8F01-80AC947059F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9CDE4-B4AB-7549-9EE9-A974916FD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80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9CDE4-B4AB-7549-9EE9-A974916FD4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11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9CDE4-B4AB-7549-9EE9-A974916FD4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94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9CDE4-B4AB-7549-9EE9-A974916FD4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5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9CDE4-B4AB-7549-9EE9-A974916FD44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55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9CDE4-B4AB-7549-9EE9-A974916FD44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63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777A-9CFD-B836-D2E2-A96A68DC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5C691-9220-3A1B-9559-EED4292C8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0E500-26D4-255B-9C38-F7C650D8F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F1632-82E7-8CE4-A18B-FA13D39AC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9CDE4-B4AB-7549-9EE9-A974916FD44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83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9CDE4-B4AB-7549-9EE9-A974916FD44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18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D7C6-88CC-BFF5-4C03-B40A8ED1F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8B42B-7917-0E89-090B-E9FA02092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3380-38CF-BC96-8E0E-71E00A41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50776-167E-8F9C-9CD8-EEA0856C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1E455-9C79-A599-0114-FB1DE1335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0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02BD-BF88-797E-20ED-550E3223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F567-301C-36D7-C8B4-2631A83A5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786A9-7808-A913-07FB-43274529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F2AAA-C3BB-3204-6E84-799ABBC6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393A3-1E69-F62F-7B1C-EDB2B3D6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3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49BF-5E6A-C9F7-95C1-27CCC266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6A07A-B59D-5126-A354-FD622DC99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4FA70-379A-C6A8-2532-FC9291E4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FB9D-E54C-15B0-4A03-4E7E5445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961C-FE5C-F284-F926-5787D47E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34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E2CB-09AB-3985-45B1-03F56D78A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F742A-F7BF-0F0E-EB94-C9CF15F0C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EAA22-3D19-F976-4A55-52D3828D1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03894-E80B-0CED-82F2-60615E2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3161B-4454-76A8-DAFD-83201C216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07763-07A5-F62F-B3F6-A3196885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37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C15A-43D7-0335-3903-7A299465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DE1F8-3830-6DB0-CF0C-72A018BD8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0ADD8-3714-2C78-4AF9-F0E439079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3009D-030B-9929-BD26-F075F7901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0F4AF-C5EF-AB02-E310-1BEE72144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25B477-9C19-070B-AF21-4018B1538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D99333-02D1-5C8A-9B7D-59B7B576D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71834-8AD2-7B7C-0210-14E417FA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0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1719-0E7A-5914-6487-F6BB5594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7AF9A-27F1-83A9-7C42-B371FF19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8AC50-8C81-6B95-9434-8CA39727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991FB-4151-2185-8E35-DD7BF24B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8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8E1DD-DC06-A859-CE2E-5B13E351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E51B7-3F99-3C20-1895-809895DB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A8AB8-A6A3-A50A-9768-2378BEB6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2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B771-CF1C-8F04-4A6C-FDA42F701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5E002-EB52-614C-608C-F10888C30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DDB4B-D327-48C9-5C9F-CC860A504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41353-5254-AC5B-C1B6-724372AB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38968-3994-CCF4-BDEB-CBD76B519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2C3F6-2D1B-8DFB-0E4B-0D3730DB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0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C242-EEB6-B026-ECEF-2A118F1B5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C47F9C-0C34-CEAD-CC1F-A416F80D4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A842-37F5-4C73-8AFB-C5DDD22DA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DD8CC-E229-24E8-1EAC-C9E08C9D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BD736-D24C-4843-2FA4-56810FC0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CBEC4-15A8-6F81-219E-D91AA26B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4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83E5-D6D8-0CC7-011D-03BFA352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F8E72-15B5-1EAE-A4DA-993871D89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7A40B-ECDF-08C0-4ABD-865A250F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EE222-FD56-7254-FEAB-6B71027E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583CC-998C-CA52-0ABA-53DC643F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6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B50F-97CF-6F42-8AE1-0A278C0D97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4D9DF-D115-7F16-E12C-832DD8CDE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8C706-696F-B784-A286-471E1470D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2B4E6-3381-649D-DABB-E7E1A27D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B8360-2E58-E301-C821-0C4445A4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6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F46775-75EC-3E19-A447-C896E227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FC488-96AC-A18B-1986-766C4BFBC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EF7B-0BD9-815A-83FB-633B26830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AEB3C-D287-6F42-BE4A-5B2D28C015D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AC3F-B9B5-A662-0099-F4E955536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F9C97-AC91-2476-E8B3-66968D326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1924E-C2E5-5547-8ACF-1B62CB380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75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1743C-B907-CD81-F5B0-F2399A3F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Manuscript</a:t>
            </a:r>
          </a:p>
        </p:txBody>
      </p:sp>
    </p:spTree>
    <p:extLst>
      <p:ext uri="{BB962C8B-B14F-4D97-AF65-F5344CB8AC3E}">
        <p14:creationId xmlns:p14="http://schemas.microsoft.com/office/powerpoint/2010/main" val="211405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19C66-2765-DF32-831A-6E4B5E9C1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E33C551-6372-C120-7C84-873972D09AE8}"/>
              </a:ext>
            </a:extLst>
          </p:cNvPr>
          <p:cNvGrpSpPr/>
          <p:nvPr/>
        </p:nvGrpSpPr>
        <p:grpSpPr>
          <a:xfrm>
            <a:off x="984897" y="1342148"/>
            <a:ext cx="9848509" cy="4943731"/>
            <a:chOff x="984897" y="1342148"/>
            <a:chExt cx="9848509" cy="4943731"/>
          </a:xfrm>
        </p:grpSpPr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412312B8-BF8F-EF9F-DD7B-E4459F21A588}"/>
                </a:ext>
              </a:extLst>
            </p:cNvPr>
            <p:cNvGrpSpPr/>
            <p:nvPr/>
          </p:nvGrpSpPr>
          <p:grpSpPr>
            <a:xfrm>
              <a:off x="984897" y="1342148"/>
              <a:ext cx="9848509" cy="4943731"/>
              <a:chOff x="1238086" y="1247004"/>
              <a:chExt cx="9848509" cy="4943731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80DA37F8-FF90-4395-DE3D-156E938E28F8}"/>
                  </a:ext>
                </a:extLst>
              </p:cNvPr>
              <p:cNvSpPr/>
              <p:nvPr/>
            </p:nvSpPr>
            <p:spPr>
              <a:xfrm rot="16200000">
                <a:off x="2385499" y="2946892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AF21EC8B-FAEC-6B4D-7FC7-86DDEC704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82580" y="5116987"/>
                <a:ext cx="1265813" cy="0"/>
              </a:xfrm>
              <a:prstGeom prst="line">
                <a:avLst/>
              </a:prstGeom>
              <a:ln w="762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8B5472C7-561A-D34B-30D5-948B82EC87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94264" y="3921860"/>
                <a:ext cx="426816" cy="23810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8081C301-7204-8AE6-41B0-4636B6C28A2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661955" y="3377088"/>
                <a:ext cx="275737" cy="4425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0B2B9965-37CF-AB0A-4B14-9ECA59557E85}"/>
                  </a:ext>
                </a:extLst>
              </p:cNvPr>
              <p:cNvSpPr/>
              <p:nvPr/>
            </p:nvSpPr>
            <p:spPr>
              <a:xfrm rot="16200000">
                <a:off x="9073295" y="4112199"/>
                <a:ext cx="205539" cy="1905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128EE917-F251-C565-A6A8-F2846F2E82FE}"/>
                  </a:ext>
                </a:extLst>
              </p:cNvPr>
              <p:cNvSpPr/>
              <p:nvPr/>
            </p:nvSpPr>
            <p:spPr>
              <a:xfrm rot="16200000">
                <a:off x="9069116" y="3305878"/>
                <a:ext cx="205539" cy="1905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22C242A6-E2C6-2B79-97EB-92E6E16CAC5F}"/>
                  </a:ext>
                </a:extLst>
              </p:cNvPr>
              <p:cNvSpPr txBox="1"/>
              <p:nvPr/>
            </p:nvSpPr>
            <p:spPr>
              <a:xfrm>
                <a:off x="8579503" y="2782614"/>
                <a:ext cx="12620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†</a:t>
                </a:r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54541D33-FA65-7DF0-9851-C6D9E329BDA8}"/>
                  </a:ext>
                </a:extLst>
              </p:cNvPr>
              <p:cNvSpPr/>
              <p:nvPr/>
            </p:nvSpPr>
            <p:spPr>
              <a:xfrm rot="16200000">
                <a:off x="9101476" y="1924136"/>
                <a:ext cx="205539" cy="1905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E31BF8F4-FEF3-5D89-D30F-D8692CFD15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7208" y="3831850"/>
                <a:ext cx="540885" cy="24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F079B7DC-0F27-613E-6008-AA7C569A1710}"/>
                  </a:ext>
                </a:extLst>
              </p:cNvPr>
              <p:cNvSpPr/>
              <p:nvPr/>
            </p:nvSpPr>
            <p:spPr>
              <a:xfrm rot="16200000">
                <a:off x="9233188" y="3751229"/>
                <a:ext cx="205539" cy="1905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0F6F4E0A-28CD-A8F3-372C-74BBC7597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2256" y="2425722"/>
                <a:ext cx="433654" cy="15356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FE4CE686-6D59-BE56-8555-F4BBF6C664F4}"/>
                  </a:ext>
                </a:extLst>
              </p:cNvPr>
              <p:cNvSpPr/>
              <p:nvPr/>
            </p:nvSpPr>
            <p:spPr>
              <a:xfrm rot="16200000">
                <a:off x="9096231" y="2488863"/>
                <a:ext cx="205539" cy="190500"/>
              </a:xfrm>
              <a:prstGeom prst="ellipse">
                <a:avLst/>
              </a:prstGeom>
              <a:solidFill>
                <a:srgbClr val="73080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4E352C02-B056-E013-561F-C8690B6DD3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1567" y="3831310"/>
                <a:ext cx="540885" cy="24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FB720FBA-5931-DEA8-5381-66B29AC50316}"/>
                  </a:ext>
                </a:extLst>
              </p:cNvPr>
              <p:cNvSpPr/>
              <p:nvPr/>
            </p:nvSpPr>
            <p:spPr>
              <a:xfrm rot="16200000">
                <a:off x="10167547" y="3750689"/>
                <a:ext cx="205539" cy="1905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189" name="Straight Arrow Connector 188">
                <a:extLst>
                  <a:ext uri="{FF2B5EF4-FFF2-40B4-BE49-F238E27FC236}">
                    <a16:creationId xmlns:a16="http://schemas.microsoft.com/office/drawing/2014/main" id="{0C78EE34-8F17-8345-83C8-BD169DAF02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48886" y="3948525"/>
                <a:ext cx="426816" cy="23810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E919B332-A110-5E08-622F-DD881D190C8F}"/>
                  </a:ext>
                </a:extLst>
              </p:cNvPr>
              <p:cNvSpPr/>
              <p:nvPr/>
            </p:nvSpPr>
            <p:spPr>
              <a:xfrm rot="16200000">
                <a:off x="10027917" y="4138864"/>
                <a:ext cx="205539" cy="1905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191" name="Straight Arrow Connector 190">
                <a:extLst>
                  <a:ext uri="{FF2B5EF4-FFF2-40B4-BE49-F238E27FC236}">
                    <a16:creationId xmlns:a16="http://schemas.microsoft.com/office/drawing/2014/main" id="{A72F8247-AA7A-FC77-5FD9-F7B2E0BA0A3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624373" y="3359886"/>
                <a:ext cx="275737" cy="4425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B1547A1E-7978-3D8C-A3F3-B3459E994CB9}"/>
                  </a:ext>
                </a:extLst>
              </p:cNvPr>
              <p:cNvSpPr/>
              <p:nvPr/>
            </p:nvSpPr>
            <p:spPr>
              <a:xfrm rot="16200000">
                <a:off x="10031534" y="3288676"/>
                <a:ext cx="205539" cy="1905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cxnSp>
            <p:nvCxnSpPr>
              <p:cNvPr id="200" name="Straight Arrow Connector 199">
                <a:extLst>
                  <a:ext uri="{FF2B5EF4-FFF2-40B4-BE49-F238E27FC236}">
                    <a16:creationId xmlns:a16="http://schemas.microsoft.com/office/drawing/2014/main" id="{98D0B782-F0B5-7B0A-28F4-30BDF2D95D0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424133" y="2924703"/>
                <a:ext cx="275737" cy="4425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46B52F88-7554-3B2D-3EDE-E6B4B33E472B}"/>
                  </a:ext>
                </a:extLst>
              </p:cNvPr>
              <p:cNvSpPr/>
              <p:nvPr/>
            </p:nvSpPr>
            <p:spPr>
              <a:xfrm rot="16200000">
                <a:off x="9831294" y="2853493"/>
                <a:ext cx="205539" cy="1905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A4E4FE73-7FD3-A0B7-94B9-767B8CE20D3F}"/>
                  </a:ext>
                </a:extLst>
              </p:cNvPr>
              <p:cNvSpPr txBox="1"/>
              <p:nvPr/>
            </p:nvSpPr>
            <p:spPr>
              <a:xfrm>
                <a:off x="9354743" y="2361251"/>
                <a:ext cx="12620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†</a:t>
                </a:r>
              </a:p>
            </p:txBody>
          </p: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66C4F381-B659-8DB0-4E02-5D39FEC601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92838" y="1765082"/>
                <a:ext cx="390420" cy="17954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Arrow Connector 207">
                <a:extLst>
                  <a:ext uri="{FF2B5EF4-FFF2-40B4-BE49-F238E27FC236}">
                    <a16:creationId xmlns:a16="http://schemas.microsoft.com/office/drawing/2014/main" id="{45C4B5BD-4CCD-DF84-B79E-F4C94D84E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2838" y="2059364"/>
                <a:ext cx="383025" cy="14546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D8620CA4-99F5-2A07-5CB6-33ED27A4EFE4}"/>
                  </a:ext>
                </a:extLst>
              </p:cNvPr>
              <p:cNvSpPr/>
              <p:nvPr/>
            </p:nvSpPr>
            <p:spPr>
              <a:xfrm rot="16200000">
                <a:off x="9831295" y="1609587"/>
                <a:ext cx="205539" cy="190500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94192630-5951-C501-5796-4180CD7E8248}"/>
                  </a:ext>
                </a:extLst>
              </p:cNvPr>
              <p:cNvSpPr/>
              <p:nvPr/>
            </p:nvSpPr>
            <p:spPr>
              <a:xfrm rot="16200000">
                <a:off x="9831295" y="2155636"/>
                <a:ext cx="205539" cy="1905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/>
              </a:p>
            </p:txBody>
          </p:sp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3824786C-7B4B-B20B-F166-91BF843B226F}"/>
                  </a:ext>
                </a:extLst>
              </p:cNvPr>
              <p:cNvGrpSpPr/>
              <p:nvPr/>
            </p:nvGrpSpPr>
            <p:grpSpPr>
              <a:xfrm>
                <a:off x="1238086" y="1247004"/>
                <a:ext cx="9848509" cy="4943731"/>
                <a:chOff x="1238086" y="1247004"/>
                <a:chExt cx="9848509" cy="4943731"/>
              </a:xfrm>
            </p:grpSpPr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92DB51E3-AF86-5014-E314-843FB7635913}"/>
                    </a:ext>
                  </a:extLst>
                </p:cNvPr>
                <p:cNvGrpSpPr/>
                <p:nvPr/>
              </p:nvGrpSpPr>
              <p:grpSpPr>
                <a:xfrm>
                  <a:off x="1842394" y="1885167"/>
                  <a:ext cx="7311566" cy="4305568"/>
                  <a:chOff x="2446934" y="2740383"/>
                  <a:chExt cx="7311566" cy="4305568"/>
                </a:xfrm>
              </p:grpSpPr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1BEB2413-E5A3-ADEB-7C76-5B3FFD8FD9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84703" y="2740383"/>
                    <a:ext cx="0" cy="304691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Arrow Connector 107">
                    <a:extLst>
                      <a:ext uri="{FF2B5EF4-FFF2-40B4-BE49-F238E27FC236}">
                        <a16:creationId xmlns:a16="http://schemas.microsoft.com/office/drawing/2014/main" id="{4FD5A900-1F06-0BAA-7872-4A28A567A4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848326" y="3735980"/>
                    <a:ext cx="670250" cy="402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" name="Oval 108">
                    <a:extLst>
                      <a:ext uri="{FF2B5EF4-FFF2-40B4-BE49-F238E27FC236}">
                        <a16:creationId xmlns:a16="http://schemas.microsoft.com/office/drawing/2014/main" id="{223E2103-6217-62ED-3364-85092142AF8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358925" y="3418532"/>
                    <a:ext cx="205539" cy="190500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 dirty="0"/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85320A9E-E29B-B68E-51D0-73364924667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629399" y="3623731"/>
                    <a:ext cx="205539" cy="190500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cxnSp>
                <p:nvCxnSpPr>
                  <p:cNvPr id="111" name="Straight Arrow Connector 110">
                    <a:extLst>
                      <a:ext uri="{FF2B5EF4-FFF2-40B4-BE49-F238E27FC236}">
                        <a16:creationId xmlns:a16="http://schemas.microsoft.com/office/drawing/2014/main" id="{0B1B256C-CAD6-0F24-64B6-BA943B4EDA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5191665" y="3457246"/>
                    <a:ext cx="4621" cy="49642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5FD516F3-A5C5-60EF-AA33-F8FB405193E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560333" y="3609355"/>
                    <a:ext cx="205539" cy="19050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cxnSp>
                <p:nvCxnSpPr>
                  <p:cNvPr id="113" name="Straight Arrow Connector 112">
                    <a:extLst>
                      <a:ext uri="{FF2B5EF4-FFF2-40B4-BE49-F238E27FC236}">
                        <a16:creationId xmlns:a16="http://schemas.microsoft.com/office/drawing/2014/main" id="{7E5B420F-A5D2-7D13-8D83-63205E5F6C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974460" y="3757373"/>
                    <a:ext cx="275737" cy="4425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Arrow Connector 113">
                    <a:extLst>
                      <a:ext uri="{FF2B5EF4-FFF2-40B4-BE49-F238E27FC236}">
                        <a16:creationId xmlns:a16="http://schemas.microsoft.com/office/drawing/2014/main" id="{D644DFCB-920C-7545-6A11-741C280B16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5974459" y="3211034"/>
                    <a:ext cx="275737" cy="4425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9B006CFA-25B6-B47F-FA50-EB7EE4F3758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01409" y="4119749"/>
                    <a:ext cx="205539" cy="19050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sp>
                <p:nvSpPr>
                  <p:cNvPr id="116" name="Oval 115">
                    <a:extLst>
                      <a:ext uri="{FF2B5EF4-FFF2-40B4-BE49-F238E27FC236}">
                        <a16:creationId xmlns:a16="http://schemas.microsoft.com/office/drawing/2014/main" id="{6EE4D942-3DE6-0771-87AF-AF85A80719A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401408" y="3127712"/>
                    <a:ext cx="205539" cy="19050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cxnSp>
                <p:nvCxnSpPr>
                  <p:cNvPr id="117" name="Straight Arrow Connector 116">
                    <a:extLst>
                      <a:ext uri="{FF2B5EF4-FFF2-40B4-BE49-F238E27FC236}">
                        <a16:creationId xmlns:a16="http://schemas.microsoft.com/office/drawing/2014/main" id="{4DB2ABDD-7993-6E44-EC52-5B14D20A8F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6949297" y="3967641"/>
                    <a:ext cx="4621" cy="49642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983BDDD5-6CCC-7DB2-A7D5-D506C371805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317965" y="4119750"/>
                    <a:ext cx="205539" cy="1905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119" name="Straight Arrow Connector 118">
                    <a:extLst>
                      <a:ext uri="{FF2B5EF4-FFF2-40B4-BE49-F238E27FC236}">
                        <a16:creationId xmlns:a16="http://schemas.microsoft.com/office/drawing/2014/main" id="{B550F92C-CD83-E58A-83A4-476E72568B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7724903" y="4318090"/>
                    <a:ext cx="275737" cy="4425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" name="Straight Arrow Connector 119">
                    <a:extLst>
                      <a:ext uri="{FF2B5EF4-FFF2-40B4-BE49-F238E27FC236}">
                        <a16:creationId xmlns:a16="http://schemas.microsoft.com/office/drawing/2014/main" id="{D90E340E-1C82-213D-2FBB-3488D63682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7724902" y="3642355"/>
                    <a:ext cx="275737" cy="44251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Arrow Connector 120">
                    <a:extLst>
                      <a:ext uri="{FF2B5EF4-FFF2-40B4-BE49-F238E27FC236}">
                        <a16:creationId xmlns:a16="http://schemas.microsoft.com/office/drawing/2014/main" id="{3D704DD0-5543-5F59-7E83-128C23220D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6942108" y="2946849"/>
                    <a:ext cx="4621" cy="49642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Oval 121">
                    <a:extLst>
                      <a:ext uri="{FF2B5EF4-FFF2-40B4-BE49-F238E27FC236}">
                        <a16:creationId xmlns:a16="http://schemas.microsoft.com/office/drawing/2014/main" id="{A72D367B-5E61-0E01-35CA-00BE4713747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310776" y="3098958"/>
                    <a:ext cx="205539" cy="190500"/>
                  </a:xfrm>
                  <a:prstGeom prst="ellipse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6C1EA2E4-9FDC-534A-60B9-350D36586E0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146925" y="4606445"/>
                    <a:ext cx="205539" cy="190500"/>
                  </a:xfrm>
                  <a:prstGeom prst="ellipse">
                    <a:avLst/>
                  </a:prstGeom>
                  <a:solidFill>
                    <a:srgbClr val="73080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cxnSp>
                <p:nvCxnSpPr>
                  <p:cNvPr id="125" name="Straight Arrow Connector 124">
                    <a:extLst>
                      <a:ext uri="{FF2B5EF4-FFF2-40B4-BE49-F238E27FC236}">
                        <a16:creationId xmlns:a16="http://schemas.microsoft.com/office/drawing/2014/main" id="{54083D6E-FD2F-7E91-C199-A59CD6392B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430212" y="4712935"/>
                    <a:ext cx="477136" cy="252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D0EC9794-A4B6-FA34-FD25-7807F45FCAE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55175" y="4605906"/>
                    <a:ext cx="205539" cy="190500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 dirty="0"/>
                  </a:p>
                </p:txBody>
              </p:sp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566C1181-D31E-04AD-F576-F52D79BF689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139271" y="3506584"/>
                    <a:ext cx="205539" cy="190500"/>
                  </a:xfrm>
                  <a:prstGeom prst="ellipse">
                    <a:avLst/>
                  </a:prstGeom>
                  <a:solidFill>
                    <a:srgbClr val="73080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 dirty="0"/>
                  </a:p>
                </p:txBody>
              </p:sp>
              <p:cxnSp>
                <p:nvCxnSpPr>
                  <p:cNvPr id="129" name="Straight Arrow Connector 128">
                    <a:extLst>
                      <a:ext uri="{FF2B5EF4-FFF2-40B4-BE49-F238E27FC236}">
                        <a16:creationId xmlns:a16="http://schemas.microsoft.com/office/drawing/2014/main" id="{AD83A68A-BE61-FCD3-8DA9-1C275671D9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442914" y="3666883"/>
                    <a:ext cx="444206" cy="15621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Arrow Connector 129">
                    <a:extLst>
                      <a:ext uri="{FF2B5EF4-FFF2-40B4-BE49-F238E27FC236}">
                        <a16:creationId xmlns:a16="http://schemas.microsoft.com/office/drawing/2014/main" id="{C77B26E8-A53C-D718-C1DE-6EEBD2565F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443598" y="3293164"/>
                    <a:ext cx="417620" cy="228648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6D5C3E45-D1A4-0E39-2F8E-DF031ED33D7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37035" y="3750140"/>
                    <a:ext cx="205539" cy="190500"/>
                  </a:xfrm>
                  <a:prstGeom prst="ellipse">
                    <a:avLst/>
                  </a:prstGeom>
                  <a:solidFill>
                    <a:srgbClr val="73080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sp>
                <p:nvSpPr>
                  <p:cNvPr id="132" name="Oval 131">
                    <a:extLst>
                      <a:ext uri="{FF2B5EF4-FFF2-40B4-BE49-F238E27FC236}">
                        <a16:creationId xmlns:a16="http://schemas.microsoft.com/office/drawing/2014/main" id="{E35E5E26-EBC8-7990-8E87-906EA07D7A8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25548" y="3175931"/>
                    <a:ext cx="205539" cy="190500"/>
                  </a:xfrm>
                  <a:prstGeom prst="ellipse">
                    <a:avLst/>
                  </a:prstGeom>
                  <a:solidFill>
                    <a:srgbClr val="73080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F2859B2F-895B-C8F3-F724-40ADF5A81D75}"/>
                      </a:ext>
                    </a:extLst>
                  </p:cNvPr>
                  <p:cNvSpPr txBox="1"/>
                  <p:nvPr/>
                </p:nvSpPr>
                <p:spPr>
                  <a:xfrm>
                    <a:off x="7589645" y="2999232"/>
                    <a:ext cx="126204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00" dirty="0"/>
                      <a:t>†</a:t>
                    </a:r>
                  </a:p>
                </p:txBody>
              </p: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637F252A-57D9-1E6B-7919-F4B30391AE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26868" y="2740383"/>
                    <a:ext cx="0" cy="304495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ABD9C64C-28CC-458C-E6FE-229582024959}"/>
                      </a:ext>
                    </a:extLst>
                  </p:cNvPr>
                  <p:cNvSpPr txBox="1"/>
                  <p:nvPr/>
                </p:nvSpPr>
                <p:spPr>
                  <a:xfrm>
                    <a:off x="3395544" y="5792685"/>
                    <a:ext cx="1574982" cy="523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b="1" dirty="0"/>
                      <a:t>Introduction </a:t>
                    </a:r>
                  </a:p>
                  <a:p>
                    <a:pPr algn="ctr"/>
                    <a:r>
                      <a:rPr lang="en-US" sz="1400" b="1" dirty="0"/>
                      <a:t>(from reservoir)</a:t>
                    </a:r>
                  </a:p>
                </p:txBody>
              </p:sp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34408081-3847-7701-04CE-E5804BF35BA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39414" y="3738069"/>
                    <a:ext cx="205539" cy="190500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0D00CF86-A99B-AF9C-924F-6F143A12938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555163" y="4291130"/>
                    <a:ext cx="205539" cy="190500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/>
                  </a:p>
                </p:txBody>
              </p:sp>
              <p:sp>
                <p:nvSpPr>
                  <p:cNvPr id="139" name="Oval 138">
                    <a:extLst>
                      <a:ext uri="{FF2B5EF4-FFF2-40B4-BE49-F238E27FC236}">
                        <a16:creationId xmlns:a16="http://schemas.microsoft.com/office/drawing/2014/main" id="{882C04C1-DFC4-3F4C-9190-B99B73A6EC3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329867" y="4236050"/>
                    <a:ext cx="205539" cy="190500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 dirty="0"/>
                  </a:p>
                </p:txBody>
              </p:sp>
              <p:sp>
                <p:nvSpPr>
                  <p:cNvPr id="143" name="Arc 142">
                    <a:extLst>
                      <a:ext uri="{FF2B5EF4-FFF2-40B4-BE49-F238E27FC236}">
                        <a16:creationId xmlns:a16="http://schemas.microsoft.com/office/drawing/2014/main" id="{48E57FBB-D2E1-801C-9F08-916723442519}"/>
                      </a:ext>
                    </a:extLst>
                  </p:cNvPr>
                  <p:cNvSpPr/>
                  <p:nvPr/>
                </p:nvSpPr>
                <p:spPr>
                  <a:xfrm rot="18967714">
                    <a:off x="3424584" y="5498985"/>
                    <a:ext cx="1572016" cy="1546965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4" name="Arc 143">
                    <a:extLst>
                      <a:ext uri="{FF2B5EF4-FFF2-40B4-BE49-F238E27FC236}">
                        <a16:creationId xmlns:a16="http://schemas.microsoft.com/office/drawing/2014/main" id="{F44E3D55-D88E-8200-9511-C38155CEBA4D}"/>
                      </a:ext>
                    </a:extLst>
                  </p:cNvPr>
                  <p:cNvSpPr/>
                  <p:nvPr/>
                </p:nvSpPr>
                <p:spPr>
                  <a:xfrm rot="18967714">
                    <a:off x="6998425" y="5498986"/>
                    <a:ext cx="1572016" cy="1546965"/>
                  </a:xfrm>
                  <a:prstGeom prst="arc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46" name="Straight Connector 145">
                    <a:extLst>
                      <a:ext uri="{FF2B5EF4-FFF2-40B4-BE49-F238E27FC236}">
                        <a16:creationId xmlns:a16="http://schemas.microsoft.com/office/drawing/2014/main" id="{BF5DD334-B9B6-D737-D8A4-F2BF52DB66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4599" y="6432385"/>
                    <a:ext cx="3692269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Straight Connector 146">
                    <a:extLst>
                      <a:ext uri="{FF2B5EF4-FFF2-40B4-BE49-F238E27FC236}">
                        <a16:creationId xmlns:a16="http://schemas.microsoft.com/office/drawing/2014/main" id="{E137FD5B-758F-62EC-5E08-47CB635406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26868" y="6350966"/>
                    <a:ext cx="0" cy="16283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5B5D519B-7A28-5A6B-776D-4DC628BC85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4599" y="6603574"/>
                    <a:ext cx="4616111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554E6020-3A4D-9624-E868-6F63F7DB96A1}"/>
                      </a:ext>
                    </a:extLst>
                  </p:cNvPr>
                  <p:cNvSpPr txBox="1"/>
                  <p:nvPr/>
                </p:nvSpPr>
                <p:spPr>
                  <a:xfrm>
                    <a:off x="7820982" y="6300922"/>
                    <a:ext cx="1009579" cy="2616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b="1" dirty="0"/>
                      <a:t>Extinction</a:t>
                    </a:r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F1F8774B-D24A-B9C0-0586-4562660AD246}"/>
                      </a:ext>
                    </a:extLst>
                  </p:cNvPr>
                  <p:cNvSpPr txBox="1"/>
                  <p:nvPr/>
                </p:nvSpPr>
                <p:spPr>
                  <a:xfrm>
                    <a:off x="8748921" y="6451212"/>
                    <a:ext cx="1009579" cy="26161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b="1" dirty="0"/>
                      <a:t>Emergence</a:t>
                    </a:r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1F8F59D6-6F56-A8E9-EE47-4CC202C0B938}"/>
                      </a:ext>
                    </a:extLst>
                  </p:cNvPr>
                  <p:cNvSpPr txBox="1"/>
                  <p:nvPr/>
                </p:nvSpPr>
                <p:spPr>
                  <a:xfrm>
                    <a:off x="6938841" y="5789424"/>
                    <a:ext cx="1776053" cy="523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b="1" dirty="0"/>
                      <a:t>Incipient epidemic (R</a:t>
                    </a:r>
                    <a:r>
                      <a:rPr lang="en-US" sz="1400" b="1" baseline="-25000" dirty="0"/>
                      <a:t>e</a:t>
                    </a:r>
                    <a:r>
                      <a:rPr lang="en-US" sz="1400" b="1" dirty="0"/>
                      <a:t> &gt; 1)</a:t>
                    </a: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74D886FD-5BE0-5779-6C1A-B6E50C15AA70}"/>
                      </a:ext>
                    </a:extLst>
                  </p:cNvPr>
                  <p:cNvSpPr txBox="1"/>
                  <p:nvPr/>
                </p:nvSpPr>
                <p:spPr>
                  <a:xfrm>
                    <a:off x="4924545" y="5486584"/>
                    <a:ext cx="2114496" cy="41549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050" b="1" dirty="0"/>
                      <a:t>Adaptation in stuttering chains of transmission, R</a:t>
                    </a:r>
                    <a:r>
                      <a:rPr lang="en-US" sz="1050" b="1" baseline="-25000" dirty="0"/>
                      <a:t>0</a:t>
                    </a:r>
                    <a:r>
                      <a:rPr lang="en-US" sz="1050" b="1" dirty="0"/>
                      <a:t> increasing</a:t>
                    </a:r>
                  </a:p>
                </p:txBody>
              </p:sp>
              <p:cxnSp>
                <p:nvCxnSpPr>
                  <p:cNvPr id="154" name="Straight Connector 153">
                    <a:extLst>
                      <a:ext uri="{FF2B5EF4-FFF2-40B4-BE49-F238E27FC236}">
                        <a16:creationId xmlns:a16="http://schemas.microsoft.com/office/drawing/2014/main" id="{A17563DE-CC77-3A33-005E-4A3AF17FE4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58164" y="5972203"/>
                    <a:ext cx="1265813" cy="0"/>
                  </a:xfrm>
                  <a:prstGeom prst="line">
                    <a:avLst/>
                  </a:prstGeom>
                  <a:ln w="76200">
                    <a:solidFill>
                      <a:schemeClr val="tx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9B537A-D142-3223-7867-03BFE101EEB1}"/>
                    </a:ext>
                  </a:extLst>
                </p:cNvPr>
                <p:cNvSpPr txBox="1"/>
                <p:nvPr/>
              </p:nvSpPr>
              <p:spPr>
                <a:xfrm>
                  <a:off x="1238086" y="1248793"/>
                  <a:ext cx="2309863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Endemic circulation in </a:t>
                  </a:r>
                </a:p>
                <a:p>
                  <a:pPr algn="ctr"/>
                  <a:r>
                    <a:rPr lang="en-US" sz="1600" b="1" dirty="0"/>
                    <a:t>animal reservoir </a:t>
                  </a: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E783E13D-26A7-A580-D5C4-3C6C94F5B8D5}"/>
                    </a:ext>
                  </a:extLst>
                </p:cNvPr>
                <p:cNvSpPr txBox="1"/>
                <p:nvPr/>
              </p:nvSpPr>
              <p:spPr>
                <a:xfrm>
                  <a:off x="3691790" y="1247004"/>
                  <a:ext cx="3389966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Stuttering transmission in humans</a:t>
                  </a:r>
                </a:p>
                <a:p>
                  <a:pPr algn="ctr"/>
                  <a:r>
                    <a:rPr lang="en-US" sz="1600" b="1" dirty="0"/>
                    <a:t>R</a:t>
                  </a:r>
                  <a:r>
                    <a:rPr lang="en-US" sz="1600" b="1" baseline="-25000" dirty="0"/>
                    <a:t>e</a:t>
                  </a:r>
                  <a:r>
                    <a:rPr lang="en-US" sz="1600" b="1" dirty="0"/>
                    <a:t> &lt; 1 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7343F0F9-0B0C-630E-C542-68FC28724C67}"/>
                    </a:ext>
                  </a:extLst>
                </p:cNvPr>
                <p:cNvSpPr txBox="1"/>
                <p:nvPr/>
              </p:nvSpPr>
              <p:spPr>
                <a:xfrm>
                  <a:off x="7315504" y="1251030"/>
                  <a:ext cx="3576492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Sustainable transmission in humans</a:t>
                  </a:r>
                </a:p>
                <a:p>
                  <a:pPr algn="ctr"/>
                  <a:r>
                    <a:rPr lang="en-US" sz="1600" b="1" dirty="0"/>
                    <a:t>R</a:t>
                  </a:r>
                  <a:r>
                    <a:rPr lang="en-US" sz="1600" b="1" baseline="-25000" dirty="0"/>
                    <a:t>e</a:t>
                  </a:r>
                  <a:r>
                    <a:rPr lang="en-US" sz="1600" b="1" dirty="0"/>
                    <a:t> &gt; 1 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E173A5DB-59F8-CEED-D761-D4473FBA4D89}"/>
                    </a:ext>
                  </a:extLst>
                </p:cNvPr>
                <p:cNvSpPr txBox="1"/>
                <p:nvPr/>
              </p:nvSpPr>
              <p:spPr>
                <a:xfrm>
                  <a:off x="7391275" y="4629727"/>
                  <a:ext cx="3113629" cy="4154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50" b="1" dirty="0"/>
                    <a:t>Further evolution to high </a:t>
                  </a:r>
                </a:p>
                <a:p>
                  <a:pPr algn="ctr"/>
                  <a:r>
                    <a:rPr lang="en-US" sz="1050" b="1" dirty="0"/>
                    <a:t>transmissibility, R</a:t>
                  </a:r>
                  <a:r>
                    <a:rPr lang="en-US" sz="1050" b="1" baseline="-25000" dirty="0"/>
                    <a:t>0</a:t>
                  </a:r>
                  <a:r>
                    <a:rPr lang="en-US" sz="1050" b="1" dirty="0"/>
                    <a:t> increasing</a:t>
                  </a:r>
                </a:p>
              </p:txBody>
            </p:sp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8EA93AAC-60B1-9152-2B8C-8E937E3DE136}"/>
                    </a:ext>
                  </a:extLst>
                </p:cNvPr>
                <p:cNvSpPr txBox="1"/>
                <p:nvPr/>
              </p:nvSpPr>
              <p:spPr>
                <a:xfrm>
                  <a:off x="9688635" y="4963098"/>
                  <a:ext cx="85912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400" b="1" dirty="0"/>
                    <a:t>(R</a:t>
                  </a:r>
                  <a:r>
                    <a:rPr lang="en-US" sz="1400" b="1" baseline="-25000" dirty="0"/>
                    <a:t>e</a:t>
                  </a:r>
                  <a:r>
                    <a:rPr lang="en-US" sz="1400" b="1" dirty="0"/>
                    <a:t> &gt;&gt; 1)</a:t>
                  </a:r>
                  <a:endParaRPr lang="en-US" sz="1400" dirty="0"/>
                </a:p>
              </p:txBody>
            </p: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AF8C462E-E4FE-C2C8-3256-BE51940A86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23879" y="5903301"/>
                  <a:ext cx="602451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6D6C235D-29C6-24E6-D1D8-2B4995075960}"/>
                    </a:ext>
                  </a:extLst>
                </p:cNvPr>
                <p:cNvSpPr txBox="1"/>
                <p:nvPr/>
              </p:nvSpPr>
              <p:spPr>
                <a:xfrm>
                  <a:off x="9513048" y="5758135"/>
                  <a:ext cx="1573547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b="1" dirty="0"/>
                    <a:t>Continued evolution</a:t>
                  </a:r>
                </a:p>
              </p:txBody>
            </p:sp>
          </p:grpSp>
        </p:grp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D71A36E4-C998-886D-A803-FC9DB9691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7084" y="2176925"/>
              <a:ext cx="417620" cy="2286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269ECAD1-0F7A-E0B2-C91A-34FB4C3DDF1B}"/>
              </a:ext>
            </a:extLst>
          </p:cNvPr>
          <p:cNvCxnSpPr>
            <a:cxnSpLocks/>
          </p:cNvCxnSpPr>
          <p:nvPr/>
        </p:nvCxnSpPr>
        <p:spPr>
          <a:xfrm rot="5400000" flipV="1">
            <a:off x="9163549" y="4283017"/>
            <a:ext cx="275737" cy="442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Oval 234">
            <a:extLst>
              <a:ext uri="{FF2B5EF4-FFF2-40B4-BE49-F238E27FC236}">
                <a16:creationId xmlns:a16="http://schemas.microsoft.com/office/drawing/2014/main" id="{0F882BAD-5D72-AAD6-F736-944C7238B7BF}"/>
              </a:ext>
            </a:extLst>
          </p:cNvPr>
          <p:cNvSpPr/>
          <p:nvPr/>
        </p:nvSpPr>
        <p:spPr>
          <a:xfrm rot="16200000">
            <a:off x="9578105" y="4608798"/>
            <a:ext cx="205539" cy="1905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15379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64C9AA8-1A07-1E12-06DF-6FCBD551E0A9}"/>
              </a:ext>
            </a:extLst>
          </p:cNvPr>
          <p:cNvGrpSpPr/>
          <p:nvPr/>
        </p:nvGrpSpPr>
        <p:grpSpPr>
          <a:xfrm>
            <a:off x="1610382" y="1236074"/>
            <a:ext cx="9197826" cy="4385851"/>
            <a:chOff x="1610382" y="1236074"/>
            <a:chExt cx="9197826" cy="438585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3CC240-5EE6-6CDC-1994-79DF6229D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6113"/>
            <a:stretch>
              <a:fillRect/>
            </a:stretch>
          </p:blipFill>
          <p:spPr>
            <a:xfrm>
              <a:off x="1610382" y="1236074"/>
              <a:ext cx="9197826" cy="438585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3C93258-F8C3-C944-2428-2A24FB615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0059" y="2527426"/>
              <a:ext cx="1612864" cy="18031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826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8513636-59E4-ECB9-141C-62649884E34A}"/>
              </a:ext>
            </a:extLst>
          </p:cNvPr>
          <p:cNvGrpSpPr/>
          <p:nvPr/>
        </p:nvGrpSpPr>
        <p:grpSpPr>
          <a:xfrm>
            <a:off x="802329" y="1411226"/>
            <a:ext cx="10587341" cy="3598379"/>
            <a:chOff x="802329" y="1411226"/>
            <a:chExt cx="10587341" cy="359837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927756D-7CCE-795A-8B0D-F8B0CFBB0337}"/>
                </a:ext>
              </a:extLst>
            </p:cNvPr>
            <p:cNvGrpSpPr/>
            <p:nvPr/>
          </p:nvGrpSpPr>
          <p:grpSpPr>
            <a:xfrm>
              <a:off x="802329" y="1411226"/>
              <a:ext cx="10587341" cy="3598379"/>
              <a:chOff x="146564" y="1008890"/>
              <a:chExt cx="10587341" cy="3598379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FA16419-7EA1-375A-41ED-F90027922E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13379"/>
              <a:stretch>
                <a:fillRect/>
              </a:stretch>
            </p:blipFill>
            <p:spPr>
              <a:xfrm>
                <a:off x="237182" y="1136135"/>
                <a:ext cx="5306883" cy="347113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5060A0DD-4A90-29B6-D756-EB5454F72A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17172"/>
              <a:stretch>
                <a:fillRect/>
              </a:stretch>
            </p:blipFill>
            <p:spPr>
              <a:xfrm>
                <a:off x="5659397" y="1136135"/>
                <a:ext cx="5074508" cy="3471134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F1408FE-A074-EAF6-DF61-94C4721C9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8738" y="2454876"/>
                <a:ext cx="946220" cy="1554505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F49C3A33-6A89-6C93-8B27-CE19A84EEA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32640" y="2224688"/>
                <a:ext cx="1067228" cy="1784693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199A26-7C3B-2C64-1ACE-9883967048DC}"/>
                  </a:ext>
                </a:extLst>
              </p:cNvPr>
              <p:cNvSpPr txBox="1"/>
              <p:nvPr/>
            </p:nvSpPr>
            <p:spPr>
              <a:xfrm>
                <a:off x="146564" y="1008890"/>
                <a:ext cx="3754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A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C18F5A-52E4-7E80-FCEB-96797505755B}"/>
                  </a:ext>
                </a:extLst>
              </p:cNvPr>
              <p:cNvSpPr txBox="1"/>
              <p:nvPr/>
            </p:nvSpPr>
            <p:spPr>
              <a:xfrm>
                <a:off x="5554467" y="1008890"/>
                <a:ext cx="3754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B</a:t>
                </a: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91D4C6E-0057-D973-9833-70FD1D896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5287" y="1904790"/>
              <a:ext cx="291951" cy="22997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302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70AF8D8-2249-164B-C85F-D2A870EA9A40}"/>
              </a:ext>
            </a:extLst>
          </p:cNvPr>
          <p:cNvGrpSpPr/>
          <p:nvPr/>
        </p:nvGrpSpPr>
        <p:grpSpPr>
          <a:xfrm>
            <a:off x="2340576" y="1224532"/>
            <a:ext cx="7510848" cy="4408936"/>
            <a:chOff x="928029" y="1224532"/>
            <a:chExt cx="7510848" cy="4408936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6CFF72B-6F35-2878-63DF-95EBE6EF1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7340"/>
            <a:stretch>
              <a:fillRect/>
            </a:stretch>
          </p:blipFill>
          <p:spPr>
            <a:xfrm>
              <a:off x="928029" y="1224532"/>
              <a:ext cx="6424646" cy="440893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60B020A-644D-6A43-B918-11155C3D0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9839" y="3492844"/>
              <a:ext cx="1209038" cy="14650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654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8D7845C-29FA-0394-CC55-21276C0B2A0D}"/>
              </a:ext>
            </a:extLst>
          </p:cNvPr>
          <p:cNvGrpSpPr/>
          <p:nvPr/>
        </p:nvGrpSpPr>
        <p:grpSpPr>
          <a:xfrm>
            <a:off x="-41832" y="1547500"/>
            <a:ext cx="12221881" cy="4121366"/>
            <a:chOff x="-41832" y="1547500"/>
            <a:chExt cx="12221881" cy="412136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A8E313E-9FF0-928B-6539-B4FFA44BA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08" y="1644433"/>
              <a:ext cx="6266113" cy="4024433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E66451C-C92B-DD63-14DF-4E4E60A6AAEF}"/>
                </a:ext>
              </a:extLst>
            </p:cNvPr>
            <p:cNvGrpSpPr/>
            <p:nvPr/>
          </p:nvGrpSpPr>
          <p:grpSpPr>
            <a:xfrm>
              <a:off x="-41832" y="1547500"/>
              <a:ext cx="12221881" cy="4121366"/>
              <a:chOff x="-89640" y="1313584"/>
              <a:chExt cx="12221881" cy="412136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CDD6D9A-26B8-F5AF-1A9B-1F7F0A458E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15053"/>
              <a:stretch>
                <a:fillRect/>
              </a:stretch>
            </p:blipFill>
            <p:spPr>
              <a:xfrm>
                <a:off x="6176185" y="1410517"/>
                <a:ext cx="5956056" cy="4024433"/>
              </a:xfrm>
              <a:prstGeom prst="rect">
                <a:avLst/>
              </a:prstGeom>
            </p:spPr>
          </p:pic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41D652AB-09F6-F524-0438-5AABC8245A51}"/>
                  </a:ext>
                </a:extLst>
              </p:cNvPr>
              <p:cNvGrpSpPr/>
              <p:nvPr/>
            </p:nvGrpSpPr>
            <p:grpSpPr>
              <a:xfrm>
                <a:off x="-89640" y="1313584"/>
                <a:ext cx="12155935" cy="3565261"/>
                <a:chOff x="-48390" y="1211984"/>
                <a:chExt cx="12155935" cy="3565261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AFBEC055-3555-4ED8-33A2-6501DF8905BF}"/>
                    </a:ext>
                  </a:extLst>
                </p:cNvPr>
                <p:cNvGrpSpPr/>
                <p:nvPr/>
              </p:nvGrpSpPr>
              <p:grpSpPr>
                <a:xfrm>
                  <a:off x="-48390" y="1211984"/>
                  <a:ext cx="6580957" cy="461665"/>
                  <a:chOff x="-283170" y="1188217"/>
                  <a:chExt cx="6580957" cy="461665"/>
                </a:xfrm>
              </p:grpSpPr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425EC6C6-8F2A-8D91-C850-9F9144647A39}"/>
                      </a:ext>
                    </a:extLst>
                  </p:cNvPr>
                  <p:cNvSpPr txBox="1"/>
                  <p:nvPr/>
                </p:nvSpPr>
                <p:spPr>
                  <a:xfrm>
                    <a:off x="-283170" y="1188217"/>
                    <a:ext cx="37542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/>
                      <a:t>A</a:t>
                    </a: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4659AD57-C480-8EDA-7581-0899B8F8CC3F}"/>
                      </a:ext>
                    </a:extLst>
                  </p:cNvPr>
                  <p:cNvSpPr txBox="1"/>
                  <p:nvPr/>
                </p:nvSpPr>
                <p:spPr>
                  <a:xfrm>
                    <a:off x="5922363" y="1188217"/>
                    <a:ext cx="37542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b="1" dirty="0"/>
                      <a:t>B</a:t>
                    </a:r>
                  </a:p>
                </p:txBody>
              </p:sp>
            </p:grpSp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AF0F5904-9966-74E0-5FD6-BCDB3CBA35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07179" y="3244390"/>
                  <a:ext cx="900366" cy="1532855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538012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F7196A-573B-4EDF-C6A7-5AB4704A08FA}"/>
              </a:ext>
            </a:extLst>
          </p:cNvPr>
          <p:cNvGrpSpPr/>
          <p:nvPr/>
        </p:nvGrpSpPr>
        <p:grpSpPr>
          <a:xfrm>
            <a:off x="28906" y="1505966"/>
            <a:ext cx="12134188" cy="4240515"/>
            <a:chOff x="-21032" y="1500429"/>
            <a:chExt cx="12134188" cy="424051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EB91B5-D092-FBEB-233E-85C762303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6882"/>
            <a:stretch>
              <a:fillRect/>
            </a:stretch>
          </p:blipFill>
          <p:spPr>
            <a:xfrm>
              <a:off x="6515915" y="1644432"/>
              <a:ext cx="5597241" cy="409444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E55B57-4851-763C-338F-6AAA06EA8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38" y="1644432"/>
              <a:ext cx="6478559" cy="409651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0610BF-D7EF-E57C-F0DD-B3CA9605C4B8}"/>
                </a:ext>
              </a:extLst>
            </p:cNvPr>
            <p:cNvSpPr txBox="1"/>
            <p:nvPr/>
          </p:nvSpPr>
          <p:spPr>
            <a:xfrm>
              <a:off x="-21032" y="1500430"/>
              <a:ext cx="3754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898782-1EF2-C95B-C3D4-5F50898D52CB}"/>
                </a:ext>
              </a:extLst>
            </p:cNvPr>
            <p:cNvSpPr txBox="1"/>
            <p:nvPr/>
          </p:nvSpPr>
          <p:spPr>
            <a:xfrm>
              <a:off x="6304985" y="1500429"/>
              <a:ext cx="3754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B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3D74AB6-1ACD-85B7-3C0B-B74918487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2009" y="3358776"/>
            <a:ext cx="924086" cy="153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51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6E1DA796-1107-1155-6ABD-66CA29D0CB4A}"/>
              </a:ext>
            </a:extLst>
          </p:cNvPr>
          <p:cNvGrpSpPr/>
          <p:nvPr/>
        </p:nvGrpSpPr>
        <p:grpSpPr>
          <a:xfrm>
            <a:off x="1330064" y="915545"/>
            <a:ext cx="10350811" cy="4200809"/>
            <a:chOff x="1330064" y="915545"/>
            <a:chExt cx="10350811" cy="4200809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BDBB355-5657-5884-3A29-D17DAAAAC624}"/>
                </a:ext>
              </a:extLst>
            </p:cNvPr>
            <p:cNvCxnSpPr/>
            <p:nvPr/>
          </p:nvCxnSpPr>
          <p:spPr>
            <a:xfrm>
              <a:off x="1853513" y="3140676"/>
              <a:ext cx="8155460" cy="0"/>
            </a:xfrm>
            <a:prstGeom prst="straightConnector1">
              <a:avLst/>
            </a:prstGeom>
            <a:ln w="57150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3D9C31-3A17-031F-D7C0-5864BDF1ADF1}"/>
                </a:ext>
              </a:extLst>
            </p:cNvPr>
            <p:cNvCxnSpPr/>
            <p:nvPr/>
          </p:nvCxnSpPr>
          <p:spPr>
            <a:xfrm>
              <a:off x="2512541" y="2774092"/>
              <a:ext cx="0" cy="733168"/>
            </a:xfrm>
            <a:prstGeom prst="line">
              <a:avLst/>
            </a:prstGeom>
            <a:ln w="571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306BBE8-9573-12E0-5F5D-0C188200ABD4}"/>
                </a:ext>
              </a:extLst>
            </p:cNvPr>
            <p:cNvCxnSpPr/>
            <p:nvPr/>
          </p:nvCxnSpPr>
          <p:spPr>
            <a:xfrm>
              <a:off x="3356919" y="2774092"/>
              <a:ext cx="0" cy="733168"/>
            </a:xfrm>
            <a:prstGeom prst="line">
              <a:avLst/>
            </a:prstGeom>
            <a:ln w="571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F6C748-3CA7-1676-460E-EE111864BBE2}"/>
                </a:ext>
              </a:extLst>
            </p:cNvPr>
            <p:cNvCxnSpPr/>
            <p:nvPr/>
          </p:nvCxnSpPr>
          <p:spPr>
            <a:xfrm>
              <a:off x="4289999" y="2774092"/>
              <a:ext cx="0" cy="733168"/>
            </a:xfrm>
            <a:prstGeom prst="line">
              <a:avLst/>
            </a:prstGeom>
            <a:ln w="571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72D86A-E617-0005-38FB-316181E2CE77}"/>
                </a:ext>
              </a:extLst>
            </p:cNvPr>
            <p:cNvCxnSpPr/>
            <p:nvPr/>
          </p:nvCxnSpPr>
          <p:spPr>
            <a:xfrm>
              <a:off x="8620898" y="2774092"/>
              <a:ext cx="0" cy="733168"/>
            </a:xfrm>
            <a:prstGeom prst="line">
              <a:avLst/>
            </a:prstGeom>
            <a:ln w="571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ED1F9F-E259-94D0-316D-29F9AA940C4A}"/>
                </a:ext>
              </a:extLst>
            </p:cNvPr>
            <p:cNvSpPr txBox="1"/>
            <p:nvPr/>
          </p:nvSpPr>
          <p:spPr>
            <a:xfrm>
              <a:off x="2245797" y="3423506"/>
              <a:ext cx="4792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R</a:t>
              </a:r>
              <a:r>
                <a:rPr lang="en-US" sz="2400" b="1" baseline="-25000" dirty="0"/>
                <a:t>T</a:t>
              </a:r>
              <a:endParaRPr lang="en-US" sz="24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58A7A98-30BF-9CBE-95B5-7FAC26A5AD95}"/>
                </a:ext>
              </a:extLst>
            </p:cNvPr>
            <p:cNvSpPr txBox="1"/>
            <p:nvPr/>
          </p:nvSpPr>
          <p:spPr>
            <a:xfrm>
              <a:off x="2852786" y="3412179"/>
              <a:ext cx="13722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R</a:t>
              </a:r>
              <a:r>
                <a:rPr lang="en-US" sz="2400" b="1" baseline="-25000" dirty="0"/>
                <a:t>0,Spillover</a:t>
              </a:r>
              <a:endParaRPr lang="en-US" sz="24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A93D761-7DF5-DE60-BCC6-2064079429BE}"/>
                </a:ext>
              </a:extLst>
            </p:cNvPr>
            <p:cNvSpPr txBox="1"/>
            <p:nvPr/>
          </p:nvSpPr>
          <p:spPr>
            <a:xfrm>
              <a:off x="8118642" y="3412179"/>
              <a:ext cx="1278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R</a:t>
              </a:r>
              <a:r>
                <a:rPr lang="en-US" sz="2400" b="1" baseline="-25000" dirty="0"/>
                <a:t>0,Evolved</a:t>
              </a:r>
              <a:endParaRPr lang="en-US" sz="24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BDD839-3871-0D9E-5CA9-A442AB0D4DC9}"/>
                </a:ext>
              </a:extLst>
            </p:cNvPr>
            <p:cNvSpPr txBox="1"/>
            <p:nvPr/>
          </p:nvSpPr>
          <p:spPr>
            <a:xfrm>
              <a:off x="4109576" y="3423506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1</a:t>
              </a: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004B8A-550E-DEFF-4470-32705129BAEA}"/>
                </a:ext>
              </a:extLst>
            </p:cNvPr>
            <p:cNvSpPr/>
            <p:nvPr/>
          </p:nvSpPr>
          <p:spPr>
            <a:xfrm>
              <a:off x="2374805" y="1406013"/>
              <a:ext cx="6327515" cy="1276946"/>
            </a:xfrm>
            <a:custGeom>
              <a:avLst/>
              <a:gdLst>
                <a:gd name="csX0" fmla="*/ 6227805 w 6227805"/>
                <a:gd name="csY0" fmla="*/ 1276946 h 1276946"/>
                <a:gd name="csX1" fmla="*/ 2594919 w 6227805"/>
                <a:gd name="csY1" fmla="*/ 81 h 1276946"/>
                <a:gd name="csX2" fmla="*/ 0 w 6227805"/>
                <a:gd name="csY2" fmla="*/ 1227519 h 1276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227805" h="1276946">
                  <a:moveTo>
                    <a:pt x="6227805" y="1276946"/>
                  </a:moveTo>
                  <a:cubicBezTo>
                    <a:pt x="4930345" y="642632"/>
                    <a:pt x="3632886" y="8319"/>
                    <a:pt x="2594919" y="81"/>
                  </a:cubicBezTo>
                  <a:cubicBezTo>
                    <a:pt x="1556952" y="-8157"/>
                    <a:pt x="778476" y="609681"/>
                    <a:pt x="0" y="1227519"/>
                  </a:cubicBezTo>
                </a:path>
              </a:pathLst>
            </a:custGeom>
            <a:noFill/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6BF2A0C-8C35-7044-189C-8FBC81500F64}"/>
                </a:ext>
              </a:extLst>
            </p:cNvPr>
            <p:cNvSpPr/>
            <p:nvPr/>
          </p:nvSpPr>
          <p:spPr>
            <a:xfrm>
              <a:off x="2363149" y="2051002"/>
              <a:ext cx="1108241" cy="634534"/>
            </a:xfrm>
            <a:custGeom>
              <a:avLst/>
              <a:gdLst>
                <a:gd name="csX0" fmla="*/ 989650 w 989650"/>
                <a:gd name="csY0" fmla="*/ 634534 h 634534"/>
                <a:gd name="csX1" fmla="*/ 585996 w 989650"/>
                <a:gd name="csY1" fmla="*/ 221 h 634534"/>
                <a:gd name="csX2" fmla="*/ 0 w 989650"/>
                <a:gd name="csY2" fmla="*/ 589503 h 6345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89650" h="634534">
                  <a:moveTo>
                    <a:pt x="989650" y="634534"/>
                  </a:moveTo>
                  <a:cubicBezTo>
                    <a:pt x="868828" y="322183"/>
                    <a:pt x="748007" y="9832"/>
                    <a:pt x="585996" y="221"/>
                  </a:cubicBezTo>
                  <a:cubicBezTo>
                    <a:pt x="423985" y="-9390"/>
                    <a:pt x="203200" y="296373"/>
                    <a:pt x="0" y="589503"/>
                  </a:cubicBezTo>
                </a:path>
              </a:pathLst>
            </a:custGeom>
            <a:noFill/>
            <a:ln w="5715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B04AAE2-4695-FA17-96F2-BAA175E35A27}"/>
                </a:ext>
              </a:extLst>
            </p:cNvPr>
            <p:cNvGrpSpPr/>
            <p:nvPr/>
          </p:nvGrpSpPr>
          <p:grpSpPr>
            <a:xfrm>
              <a:off x="2580351" y="3152305"/>
              <a:ext cx="702522" cy="323453"/>
              <a:chOff x="2580351" y="3081535"/>
              <a:chExt cx="702522" cy="323453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C7B4F28-928A-05C5-CEEA-C0196BDF4F84}"/>
                  </a:ext>
                </a:extLst>
              </p:cNvPr>
              <p:cNvSpPr txBox="1"/>
              <p:nvPr/>
            </p:nvSpPr>
            <p:spPr>
              <a:xfrm>
                <a:off x="2597454" y="3081535"/>
                <a:ext cx="65418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Small</a:t>
                </a: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5F74841-4242-01CE-EAFC-E2CA09EA86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7929" y="3345284"/>
                <a:ext cx="694944" cy="146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B4E0BEB-32A9-3549-EEBA-261718E760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0351" y="3281816"/>
                <a:ext cx="0" cy="1169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D8E9BAF-D8D2-B3FF-F148-F0C5D2A7B2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1365" y="3288082"/>
                <a:ext cx="0" cy="1169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2493FDE-C1BF-1FAF-D5F2-459C2A92F607}"/>
                </a:ext>
              </a:extLst>
            </p:cNvPr>
            <p:cNvGrpSpPr/>
            <p:nvPr/>
          </p:nvGrpSpPr>
          <p:grpSpPr>
            <a:xfrm>
              <a:off x="3447336" y="3150186"/>
              <a:ext cx="748680" cy="323453"/>
              <a:chOff x="2547399" y="3081535"/>
              <a:chExt cx="748680" cy="323453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10D38A-D4AE-3E57-79BF-77676AD8082B}"/>
                  </a:ext>
                </a:extLst>
              </p:cNvPr>
              <p:cNvSpPr txBox="1"/>
              <p:nvPr/>
            </p:nvSpPr>
            <p:spPr>
              <a:xfrm>
                <a:off x="2597454" y="3081535"/>
                <a:ext cx="65418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Small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9848E89-F298-E425-0995-081BC911BF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63216" y="3345284"/>
                <a:ext cx="722376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3BA1544-0A85-724A-F9D6-215F1C6D7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7399" y="3281816"/>
                <a:ext cx="0" cy="1169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2451F83-2298-5D2F-4D6B-BE478B7DEC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6079" y="3288082"/>
                <a:ext cx="0" cy="1169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D2C542F-EF7E-DAD3-E4B8-1F96F83AE96F}"/>
                </a:ext>
              </a:extLst>
            </p:cNvPr>
            <p:cNvGrpSpPr/>
            <p:nvPr/>
          </p:nvGrpSpPr>
          <p:grpSpPr>
            <a:xfrm>
              <a:off x="4417647" y="3141927"/>
              <a:ext cx="4092263" cy="332447"/>
              <a:chOff x="905492" y="3071290"/>
              <a:chExt cx="4092263" cy="33244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9873BA4-1D92-1B50-16DA-682358D3964A}"/>
                  </a:ext>
                </a:extLst>
              </p:cNvPr>
              <p:cNvSpPr txBox="1"/>
              <p:nvPr/>
            </p:nvSpPr>
            <p:spPr>
              <a:xfrm>
                <a:off x="2449747" y="3071290"/>
                <a:ext cx="65418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Large</a:t>
                </a: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DFF93E1-0873-4B28-38EE-57A2423438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492" y="3337512"/>
                <a:ext cx="4092263" cy="9369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0F4922C-E1F2-943A-281B-C4B8987D22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5492" y="3286831"/>
                <a:ext cx="0" cy="1169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B2F52F9-D000-300C-329A-ACA8DA6D57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8769" y="3279059"/>
                <a:ext cx="0" cy="1169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riangle 45">
              <a:extLst>
                <a:ext uri="{FF2B5EF4-FFF2-40B4-BE49-F238E27FC236}">
                  <a16:creationId xmlns:a16="http://schemas.microsoft.com/office/drawing/2014/main" id="{0E09C803-31C0-D7A4-99C7-B5E5E9046EB7}"/>
                </a:ext>
              </a:extLst>
            </p:cNvPr>
            <p:cNvSpPr/>
            <p:nvPr/>
          </p:nvSpPr>
          <p:spPr>
            <a:xfrm rot="16200000" flipH="1">
              <a:off x="5343629" y="1839084"/>
              <a:ext cx="446184" cy="6108355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6"/>
                </a:gs>
                <a:gs pos="50000">
                  <a:srgbClr val="FFFF00"/>
                </a:gs>
                <a:gs pos="70000">
                  <a:srgbClr val="FFC000"/>
                </a:gs>
                <a:gs pos="100000">
                  <a:srgbClr val="FF0000"/>
                </a:gs>
              </a:gsLst>
              <a:lin ang="5400000" scaled="1"/>
            </a:gra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5984EB6-4FE1-E829-9F3A-B2790D7E160F}"/>
                </a:ext>
              </a:extLst>
            </p:cNvPr>
            <p:cNvSpPr txBox="1"/>
            <p:nvPr/>
          </p:nvSpPr>
          <p:spPr>
            <a:xfrm>
              <a:off x="8620898" y="4723334"/>
              <a:ext cx="2967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Effort required for control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6429F16-8EE3-9BEC-DC19-FDA2A4588D22}"/>
                </a:ext>
              </a:extLst>
            </p:cNvPr>
            <p:cNvCxnSpPr>
              <a:cxnSpLocks/>
            </p:cNvCxnSpPr>
            <p:nvPr/>
          </p:nvCxnSpPr>
          <p:spPr>
            <a:xfrm>
              <a:off x="1943825" y="3951209"/>
              <a:ext cx="1413094" cy="0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68B5F82-70E9-8EAD-4429-773C8BB6D648}"/>
                </a:ext>
              </a:extLst>
            </p:cNvPr>
            <p:cNvSpPr txBox="1"/>
            <p:nvPr/>
          </p:nvSpPr>
          <p:spPr>
            <a:xfrm>
              <a:off x="1853513" y="3990983"/>
              <a:ext cx="2415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Waning immunity:</a:t>
              </a:r>
            </a:p>
            <a:p>
              <a:r>
                <a:rPr lang="en-US" dirty="0"/>
                <a:t>R</a:t>
              </a:r>
              <a:r>
                <a:rPr lang="en-US" baseline="-25000" dirty="0"/>
                <a:t>e</a:t>
              </a:r>
              <a:r>
                <a:rPr lang="en-US" dirty="0"/>
                <a:t> increases</a:t>
              </a:r>
            </a:p>
            <a:p>
              <a:r>
                <a:rPr lang="en-US" dirty="0"/>
                <a:t>toward R</a:t>
              </a:r>
              <a:r>
                <a:rPr lang="en-US" baseline="-25000" dirty="0"/>
                <a:t>0</a:t>
              </a:r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277668D-47A5-1C15-F65C-9BACE67EABE3}"/>
                </a:ext>
              </a:extLst>
            </p:cNvPr>
            <p:cNvSpPr txBox="1"/>
            <p:nvPr/>
          </p:nvSpPr>
          <p:spPr>
            <a:xfrm>
              <a:off x="3824485" y="3998273"/>
              <a:ext cx="52745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Evolution after spillover: </a:t>
              </a:r>
            </a:p>
            <a:p>
              <a:r>
                <a:rPr lang="en-US" dirty="0"/>
                <a:t>Adaptation continues to increase R</a:t>
              </a:r>
              <a:r>
                <a:rPr lang="en-US" baseline="-25000" dirty="0"/>
                <a:t>0</a:t>
              </a:r>
              <a:endParaRPr lang="en-US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254C197-C7A3-5389-AD9B-C6AD52B33375}"/>
                </a:ext>
              </a:extLst>
            </p:cNvPr>
            <p:cNvCxnSpPr>
              <a:cxnSpLocks/>
            </p:cNvCxnSpPr>
            <p:nvPr/>
          </p:nvCxnSpPr>
          <p:spPr>
            <a:xfrm>
              <a:off x="4289999" y="3951209"/>
              <a:ext cx="4330899" cy="0"/>
            </a:xfrm>
            <a:prstGeom prst="straightConnector1">
              <a:avLst/>
            </a:prstGeom>
            <a:ln w="38100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740B1DB-91B1-8A25-A5B1-1403D878065F}"/>
                </a:ext>
              </a:extLst>
            </p:cNvPr>
            <p:cNvSpPr txBox="1"/>
            <p:nvPr/>
          </p:nvSpPr>
          <p:spPr>
            <a:xfrm>
              <a:off x="10012403" y="2860929"/>
              <a:ext cx="16684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Reproductive Number, 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7CCD49-7884-34BF-D582-F7C6AE328653}"/>
                </a:ext>
              </a:extLst>
            </p:cNvPr>
            <p:cNvSpPr txBox="1"/>
            <p:nvPr/>
          </p:nvSpPr>
          <p:spPr>
            <a:xfrm>
              <a:off x="1330064" y="1594212"/>
              <a:ext cx="24784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Prevention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388FE61-AAA3-34EE-21FF-D99626C3948A}"/>
                </a:ext>
              </a:extLst>
            </p:cNvPr>
            <p:cNvSpPr txBox="1"/>
            <p:nvPr/>
          </p:nvSpPr>
          <p:spPr>
            <a:xfrm>
              <a:off x="4722692" y="915545"/>
              <a:ext cx="24784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Eradication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9933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6BAE-3BF6-E544-5CC4-D2DE0C1F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6996-8C04-A7ED-49CF-02937FA54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</a:t>
            </a:r>
          </a:p>
        </p:txBody>
      </p:sp>
    </p:spTree>
    <p:extLst>
      <p:ext uri="{BB962C8B-B14F-4D97-AF65-F5344CB8AC3E}">
        <p14:creationId xmlns:p14="http://schemas.microsoft.com/office/powerpoint/2010/main" val="3402681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A6442-15D8-834B-F0AE-CE5FD036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9BF489E-9EE9-CCD3-6BF7-E703021825C2}"/>
              </a:ext>
            </a:extLst>
          </p:cNvPr>
          <p:cNvGrpSpPr/>
          <p:nvPr/>
        </p:nvGrpSpPr>
        <p:grpSpPr>
          <a:xfrm>
            <a:off x="213719" y="537202"/>
            <a:ext cx="11528296" cy="5911228"/>
            <a:chOff x="282917" y="601457"/>
            <a:chExt cx="11528296" cy="591122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8C33EDA-0775-C975-D82C-7ADE4FFB0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853"/>
            <a:stretch>
              <a:fillRect/>
            </a:stretch>
          </p:blipFill>
          <p:spPr>
            <a:xfrm>
              <a:off x="668165" y="1633882"/>
              <a:ext cx="9952700" cy="4869706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B31DABE-C29B-BA30-F413-38BEEDB42DDF}"/>
                </a:ext>
              </a:extLst>
            </p:cNvPr>
            <p:cNvCxnSpPr>
              <a:cxnSpLocks/>
            </p:cNvCxnSpPr>
            <p:nvPr/>
          </p:nvCxnSpPr>
          <p:spPr>
            <a:xfrm>
              <a:off x="1995463" y="659218"/>
              <a:ext cx="0" cy="5289695"/>
            </a:xfrm>
            <a:prstGeom prst="line">
              <a:avLst/>
            </a:prstGeom>
            <a:ln w="38100">
              <a:solidFill>
                <a:srgbClr val="000000">
                  <a:alpha val="50196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E41D8F2-0E03-820F-E1E3-0B92E7BBF7BC}"/>
                </a:ext>
              </a:extLst>
            </p:cNvPr>
            <p:cNvCxnSpPr>
              <a:cxnSpLocks/>
            </p:cNvCxnSpPr>
            <p:nvPr/>
          </p:nvCxnSpPr>
          <p:spPr>
            <a:xfrm>
              <a:off x="3274912" y="659218"/>
              <a:ext cx="0" cy="5289695"/>
            </a:xfrm>
            <a:prstGeom prst="line">
              <a:avLst/>
            </a:prstGeom>
            <a:ln w="38100">
              <a:solidFill>
                <a:srgbClr val="000000">
                  <a:alpha val="50196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39FE8CE-5218-28F8-A7A1-3210C39DB1C7}"/>
                </a:ext>
              </a:extLst>
            </p:cNvPr>
            <p:cNvCxnSpPr>
              <a:cxnSpLocks/>
            </p:cNvCxnSpPr>
            <p:nvPr/>
          </p:nvCxnSpPr>
          <p:spPr>
            <a:xfrm>
              <a:off x="4618160" y="655172"/>
              <a:ext cx="0" cy="5293741"/>
            </a:xfrm>
            <a:prstGeom prst="line">
              <a:avLst/>
            </a:prstGeom>
            <a:ln w="38100">
              <a:solidFill>
                <a:srgbClr val="000000">
                  <a:alpha val="50196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366925-9642-3659-2895-E90660D6065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55172"/>
              <a:ext cx="0" cy="5289695"/>
            </a:xfrm>
            <a:prstGeom prst="line">
              <a:avLst/>
            </a:prstGeom>
            <a:ln w="38100">
              <a:solidFill>
                <a:srgbClr val="000000">
                  <a:alpha val="50196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774355-0CE0-0D25-49E2-0CF67CA52AAE}"/>
                </a:ext>
              </a:extLst>
            </p:cNvPr>
            <p:cNvCxnSpPr>
              <a:cxnSpLocks/>
            </p:cNvCxnSpPr>
            <p:nvPr/>
          </p:nvCxnSpPr>
          <p:spPr>
            <a:xfrm>
              <a:off x="7747676" y="655171"/>
              <a:ext cx="0" cy="5289695"/>
            </a:xfrm>
            <a:prstGeom prst="line">
              <a:avLst/>
            </a:prstGeom>
            <a:ln w="38100">
              <a:solidFill>
                <a:srgbClr val="000000">
                  <a:alpha val="50196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E8CED40-A2DF-0481-45EA-465281B0E107}"/>
                </a:ext>
              </a:extLst>
            </p:cNvPr>
            <p:cNvCxnSpPr>
              <a:cxnSpLocks/>
            </p:cNvCxnSpPr>
            <p:nvPr/>
          </p:nvCxnSpPr>
          <p:spPr>
            <a:xfrm>
              <a:off x="9544578" y="655171"/>
              <a:ext cx="0" cy="5294376"/>
            </a:xfrm>
            <a:prstGeom prst="line">
              <a:avLst/>
            </a:prstGeom>
            <a:ln w="38100">
              <a:solidFill>
                <a:srgbClr val="000000">
                  <a:alpha val="50196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3F12E43-AFDF-A9FC-B245-DAE6DBB55C7F}"/>
                </a:ext>
              </a:extLst>
            </p:cNvPr>
            <p:cNvSpPr/>
            <p:nvPr/>
          </p:nvSpPr>
          <p:spPr>
            <a:xfrm>
              <a:off x="1115890" y="776177"/>
              <a:ext cx="734876" cy="65921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A46955E-72EE-01EC-F29A-403FC8727072}"/>
                </a:ext>
              </a:extLst>
            </p:cNvPr>
            <p:cNvSpPr/>
            <p:nvPr/>
          </p:nvSpPr>
          <p:spPr>
            <a:xfrm>
              <a:off x="2278382" y="776177"/>
              <a:ext cx="734876" cy="6592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F5B8690-CDEA-B353-E042-5CEA88B17150}"/>
                </a:ext>
              </a:extLst>
            </p:cNvPr>
            <p:cNvSpPr/>
            <p:nvPr/>
          </p:nvSpPr>
          <p:spPr>
            <a:xfrm>
              <a:off x="3579098" y="776177"/>
              <a:ext cx="734876" cy="65921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81BAEDE-4500-3573-9591-1DAC6966FE7F}"/>
                </a:ext>
              </a:extLst>
            </p:cNvPr>
            <p:cNvSpPr/>
            <p:nvPr/>
          </p:nvSpPr>
          <p:spPr>
            <a:xfrm>
              <a:off x="4989642" y="776177"/>
              <a:ext cx="734876" cy="65921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873C632-FC51-AEC8-F3D7-889EA7F326F9}"/>
                </a:ext>
              </a:extLst>
            </p:cNvPr>
            <p:cNvSpPr/>
            <p:nvPr/>
          </p:nvSpPr>
          <p:spPr>
            <a:xfrm>
              <a:off x="6554400" y="776177"/>
              <a:ext cx="734876" cy="6592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B9D3C4E-4DF0-67D9-FCBF-7890AAF8FDA4}"/>
                </a:ext>
              </a:extLst>
            </p:cNvPr>
            <p:cNvSpPr/>
            <p:nvPr/>
          </p:nvSpPr>
          <p:spPr>
            <a:xfrm>
              <a:off x="8278689" y="839973"/>
              <a:ext cx="734876" cy="6592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72C0F0-5BAD-108D-C63F-EC7539736A31}"/>
                </a:ext>
              </a:extLst>
            </p:cNvPr>
            <p:cNvSpPr/>
            <p:nvPr/>
          </p:nvSpPr>
          <p:spPr>
            <a:xfrm>
              <a:off x="10075592" y="839973"/>
              <a:ext cx="734876" cy="65921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4A07BF5-7FC2-5ECE-9276-1195C75F04B6}"/>
                </a:ext>
              </a:extLst>
            </p:cNvPr>
            <p:cNvSpPr txBox="1"/>
            <p:nvPr/>
          </p:nvSpPr>
          <p:spPr>
            <a:xfrm>
              <a:off x="9919453" y="601457"/>
              <a:ext cx="1636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Supercritical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DE8055B-9EDE-C690-DED9-CDBC7D1AC65A}"/>
                </a:ext>
              </a:extLst>
            </p:cNvPr>
            <p:cNvSpPr txBox="1"/>
            <p:nvPr/>
          </p:nvSpPr>
          <p:spPr>
            <a:xfrm rot="20144511">
              <a:off x="1922156" y="4945274"/>
              <a:ext cx="14627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5 mutations away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5675CF5-5E9C-2714-D1E7-560DB705C422}"/>
                </a:ext>
              </a:extLst>
            </p:cNvPr>
            <p:cNvSpPr txBox="1"/>
            <p:nvPr/>
          </p:nvSpPr>
          <p:spPr>
            <a:xfrm rot="20447985">
              <a:off x="3238816" y="4122967"/>
              <a:ext cx="14686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4 mutations away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645ADF2-0C39-2A74-DCC1-697D177D1A83}"/>
                </a:ext>
              </a:extLst>
            </p:cNvPr>
            <p:cNvSpPr txBox="1"/>
            <p:nvPr/>
          </p:nvSpPr>
          <p:spPr>
            <a:xfrm rot="20758846">
              <a:off x="4599496" y="3343863"/>
              <a:ext cx="16050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3 mutations away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CB9B47-FA29-979B-AAF6-6E510B664B12}"/>
                </a:ext>
              </a:extLst>
            </p:cNvPr>
            <p:cNvSpPr txBox="1"/>
            <p:nvPr/>
          </p:nvSpPr>
          <p:spPr>
            <a:xfrm rot="21084129">
              <a:off x="6218580" y="2657887"/>
              <a:ext cx="1520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2 mutations away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8155DEF-F05B-3892-AC12-378CE09D586C}"/>
                </a:ext>
              </a:extLst>
            </p:cNvPr>
            <p:cNvSpPr txBox="1"/>
            <p:nvPr/>
          </p:nvSpPr>
          <p:spPr>
            <a:xfrm rot="21395310">
              <a:off x="7907778" y="2116118"/>
              <a:ext cx="1636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1 mutations away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C3F99F-1E99-BBA3-7213-6C0248BD4427}"/>
                </a:ext>
              </a:extLst>
            </p:cNvPr>
            <p:cNvSpPr txBox="1"/>
            <p:nvPr/>
          </p:nvSpPr>
          <p:spPr>
            <a:xfrm rot="16200000">
              <a:off x="-1385047" y="3390439"/>
              <a:ext cx="3982260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Probability of becoming supercritical before extinction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BB45029-7F84-730B-F23C-B9BCC236FBBC}"/>
                </a:ext>
              </a:extLst>
            </p:cNvPr>
            <p:cNvSpPr txBox="1"/>
            <p:nvPr/>
          </p:nvSpPr>
          <p:spPr>
            <a:xfrm>
              <a:off x="3445679" y="6143353"/>
              <a:ext cx="398226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</a:t>
              </a:r>
              <a:r>
                <a:rPr lang="en-US" b="1" baseline="-25000" dirty="0"/>
                <a:t>0 </a:t>
              </a:r>
              <a:r>
                <a:rPr lang="en-US" b="1" dirty="0"/>
                <a:t>of introduced pathogen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AD6392A-27B5-2C94-12B5-1A3AF20D6F73}"/>
                </a:ext>
              </a:extLst>
            </p:cNvPr>
            <p:cNvSpPr txBox="1"/>
            <p:nvPr/>
          </p:nvSpPr>
          <p:spPr>
            <a:xfrm>
              <a:off x="9953824" y="2643987"/>
              <a:ext cx="1857389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Number of mutations required, additive model (Antia et al 2003)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1207878-4C3A-208C-C634-B0C8F80D92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93298" y="1105786"/>
              <a:ext cx="318276" cy="1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DE7494E-0F22-A5E1-ED14-5423878013EC}"/>
                </a:ext>
              </a:extLst>
            </p:cNvPr>
            <p:cNvCxnSpPr>
              <a:cxnSpLocks/>
            </p:cNvCxnSpPr>
            <p:nvPr/>
          </p:nvCxnSpPr>
          <p:spPr>
            <a:xfrm>
              <a:off x="3087689" y="1105786"/>
              <a:ext cx="432421" cy="0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F19151D-52B9-2FFF-6D40-37D0407E69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772" y="1105786"/>
              <a:ext cx="517687" cy="1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A4717A4-B255-E956-0C71-4DDD61DE7749}"/>
                </a:ext>
              </a:extLst>
            </p:cNvPr>
            <p:cNvCxnSpPr>
              <a:cxnSpLocks/>
            </p:cNvCxnSpPr>
            <p:nvPr/>
          </p:nvCxnSpPr>
          <p:spPr>
            <a:xfrm>
              <a:off x="5879805" y="1105786"/>
              <a:ext cx="552893" cy="0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A6DAA65-499F-3B11-962C-FBCF3B534A49}"/>
                </a:ext>
              </a:extLst>
            </p:cNvPr>
            <p:cNvCxnSpPr>
              <a:cxnSpLocks/>
            </p:cNvCxnSpPr>
            <p:nvPr/>
          </p:nvCxnSpPr>
          <p:spPr>
            <a:xfrm>
              <a:off x="7427939" y="1127051"/>
              <a:ext cx="716601" cy="0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84F3F8B-981E-E7A4-7601-F4E5C91BE7C5}"/>
                </a:ext>
              </a:extLst>
            </p:cNvPr>
            <p:cNvCxnSpPr>
              <a:cxnSpLocks/>
            </p:cNvCxnSpPr>
            <p:nvPr/>
          </p:nvCxnSpPr>
          <p:spPr>
            <a:xfrm>
              <a:off x="9143999" y="1127051"/>
              <a:ext cx="823912" cy="0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390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0421E8D-0AC2-FCA8-C8C7-4E2A5F1252D3}"/>
              </a:ext>
            </a:extLst>
          </p:cNvPr>
          <p:cNvSpPr txBox="1"/>
          <p:nvPr/>
        </p:nvSpPr>
        <p:spPr>
          <a:xfrm>
            <a:off x="1030570" y="637241"/>
            <a:ext cx="9854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0.05                    	               0.1          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9A06D81-CCBF-3F0C-BFE1-ED31DE30B276}"/>
              </a:ext>
            </a:extLst>
          </p:cNvPr>
          <p:cNvGrpSpPr/>
          <p:nvPr/>
        </p:nvGrpSpPr>
        <p:grpSpPr>
          <a:xfrm>
            <a:off x="1252715" y="150780"/>
            <a:ext cx="8550241" cy="6207473"/>
            <a:chOff x="1252715" y="150780"/>
            <a:chExt cx="8550241" cy="620747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F23D4DA-08D8-9B06-786C-DCB1F505C299}"/>
                </a:ext>
              </a:extLst>
            </p:cNvPr>
            <p:cNvGrpSpPr/>
            <p:nvPr/>
          </p:nvGrpSpPr>
          <p:grpSpPr>
            <a:xfrm>
              <a:off x="1252715" y="150780"/>
              <a:ext cx="7751704" cy="6207473"/>
              <a:chOff x="1252715" y="150780"/>
              <a:chExt cx="7751704" cy="620747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61AD6CB-353C-4944-5D47-BD2DFC852E77}"/>
                  </a:ext>
                </a:extLst>
              </p:cNvPr>
              <p:cNvSpPr txBox="1"/>
              <p:nvPr/>
            </p:nvSpPr>
            <p:spPr>
              <a:xfrm>
                <a:off x="4086905" y="5896588"/>
                <a:ext cx="361393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R</a:t>
                </a:r>
                <a:r>
                  <a:rPr lang="en-US" sz="2400" baseline="-25000" dirty="0"/>
                  <a:t>0</a:t>
                </a:r>
                <a:r>
                  <a:rPr lang="en-US" sz="2400" i="1" baseline="-25000" dirty="0"/>
                  <a:t> </a:t>
                </a:r>
                <a:r>
                  <a:rPr lang="en-US" sz="2400" dirty="0"/>
                  <a:t>of introduced pathogen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58025F53-6181-6A0A-6055-2D3B808C61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22048" y="762675"/>
                <a:ext cx="0" cy="5031639"/>
              </a:xfrm>
              <a:prstGeom prst="straightConnector1">
                <a:avLst/>
              </a:prstGeom>
              <a:ln w="50800">
                <a:solidFill>
                  <a:srgbClr val="000000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2580C6-C65B-40C5-9280-7B4BA900E845}"/>
                  </a:ext>
                </a:extLst>
              </p:cNvPr>
              <p:cNvSpPr txBox="1"/>
              <p:nvPr/>
            </p:nvSpPr>
            <p:spPr>
              <a:xfrm rot="16200000">
                <a:off x="-1240225" y="2928473"/>
                <a:ext cx="54475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Beneficial mutation rate (infection</a:t>
                </a:r>
                <a:r>
                  <a:rPr lang="en-US" sz="2400" baseline="30000" dirty="0"/>
                  <a:t>-1</a:t>
                </a:r>
                <a:r>
                  <a:rPr lang="en-US" sz="2400" dirty="0"/>
                  <a:t>), 𝝁</a:t>
                </a: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BDB677B0-7284-CE5B-D658-D3E7E1C791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94080" y="621489"/>
                <a:ext cx="6913218" cy="16303"/>
              </a:xfrm>
              <a:prstGeom prst="straightConnector1">
                <a:avLst/>
              </a:prstGeom>
              <a:ln w="50800">
                <a:solidFill>
                  <a:srgbClr val="000000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F920D0-DAAC-EBA7-CD11-B1CB322C6069}"/>
                  </a:ext>
                </a:extLst>
              </p:cNvPr>
              <p:cNvSpPr txBox="1"/>
              <p:nvPr/>
            </p:nvSpPr>
            <p:spPr>
              <a:xfrm>
                <a:off x="2683997" y="150780"/>
                <a:ext cx="60985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Increase in fitness with mutation, 𝛔 </a:t>
                </a:r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A81F183-62F9-E787-C61C-B2651EF3F9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2047"/>
              <a:stretch>
                <a:fillRect/>
              </a:stretch>
            </p:blipFill>
            <p:spPr>
              <a:xfrm>
                <a:off x="5769864" y="1037590"/>
                <a:ext cx="3200400" cy="2624835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1BCB963-5445-3B92-B130-00AC8D073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2047"/>
              <a:stretch>
                <a:fillRect/>
              </a:stretch>
            </p:blipFill>
            <p:spPr>
              <a:xfrm>
                <a:off x="5804019" y="3346703"/>
                <a:ext cx="3200400" cy="2624835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73B31C3E-8894-DF77-F215-6D8C1B9E8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08789" y="3316634"/>
                <a:ext cx="3200400" cy="2679700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0A0337-15B9-F1C3-B024-09A550DADE9A}"/>
                  </a:ext>
                </a:extLst>
              </p:cNvPr>
              <p:cNvSpPr txBox="1"/>
              <p:nvPr/>
            </p:nvSpPr>
            <p:spPr>
              <a:xfrm rot="16200000">
                <a:off x="791758" y="3152447"/>
                <a:ext cx="355546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Log10 Spillover rate year</a:t>
                </a:r>
                <a:r>
                  <a:rPr lang="en-US" sz="2400" baseline="30000" dirty="0"/>
                  <a:t>-1</a:t>
                </a:r>
                <a:endParaRPr lang="en-US" sz="2400" dirty="0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8383853-578F-0541-8122-9CC2136F82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11634"/>
              <a:stretch>
                <a:fillRect/>
              </a:stretch>
            </p:blipFill>
            <p:spPr>
              <a:xfrm>
                <a:off x="2791177" y="982726"/>
                <a:ext cx="3200400" cy="2367948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49AD00F-3790-E226-B296-76CB489DBD7D}"/>
                  </a:ext>
                </a:extLst>
              </p:cNvPr>
              <p:cNvSpPr txBox="1"/>
              <p:nvPr/>
            </p:nvSpPr>
            <p:spPr>
              <a:xfrm>
                <a:off x="1803725" y="2072473"/>
                <a:ext cx="6944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10</a:t>
                </a:r>
                <a:r>
                  <a:rPr lang="en-US" sz="2400" baseline="30000" dirty="0"/>
                  <a:t>-4</a:t>
                </a:r>
                <a:endParaRPr lang="en-US" sz="24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0EA5A7-B5BF-D117-FCB3-F4EFEB8613D8}"/>
                  </a:ext>
                </a:extLst>
              </p:cNvPr>
              <p:cNvSpPr txBox="1"/>
              <p:nvPr/>
            </p:nvSpPr>
            <p:spPr>
              <a:xfrm>
                <a:off x="1803725" y="4230126"/>
                <a:ext cx="6944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10</a:t>
                </a:r>
                <a:r>
                  <a:rPr lang="en-US" sz="2400" baseline="30000" dirty="0"/>
                  <a:t>-3</a:t>
                </a:r>
                <a:endParaRPr lang="en-US" sz="2400" dirty="0"/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DA62D8-ED2D-5F01-CE7D-15CD91B5C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57118" y="3060973"/>
              <a:ext cx="945838" cy="11858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6638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E77DC06-07FB-963E-6112-A2B9DC226B80}"/>
              </a:ext>
            </a:extLst>
          </p:cNvPr>
          <p:cNvGrpSpPr/>
          <p:nvPr/>
        </p:nvGrpSpPr>
        <p:grpSpPr>
          <a:xfrm>
            <a:off x="2711302" y="1918741"/>
            <a:ext cx="6370124" cy="3963113"/>
            <a:chOff x="0" y="1918741"/>
            <a:chExt cx="6370124" cy="39631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1EA408-8090-9129-0FE7-6DC52923A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10" t="4159" r="15806"/>
            <a:stretch>
              <a:fillRect/>
            </a:stretch>
          </p:blipFill>
          <p:spPr>
            <a:xfrm>
              <a:off x="0" y="1918741"/>
              <a:ext cx="5459263" cy="396311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861EEC-218C-96ED-43BC-418A07CBB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24286" y="4260013"/>
              <a:ext cx="945838" cy="11858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521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18545</TotalTime>
  <Words>179</Words>
  <Application>Microsoft Macintosh PowerPoint</Application>
  <PresentationFormat>Widescreen</PresentationFormat>
  <Paragraphs>66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Manuscript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Supplement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Hirst, Cora</dc:creator>
  <cp:lastModifiedBy>Hirst, Cora</cp:lastModifiedBy>
  <cp:revision>224</cp:revision>
  <dcterms:created xsi:type="dcterms:W3CDTF">2025-10-21T13:38:03Z</dcterms:created>
  <dcterms:modified xsi:type="dcterms:W3CDTF">2026-09-29T17:07:52Z</dcterms:modified>
</cp:coreProperties>
</file>