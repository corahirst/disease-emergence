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312" r:id="rId3"/>
    <p:sldId id="319" r:id="rId4"/>
    <p:sldId id="321" r:id="rId5"/>
    <p:sldId id="324" r:id="rId6"/>
    <p:sldId id="311" r:id="rId7"/>
    <p:sldId id="320" r:id="rId8"/>
    <p:sldId id="322" r:id="rId9"/>
    <p:sldId id="32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627C2-4F5A-EC45-9A21-0B031E004765}" type="datetimeFigureOut">
              <a:rPr lang="en-US" smtClean="0"/>
              <a:t>7/15/25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4F5157-E716-474E-9CEB-3E3CC1B34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254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F5157-E716-474E-9CEB-3E3CC1B34A0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007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2696C-A4F8-3DE1-8610-DA7B83F05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3E7D43-CA95-CC8B-096E-58CB21FFCA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9DE9AC-6659-6800-536F-C01C4E4763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Through broken skin or mucous membranes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45A06-4D13-8415-80F1-9E20E5A4A4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3197-AADE-FC47-8F60-74504109953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8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2EC34-5C96-4165-5115-77837BE4F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0995B8-E2D5-DC44-5675-80ABEB052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A2AE0F-BF9D-FF43-CF76-573F646E6F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35BBF-EA97-D093-7975-3F7F2DFF20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3197-AADE-FC47-8F60-74504109953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946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C2F2F-A9F8-682B-52B8-3426C7D05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BD25BD-6C27-BBA9-CE55-A4842A2263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8504F-F88E-6B9F-8DE0-9AF35FA79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49E68-886C-F940-865D-D2B5BE38D99F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4402E-AC3D-042C-D407-D77C3DD0C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46201-DB6E-4744-796D-C2C16C607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3969-24BE-5441-A381-BC2E4422C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72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46391-0769-836B-D87E-3C9A0B183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C9CF4-1869-2AAD-B287-38FFACD87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6CFBC-AEA9-A1EE-C9CB-B773ED133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49E68-886C-F940-865D-D2B5BE38D99F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7D868-C1E5-563F-977A-9F88C7CB0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C9393-BA03-6A75-FAEF-A0D2DF006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3969-24BE-5441-A381-BC2E4422C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31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31A64-7633-B95C-2650-AB8D0802E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A7288-D010-45AC-11FA-F7BBC8F0A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60A65-76FA-30DC-EA40-BCAEBCB9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49E68-886C-F940-865D-D2B5BE38D99F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F6BD3-CCEC-164D-51C2-019467FD8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CC8FD-AEF8-B6D2-4929-A8F1E8FAE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3969-24BE-5441-A381-BC2E4422C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906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19367-63AB-AC4B-E73D-B0B88ED82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83687-E9A6-9401-5BC7-E815002F6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1D695-473C-868E-7F8A-A1494EF7D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F0256-358D-8834-4035-84DFB4661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49E68-886C-F940-865D-D2B5BE38D99F}" type="datetimeFigureOut">
              <a:rPr lang="en-US" smtClean="0"/>
              <a:t>7/15/25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4F4331-9FD8-58A0-1F48-ECB6542B1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51C7D-9EFF-C7C6-5639-99AEEF03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3969-24BE-5441-A381-BC2E4422C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281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713E-7192-394A-5EB4-B30D160D8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8CF0B-547B-9348-2ABD-9C00DBDB0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9E0313-6074-339D-6B9E-9510BE3EF3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DDAD69-6670-12AE-4EB5-4FD1ED7560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605C1F-34E3-CB75-307A-C5F0E8438D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6A8215-5AAD-319A-D537-1EA786F58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49E68-886C-F940-865D-D2B5BE38D99F}" type="datetimeFigureOut">
              <a:rPr lang="en-US" smtClean="0"/>
              <a:t>7/15/25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958D1C-9A27-2BDE-4CCD-7B6896E4F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17A867-CFEC-871A-3E29-4FA221069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3969-24BE-5441-A381-BC2E4422C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657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71F8E-8FBA-4DE9-8AA5-BECEB270C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DF47F-809A-04BB-ED88-5D5AD0DC2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49E68-886C-F940-865D-D2B5BE38D99F}" type="datetimeFigureOut">
              <a:rPr lang="en-US" smtClean="0"/>
              <a:t>7/15/25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2D3D3-296B-668A-2867-09061A501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31BF7-6765-77EB-5150-BAAB4F660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3969-24BE-5441-A381-BC2E4422C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959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853551-8154-3561-27F2-8621C86AE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49E68-886C-F940-865D-D2B5BE38D99F}" type="datetimeFigureOut">
              <a:rPr lang="en-US" smtClean="0"/>
              <a:t>7/15/25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32A02A-208B-533B-1D05-1B987057E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14A32-3B84-5A15-CD79-416A5E358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3969-24BE-5441-A381-BC2E4422C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54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FFB33-05AF-DD80-F129-23E4DD463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A281A-5BAB-CAE0-4F90-645619021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E977C0-D51C-741D-994F-F1F335E8E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050F27-63A1-732F-4F69-1DEB7ECF2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49E68-886C-F940-865D-D2B5BE38D99F}" type="datetimeFigureOut">
              <a:rPr lang="en-US" smtClean="0"/>
              <a:t>7/15/25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2BB2D-0528-8A50-AEE0-EE395EDFA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9BB31-9B60-FE5F-232E-522EB003E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3969-24BE-5441-A381-BC2E4422C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544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02CB1-83B4-2B76-CD81-D949D34AD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B984BE-E7B4-D22B-F7BE-9DB31CB44F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5491D1-5ADE-EF51-86D3-EF2A852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35E6D1-EFDB-FA02-A0D6-6ABAFFF27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49E68-886C-F940-865D-D2B5BE38D99F}" type="datetimeFigureOut">
              <a:rPr lang="en-US" smtClean="0"/>
              <a:t>7/15/25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5B7E9-6EB3-2F63-DA35-99170D83C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9010A-9FE1-864D-A137-7F681FAF0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3969-24BE-5441-A381-BC2E4422C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804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3DC70-B555-9D00-EB48-66080564B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0B6299-BB5A-2801-AE01-5D8978E4AB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A63E0-B08C-DAD5-B8DD-4575DE935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49E68-886C-F940-865D-D2B5BE38D99F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1B373-4D3B-1D02-BD30-894B3A472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2C71B-E086-BAB5-43CF-86FF39B98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3969-24BE-5441-A381-BC2E4422C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868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020931-8893-DA10-2DB0-1A9BD11A5C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E604C7-65A4-57B2-4689-2537F21FAC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B960D-2396-D98A-5072-D442D74E6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49E68-886C-F940-865D-D2B5BE38D99F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1FF4B-D9B1-196F-51F7-ADC10601A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05715-EECE-5817-7610-B9214B95F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C3969-24BE-5441-A381-BC2E4422C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242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AA65B5-77B9-43A7-B70F-585B30BEA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BE25F-9780-047A-326D-755B101B3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13852-8BE3-2573-B328-46FBBC6CF3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649E68-886C-F940-865D-D2B5BE38D99F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8CD9E-2D46-CE36-0781-CC898FAA9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6687F-ED1F-63ED-34C3-2D9E2A1AC0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BC3969-24BE-5441-A381-BC2E4422C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292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26" Type="http://schemas.openxmlformats.org/officeDocument/2006/relationships/image" Target="../media/image27.sv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svg"/><Relationship Id="rId20" Type="http://schemas.openxmlformats.org/officeDocument/2006/relationships/image" Target="../media/image21.svg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image" Target="../media/image25.svg"/><Relationship Id="rId32" Type="http://schemas.openxmlformats.org/officeDocument/2006/relationships/image" Target="../media/image33.sv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svg"/><Relationship Id="rId10" Type="http://schemas.openxmlformats.org/officeDocument/2006/relationships/image" Target="../media/image11.svg"/><Relationship Id="rId19" Type="http://schemas.openxmlformats.org/officeDocument/2006/relationships/image" Target="../media/image20.png"/><Relationship Id="rId31" Type="http://schemas.openxmlformats.org/officeDocument/2006/relationships/image" Target="../media/image32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Relationship Id="rId22" Type="http://schemas.openxmlformats.org/officeDocument/2006/relationships/image" Target="../media/image23.svg"/><Relationship Id="rId27" Type="http://schemas.openxmlformats.org/officeDocument/2006/relationships/image" Target="../media/image28.png"/><Relationship Id="rId30" Type="http://schemas.openxmlformats.org/officeDocument/2006/relationships/image" Target="../media/image31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The effect of population immunity on the emergence probability of zoonotic infections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news article&#10;&#10;AI-generated content may be incorrect.">
            <a:extLst>
              <a:ext uri="{FF2B5EF4-FFF2-40B4-BE49-F238E27FC236}">
                <a16:creationId xmlns:a16="http://schemas.microsoft.com/office/drawing/2014/main" id="{35225916-9B4A-D8B6-54FE-19E92A0E6C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06" y="1766248"/>
            <a:ext cx="7204517" cy="4351338"/>
          </a:xfrm>
        </p:spPr>
      </p:pic>
      <p:pic>
        <p:nvPicPr>
          <p:cNvPr id="11" name="Picture 10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6EF88B9B-5F10-1AAB-EE12-F6FFF611FD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8886" y="740414"/>
            <a:ext cx="5141914" cy="2107782"/>
          </a:xfrm>
          <a:prstGeom prst="rect">
            <a:avLst/>
          </a:prstGeom>
        </p:spPr>
      </p:pic>
      <p:pic>
        <p:nvPicPr>
          <p:cNvPr id="3" name="Picture 2" descr="A group of people walking in a street&#10;&#10;AI-generated content may be incorrect.">
            <a:extLst>
              <a:ext uri="{FF2B5EF4-FFF2-40B4-BE49-F238E27FC236}">
                <a16:creationId xmlns:a16="http://schemas.microsoft.com/office/drawing/2014/main" id="{31102D19-18FA-94B7-6E51-E9922E3E4F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1323" y="740414"/>
            <a:ext cx="4521200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233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555A2-59DC-D4D2-1297-BA90F39F5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 descr="Rabbit outline">
            <a:extLst>
              <a:ext uri="{FF2B5EF4-FFF2-40B4-BE49-F238E27FC236}">
                <a16:creationId xmlns:a16="http://schemas.microsoft.com/office/drawing/2014/main" id="{9B2BA8C0-0D40-569A-C549-982F248E5F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07525" y="1538844"/>
            <a:ext cx="914400" cy="914400"/>
          </a:xfrm>
          <a:prstGeom prst="rect">
            <a:avLst/>
          </a:prstGeom>
        </p:spPr>
      </p:pic>
      <p:pic>
        <p:nvPicPr>
          <p:cNvPr id="10" name="Graphic 9" descr="Rabbit outline">
            <a:extLst>
              <a:ext uri="{FF2B5EF4-FFF2-40B4-BE49-F238E27FC236}">
                <a16:creationId xmlns:a16="http://schemas.microsoft.com/office/drawing/2014/main" id="{6C6F1E20-585E-7390-FAAB-F37F2721B7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86776" y="1349088"/>
            <a:ext cx="914400" cy="914400"/>
          </a:xfrm>
          <a:prstGeom prst="rect">
            <a:avLst/>
          </a:prstGeom>
        </p:spPr>
      </p:pic>
      <p:pic>
        <p:nvPicPr>
          <p:cNvPr id="11" name="Graphic 10" descr="Rabbit outline">
            <a:extLst>
              <a:ext uri="{FF2B5EF4-FFF2-40B4-BE49-F238E27FC236}">
                <a16:creationId xmlns:a16="http://schemas.microsoft.com/office/drawing/2014/main" id="{8EE1BC0B-B790-31C8-D321-3580980B5A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8517" y="26717"/>
            <a:ext cx="914400" cy="914400"/>
          </a:xfrm>
          <a:prstGeom prst="rect">
            <a:avLst/>
          </a:prstGeom>
        </p:spPr>
      </p:pic>
      <p:pic>
        <p:nvPicPr>
          <p:cNvPr id="13" name="Graphic 12" descr="Rat with solid fill">
            <a:extLst>
              <a:ext uri="{FF2B5EF4-FFF2-40B4-BE49-F238E27FC236}">
                <a16:creationId xmlns:a16="http://schemas.microsoft.com/office/drawing/2014/main" id="{8A04BBC2-B0AB-855F-F0CB-B8B3436B65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05692" y="2453244"/>
            <a:ext cx="914400" cy="914400"/>
          </a:xfrm>
          <a:prstGeom prst="rect">
            <a:avLst/>
          </a:prstGeom>
        </p:spPr>
      </p:pic>
      <p:pic>
        <p:nvPicPr>
          <p:cNvPr id="14" name="Graphic 13" descr="Rat with solid fill">
            <a:extLst>
              <a:ext uri="{FF2B5EF4-FFF2-40B4-BE49-F238E27FC236}">
                <a16:creationId xmlns:a16="http://schemas.microsoft.com/office/drawing/2014/main" id="{C67FDBC1-DDFB-48CD-B272-D0FA55A671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68933" y="192475"/>
            <a:ext cx="914400" cy="914400"/>
          </a:xfrm>
          <a:prstGeom prst="rect">
            <a:avLst/>
          </a:prstGeom>
        </p:spPr>
      </p:pic>
      <p:pic>
        <p:nvPicPr>
          <p:cNvPr id="17" name="Graphic 16" descr="Monkey with solid fill">
            <a:extLst>
              <a:ext uri="{FF2B5EF4-FFF2-40B4-BE49-F238E27FC236}">
                <a16:creationId xmlns:a16="http://schemas.microsoft.com/office/drawing/2014/main" id="{2CF6B7B4-5E67-EE06-26FF-4D8CF7B142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11381" y="788966"/>
            <a:ext cx="914400" cy="914400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321C843-BB09-AB0C-309B-62602C3639CE}"/>
              </a:ext>
            </a:extLst>
          </p:cNvPr>
          <p:cNvCxnSpPr>
            <a:cxnSpLocks/>
          </p:cNvCxnSpPr>
          <p:nvPr/>
        </p:nvCxnSpPr>
        <p:spPr>
          <a:xfrm>
            <a:off x="3930734" y="1996044"/>
            <a:ext cx="1549728" cy="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Graphic 22" descr="Dance with solid fill">
            <a:extLst>
              <a:ext uri="{FF2B5EF4-FFF2-40B4-BE49-F238E27FC236}">
                <a16:creationId xmlns:a16="http://schemas.microsoft.com/office/drawing/2014/main" id="{642E4176-6383-BC15-0E09-90D5A1695DF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15616" y="1031908"/>
            <a:ext cx="1856512" cy="1856512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849B268-FC0D-3FD0-0C8D-F5F1A69E4740}"/>
              </a:ext>
            </a:extLst>
          </p:cNvPr>
          <p:cNvCxnSpPr>
            <a:cxnSpLocks/>
          </p:cNvCxnSpPr>
          <p:nvPr/>
        </p:nvCxnSpPr>
        <p:spPr>
          <a:xfrm>
            <a:off x="2326576" y="1996044"/>
            <a:ext cx="524492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A0E17C0-7ABD-2476-A145-C74FBB7B6FD9}"/>
              </a:ext>
            </a:extLst>
          </p:cNvPr>
          <p:cNvCxnSpPr>
            <a:cxnSpLocks/>
          </p:cNvCxnSpPr>
          <p:nvPr/>
        </p:nvCxnSpPr>
        <p:spPr>
          <a:xfrm flipH="1" flipV="1">
            <a:off x="1862695" y="758534"/>
            <a:ext cx="1057397" cy="97526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2228B9B-1437-3F81-01CA-A7E80FFDC21C}"/>
              </a:ext>
            </a:extLst>
          </p:cNvPr>
          <p:cNvCxnSpPr>
            <a:cxnSpLocks/>
          </p:cNvCxnSpPr>
          <p:nvPr/>
        </p:nvCxnSpPr>
        <p:spPr>
          <a:xfrm flipH="1" flipV="1">
            <a:off x="2847109" y="1009152"/>
            <a:ext cx="163286" cy="65574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3EB46C5-0349-D48B-8ED6-402C2D03A6AC}"/>
              </a:ext>
            </a:extLst>
          </p:cNvPr>
          <p:cNvCxnSpPr>
            <a:cxnSpLocks/>
          </p:cNvCxnSpPr>
          <p:nvPr/>
        </p:nvCxnSpPr>
        <p:spPr>
          <a:xfrm flipH="1">
            <a:off x="2694709" y="2384339"/>
            <a:ext cx="332509" cy="40969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BF306B8-D81F-0912-5168-5DFB01CE333B}"/>
              </a:ext>
            </a:extLst>
          </p:cNvPr>
          <p:cNvCxnSpPr>
            <a:cxnSpLocks/>
          </p:cNvCxnSpPr>
          <p:nvPr/>
        </p:nvCxnSpPr>
        <p:spPr>
          <a:xfrm flipH="1">
            <a:off x="1455717" y="3055915"/>
            <a:ext cx="5147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FB1C6D9-7F6F-385F-22CE-90F21B1A08AD}"/>
              </a:ext>
            </a:extLst>
          </p:cNvPr>
          <p:cNvCxnSpPr>
            <a:cxnSpLocks/>
          </p:cNvCxnSpPr>
          <p:nvPr/>
        </p:nvCxnSpPr>
        <p:spPr>
          <a:xfrm flipH="1" flipV="1">
            <a:off x="382730" y="1699532"/>
            <a:ext cx="517566" cy="9826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9406823-2B01-B3E4-C19F-FC85D70D761E}"/>
              </a:ext>
            </a:extLst>
          </p:cNvPr>
          <p:cNvCxnSpPr>
            <a:cxnSpLocks/>
          </p:cNvCxnSpPr>
          <p:nvPr/>
        </p:nvCxnSpPr>
        <p:spPr>
          <a:xfrm flipH="1">
            <a:off x="1351316" y="2190871"/>
            <a:ext cx="439631" cy="5174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613DD97-46C7-089D-CB36-EF6729BCBEE6}"/>
              </a:ext>
            </a:extLst>
          </p:cNvPr>
          <p:cNvCxnSpPr>
            <a:cxnSpLocks/>
          </p:cNvCxnSpPr>
          <p:nvPr/>
        </p:nvCxnSpPr>
        <p:spPr>
          <a:xfrm flipH="1">
            <a:off x="1326078" y="989675"/>
            <a:ext cx="180601" cy="70367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5ECD84E-E057-36D4-A6DD-0387C24FEA9E}"/>
              </a:ext>
            </a:extLst>
          </p:cNvPr>
          <p:cNvCxnSpPr>
            <a:cxnSpLocks/>
          </p:cNvCxnSpPr>
          <p:nvPr/>
        </p:nvCxnSpPr>
        <p:spPr>
          <a:xfrm flipH="1">
            <a:off x="877598" y="848129"/>
            <a:ext cx="337830" cy="3067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950F330-DDA9-BC6E-8672-A788D87524C0}"/>
              </a:ext>
            </a:extLst>
          </p:cNvPr>
          <p:cNvCxnSpPr>
            <a:cxnSpLocks/>
          </p:cNvCxnSpPr>
          <p:nvPr/>
        </p:nvCxnSpPr>
        <p:spPr>
          <a:xfrm>
            <a:off x="1345868" y="2031476"/>
            <a:ext cx="329912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553FFAC-959C-9419-C834-F70436931A0A}"/>
              </a:ext>
            </a:extLst>
          </p:cNvPr>
          <p:cNvCxnSpPr>
            <a:cxnSpLocks/>
          </p:cNvCxnSpPr>
          <p:nvPr/>
        </p:nvCxnSpPr>
        <p:spPr>
          <a:xfrm>
            <a:off x="7683335" y="1960164"/>
            <a:ext cx="1399680" cy="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Graphic 54" descr="Group with solid fill">
            <a:extLst>
              <a:ext uri="{FF2B5EF4-FFF2-40B4-BE49-F238E27FC236}">
                <a16:creationId xmlns:a16="http://schemas.microsoft.com/office/drawing/2014/main" id="{1789E423-1A2F-AC37-4A5E-CF6D158A1E5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05430" y="1079287"/>
            <a:ext cx="1761755" cy="1761755"/>
          </a:xfrm>
          <a:prstGeom prst="rect">
            <a:avLst/>
          </a:prstGeom>
        </p:spPr>
      </p:pic>
      <p:pic>
        <p:nvPicPr>
          <p:cNvPr id="59" name="Graphic 58" descr="Squirrel outline">
            <a:extLst>
              <a:ext uri="{FF2B5EF4-FFF2-40B4-BE49-F238E27FC236}">
                <a16:creationId xmlns:a16="http://schemas.microsoft.com/office/drawing/2014/main" id="{D0F4672B-4B8F-361C-B448-66D1FC2971D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5245" y="1490068"/>
            <a:ext cx="914400" cy="914400"/>
          </a:xfrm>
          <a:prstGeom prst="rect">
            <a:avLst/>
          </a:prstGeom>
        </p:spPr>
      </p:pic>
      <p:pic>
        <p:nvPicPr>
          <p:cNvPr id="60" name="Graphic 59" descr="Monkey with solid fill">
            <a:extLst>
              <a:ext uri="{FF2B5EF4-FFF2-40B4-BE49-F238E27FC236}">
                <a16:creationId xmlns:a16="http://schemas.microsoft.com/office/drawing/2014/main" id="{41BDE274-0ABE-8BF2-E8FE-699F2BDD508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3214" y="2563140"/>
            <a:ext cx="914400" cy="914400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D760900D-9A4A-D161-9F60-46D4D2349233}"/>
              </a:ext>
            </a:extLst>
          </p:cNvPr>
          <p:cNvSpPr txBox="1"/>
          <p:nvPr/>
        </p:nvSpPr>
        <p:spPr>
          <a:xfrm>
            <a:off x="3834741" y="2031476"/>
            <a:ext cx="19309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Bites, scratches, bushmeat hunting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CD2EE0B-CB72-24EC-FB3F-20EF0B96CD0C}"/>
              </a:ext>
            </a:extLst>
          </p:cNvPr>
          <p:cNvSpPr txBox="1"/>
          <p:nvPr/>
        </p:nvSpPr>
        <p:spPr>
          <a:xfrm>
            <a:off x="7566313" y="1996044"/>
            <a:ext cx="19309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Close contact with lesions, large droplets</a:t>
            </a:r>
          </a:p>
        </p:txBody>
      </p:sp>
      <p:pic>
        <p:nvPicPr>
          <p:cNvPr id="15" name="Graphic 14" descr="Germ with solid fill">
            <a:extLst>
              <a:ext uri="{FF2B5EF4-FFF2-40B4-BE49-F238E27FC236}">
                <a16:creationId xmlns:a16="http://schemas.microsoft.com/office/drawing/2014/main" id="{BB6A89C6-B674-8547-7F64-E0BE3032D18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7801" y="4270987"/>
            <a:ext cx="578922" cy="578922"/>
          </a:xfrm>
          <a:prstGeom prst="rect">
            <a:avLst/>
          </a:prstGeom>
        </p:spPr>
      </p:pic>
      <p:pic>
        <p:nvPicPr>
          <p:cNvPr id="20" name="Graphic 19" descr="Germ with solid fill">
            <a:extLst>
              <a:ext uri="{FF2B5EF4-FFF2-40B4-BE49-F238E27FC236}">
                <a16:creationId xmlns:a16="http://schemas.microsoft.com/office/drawing/2014/main" id="{F6B50690-2811-9AF6-4F1C-C3FCD4EFE22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34309" y="4108123"/>
            <a:ext cx="578922" cy="578922"/>
          </a:xfrm>
          <a:prstGeom prst="rect">
            <a:avLst/>
          </a:prstGeom>
        </p:spPr>
      </p:pic>
      <p:pic>
        <p:nvPicPr>
          <p:cNvPr id="22" name="Graphic 21" descr="Germ with solid fill">
            <a:extLst>
              <a:ext uri="{FF2B5EF4-FFF2-40B4-BE49-F238E27FC236}">
                <a16:creationId xmlns:a16="http://schemas.microsoft.com/office/drawing/2014/main" id="{63CF0412-2BB0-AA59-4159-B8F64A60352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005692" y="4169417"/>
            <a:ext cx="578922" cy="578922"/>
          </a:xfrm>
          <a:prstGeom prst="rect">
            <a:avLst/>
          </a:prstGeom>
        </p:spPr>
      </p:pic>
      <p:pic>
        <p:nvPicPr>
          <p:cNvPr id="25" name="Graphic 24" descr="Germ with solid fill">
            <a:extLst>
              <a:ext uri="{FF2B5EF4-FFF2-40B4-BE49-F238E27FC236}">
                <a16:creationId xmlns:a16="http://schemas.microsoft.com/office/drawing/2014/main" id="{7CA15D92-163D-4EDD-6339-0579498BB5E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419409" y="4634112"/>
            <a:ext cx="578922" cy="578922"/>
          </a:xfrm>
          <a:prstGeom prst="rect">
            <a:avLst/>
          </a:prstGeom>
        </p:spPr>
      </p:pic>
      <p:pic>
        <p:nvPicPr>
          <p:cNvPr id="26" name="Graphic 25" descr="Germ with solid fill">
            <a:extLst>
              <a:ext uri="{FF2B5EF4-FFF2-40B4-BE49-F238E27FC236}">
                <a16:creationId xmlns:a16="http://schemas.microsoft.com/office/drawing/2014/main" id="{972E3303-281E-C83D-030E-B9AAF02498A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14185" y="4704673"/>
            <a:ext cx="578922" cy="578922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EE099F6-34F2-624A-E301-E59FEC912EB6}"/>
              </a:ext>
            </a:extLst>
          </p:cNvPr>
          <p:cNvCxnSpPr>
            <a:cxnSpLocks/>
          </p:cNvCxnSpPr>
          <p:nvPr/>
        </p:nvCxnSpPr>
        <p:spPr>
          <a:xfrm>
            <a:off x="2697062" y="4726865"/>
            <a:ext cx="582879" cy="0"/>
          </a:xfrm>
          <a:prstGeom prst="straightConnector1">
            <a:avLst/>
          </a:prstGeom>
          <a:ln w="38100">
            <a:solidFill>
              <a:srgbClr val="FFC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Graphic 31" descr="Dance with solid fill">
            <a:extLst>
              <a:ext uri="{FF2B5EF4-FFF2-40B4-BE49-F238E27FC236}">
                <a16:creationId xmlns:a16="http://schemas.microsoft.com/office/drawing/2014/main" id="{5A4FBEF5-3C95-0D88-1CCE-C58D8AEE714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291071" y="3793875"/>
            <a:ext cx="1856512" cy="1856512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08B869D-467A-FE90-4FFB-0E1DEA44357F}"/>
              </a:ext>
            </a:extLst>
          </p:cNvPr>
          <p:cNvCxnSpPr>
            <a:cxnSpLocks/>
          </p:cNvCxnSpPr>
          <p:nvPr/>
        </p:nvCxnSpPr>
        <p:spPr>
          <a:xfrm>
            <a:off x="5018621" y="4687045"/>
            <a:ext cx="747098" cy="0"/>
          </a:xfrm>
          <a:prstGeom prst="straightConnector1">
            <a:avLst/>
          </a:prstGeom>
          <a:ln w="57150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Graphic 34" descr="Group with solid fill">
            <a:extLst>
              <a:ext uri="{FF2B5EF4-FFF2-40B4-BE49-F238E27FC236}">
                <a16:creationId xmlns:a16="http://schemas.microsoft.com/office/drawing/2014/main" id="{FDB79557-797D-0BB7-A365-DABD89E28FF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275204" y="4326679"/>
            <a:ext cx="1761755" cy="1761755"/>
          </a:xfrm>
          <a:prstGeom prst="rect">
            <a:avLst/>
          </a:prstGeom>
        </p:spPr>
      </p:pic>
      <p:pic>
        <p:nvPicPr>
          <p:cNvPr id="41" name="Graphic 40" descr="Germ with solid fill">
            <a:extLst>
              <a:ext uri="{FF2B5EF4-FFF2-40B4-BE49-F238E27FC236}">
                <a16:creationId xmlns:a16="http://schemas.microsoft.com/office/drawing/2014/main" id="{9B70AD86-D176-5615-D381-C3E53D89ECF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671332" y="4020661"/>
            <a:ext cx="461665" cy="461665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56A961A2-B1D4-FBEB-7D44-2B8A0EE4754F}"/>
              </a:ext>
            </a:extLst>
          </p:cNvPr>
          <p:cNvSpPr txBox="1"/>
          <p:nvPr/>
        </p:nvSpPr>
        <p:spPr>
          <a:xfrm>
            <a:off x="0" y="6149958"/>
            <a:ext cx="10733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“Tailor-made”: virus acquires mutations during stuttering human-human transmission after spillover</a:t>
            </a:r>
          </a:p>
          <a:p>
            <a:endParaRPr lang="en-US" b="1" dirty="0"/>
          </a:p>
        </p:txBody>
      </p:sp>
      <p:pic>
        <p:nvPicPr>
          <p:cNvPr id="49" name="Graphic 48" descr="Dance with solid fill">
            <a:extLst>
              <a:ext uri="{FF2B5EF4-FFF2-40B4-BE49-F238E27FC236}">
                <a16:creationId xmlns:a16="http://schemas.microsoft.com/office/drawing/2014/main" id="{175544D2-7FC7-26F2-C7D4-A1703ADF6D3A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605639" y="3713191"/>
            <a:ext cx="1856512" cy="1856512"/>
          </a:xfrm>
          <a:prstGeom prst="rect">
            <a:avLst/>
          </a:prstGeom>
        </p:spPr>
      </p:pic>
      <p:pic>
        <p:nvPicPr>
          <p:cNvPr id="50" name="Graphic 49" descr="Dance with solid fill">
            <a:extLst>
              <a:ext uri="{FF2B5EF4-FFF2-40B4-BE49-F238E27FC236}">
                <a16:creationId xmlns:a16="http://schemas.microsoft.com/office/drawing/2014/main" id="{D605E190-0567-53D2-24B9-631AB4369185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820694" y="3686331"/>
            <a:ext cx="1856512" cy="1856512"/>
          </a:xfrm>
          <a:prstGeom prst="rect">
            <a:avLst/>
          </a:prstGeom>
        </p:spPr>
      </p:pic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7777FB8-98E3-2A66-0D99-7B447A8B3FF9}"/>
              </a:ext>
            </a:extLst>
          </p:cNvPr>
          <p:cNvCxnSpPr>
            <a:cxnSpLocks/>
          </p:cNvCxnSpPr>
          <p:nvPr/>
        </p:nvCxnSpPr>
        <p:spPr>
          <a:xfrm>
            <a:off x="7205978" y="4678425"/>
            <a:ext cx="754766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4" name="Graphic 53" descr="Group with solid fill">
            <a:extLst>
              <a:ext uri="{FF2B5EF4-FFF2-40B4-BE49-F238E27FC236}">
                <a16:creationId xmlns:a16="http://schemas.microsoft.com/office/drawing/2014/main" id="{3E6E4652-1D08-6856-B409-3934B65BCE3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292444" y="3091761"/>
            <a:ext cx="1761755" cy="1761755"/>
          </a:xfrm>
          <a:prstGeom prst="rect">
            <a:avLst/>
          </a:prstGeom>
        </p:spPr>
      </p:pic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6756DC1-D780-1636-439B-CE904FD0135D}"/>
              </a:ext>
            </a:extLst>
          </p:cNvPr>
          <p:cNvCxnSpPr>
            <a:cxnSpLocks/>
          </p:cNvCxnSpPr>
          <p:nvPr/>
        </p:nvCxnSpPr>
        <p:spPr>
          <a:xfrm flipV="1">
            <a:off x="9746605" y="4194787"/>
            <a:ext cx="407040" cy="1524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C10E0F9-8E3C-DFD6-97C4-A74380C7CB58}"/>
              </a:ext>
            </a:extLst>
          </p:cNvPr>
          <p:cNvCxnSpPr>
            <a:cxnSpLocks/>
          </p:cNvCxnSpPr>
          <p:nvPr/>
        </p:nvCxnSpPr>
        <p:spPr>
          <a:xfrm>
            <a:off x="9674170" y="4824886"/>
            <a:ext cx="394943" cy="16456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977617EF-994A-09F0-E106-6E1E83BEBA83}"/>
              </a:ext>
            </a:extLst>
          </p:cNvPr>
          <p:cNvSpPr txBox="1"/>
          <p:nvPr/>
        </p:nvSpPr>
        <p:spPr>
          <a:xfrm>
            <a:off x="10615201" y="3025915"/>
            <a:ext cx="168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Epidemic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07C0D5A-9315-695C-D3A5-CDADE1E94EF9}"/>
              </a:ext>
            </a:extLst>
          </p:cNvPr>
          <p:cNvSpPr txBox="1"/>
          <p:nvPr/>
        </p:nvSpPr>
        <p:spPr>
          <a:xfrm>
            <a:off x="7367617" y="5254475"/>
            <a:ext cx="2665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Highly transmissible in humans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ED7A4B2-08E7-F1C9-49B5-96403B63C30A}"/>
              </a:ext>
            </a:extLst>
          </p:cNvPr>
          <p:cNvSpPr txBox="1"/>
          <p:nvPr/>
        </p:nvSpPr>
        <p:spPr>
          <a:xfrm>
            <a:off x="8101445" y="187766"/>
            <a:ext cx="4090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How can Mpox cause an epidemic? </a:t>
            </a:r>
          </a:p>
        </p:txBody>
      </p:sp>
      <p:pic>
        <p:nvPicPr>
          <p:cNvPr id="67" name="Graphic 66" descr="Germ with solid fill">
            <a:extLst>
              <a:ext uri="{FF2B5EF4-FFF2-40B4-BE49-F238E27FC236}">
                <a16:creationId xmlns:a16="http://schemas.microsoft.com/office/drawing/2014/main" id="{DC74984B-5A3B-50B0-7269-29218AF4E837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096642" y="3722980"/>
            <a:ext cx="461665" cy="461665"/>
          </a:xfrm>
          <a:prstGeom prst="rect">
            <a:avLst/>
          </a:prstGeom>
        </p:spPr>
      </p:pic>
      <p:pic>
        <p:nvPicPr>
          <p:cNvPr id="68" name="Graphic 67" descr="Germ with solid fill">
            <a:extLst>
              <a:ext uri="{FF2B5EF4-FFF2-40B4-BE49-F238E27FC236}">
                <a16:creationId xmlns:a16="http://schemas.microsoft.com/office/drawing/2014/main" id="{D57D6F17-C47A-21D2-7188-E77CBD5A33BD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538937" y="3824605"/>
            <a:ext cx="461665" cy="46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189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E58C9-4482-3129-09B8-5875716FC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R0 &gt; 1 Theory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9D8D0-9A9B-A7B9-6AA0-11B2595E2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Deterministic simulation</a:t>
            </a:r>
          </a:p>
          <a:p>
            <a:r>
              <a:rPr lang="en-US" dirty="0"/>
              <a:t>Stochastic Simulation</a:t>
            </a:r>
          </a:p>
        </p:txBody>
      </p:sp>
    </p:spTree>
    <p:extLst>
      <p:ext uri="{BB962C8B-B14F-4D97-AF65-F5344CB8AC3E}">
        <p14:creationId xmlns:p14="http://schemas.microsoft.com/office/powerpoint/2010/main" val="3810528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03FB8DCB-DA1F-ABBE-7CC4-FC91E5AB5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30" y="228600"/>
            <a:ext cx="6582032" cy="658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622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B82DE-A333-9436-B116-9770AF9B5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5D994AC-58F5-F3AC-3F89-6B9E126C2C0E}"/>
              </a:ext>
            </a:extLst>
          </p:cNvPr>
          <p:cNvSpPr txBox="1"/>
          <p:nvPr/>
        </p:nvSpPr>
        <p:spPr>
          <a:xfrm>
            <a:off x="457200" y="403761"/>
            <a:ext cx="7736733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How does the emergence of highly infectious disease depend on:</a:t>
            </a:r>
          </a:p>
          <a:p>
            <a:r>
              <a:rPr lang="en-US" sz="1400" dirty="0"/>
              <a:t>The rate of acquiring beneficial mutations</a:t>
            </a:r>
          </a:p>
          <a:p>
            <a:r>
              <a:rPr lang="en-US" sz="1400" dirty="0"/>
              <a:t>R0 of the first infection </a:t>
            </a:r>
          </a:p>
          <a:p>
            <a:r>
              <a:rPr lang="en-US" sz="1400" b="1" dirty="0"/>
              <a:t>Number of mutations required to adapt 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F8E37A5-A86D-971A-44E2-1B860D835ADE}"/>
              </a:ext>
            </a:extLst>
          </p:cNvPr>
          <p:cNvGrpSpPr/>
          <p:nvPr/>
        </p:nvGrpSpPr>
        <p:grpSpPr>
          <a:xfrm>
            <a:off x="2192609" y="2073577"/>
            <a:ext cx="7854326" cy="4972374"/>
            <a:chOff x="2192609" y="2073577"/>
            <a:chExt cx="7854326" cy="4972374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5187513-94D0-20F6-C231-0707509F2FC2}"/>
                </a:ext>
              </a:extLst>
            </p:cNvPr>
            <p:cNvCxnSpPr>
              <a:cxnSpLocks/>
            </p:cNvCxnSpPr>
            <p:nvPr/>
          </p:nvCxnSpPr>
          <p:spPr>
            <a:xfrm>
              <a:off x="4184703" y="2549316"/>
              <a:ext cx="0" cy="3356975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2D1D2A14-A3B7-7DE0-5A43-74D2B695BF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8326" y="3735980"/>
              <a:ext cx="670250" cy="402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B0E43FC4-6AA1-10BC-88E0-F5BCC6EC76CE}"/>
                </a:ext>
              </a:extLst>
            </p:cNvPr>
            <p:cNvSpPr/>
            <p:nvPr/>
          </p:nvSpPr>
          <p:spPr>
            <a:xfrm rot="16200000">
              <a:off x="2676663" y="3329923"/>
              <a:ext cx="205539" cy="1905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F8AD0A4-79FB-D5AE-2B8C-8E1966F1A421}"/>
                </a:ext>
              </a:extLst>
            </p:cNvPr>
            <p:cNvSpPr/>
            <p:nvPr/>
          </p:nvSpPr>
          <p:spPr>
            <a:xfrm rot="16200000">
              <a:off x="4629399" y="3623731"/>
              <a:ext cx="205539" cy="1905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BE0535C8-E19E-7B30-AE71-3418D0377C9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191665" y="3457246"/>
              <a:ext cx="4621" cy="49642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20846DF-5AF0-E1F9-BE07-78D1A7A911C4}"/>
                </a:ext>
              </a:extLst>
            </p:cNvPr>
            <p:cNvSpPr/>
            <p:nvPr/>
          </p:nvSpPr>
          <p:spPr>
            <a:xfrm rot="16200000">
              <a:off x="5560333" y="3609355"/>
              <a:ext cx="205539" cy="1905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CD3FF9DE-65FF-AB7B-83D8-9CFA0B413882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974460" y="3757373"/>
              <a:ext cx="275737" cy="44251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C6414574-AD0C-C342-7A00-0297F66F8FF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974459" y="3211034"/>
              <a:ext cx="275737" cy="44251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FEBD10E-9FDD-65FB-0FB4-0FD16304553E}"/>
                </a:ext>
              </a:extLst>
            </p:cNvPr>
            <p:cNvSpPr/>
            <p:nvPr/>
          </p:nvSpPr>
          <p:spPr>
            <a:xfrm rot="16200000">
              <a:off x="6401409" y="4119749"/>
              <a:ext cx="205539" cy="1905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B2D17173-36BD-8FE0-E322-E931597923A4}"/>
                </a:ext>
              </a:extLst>
            </p:cNvPr>
            <p:cNvSpPr/>
            <p:nvPr/>
          </p:nvSpPr>
          <p:spPr>
            <a:xfrm rot="16200000">
              <a:off x="6401408" y="3127712"/>
              <a:ext cx="205539" cy="1905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104D3619-26AC-C390-6733-F2569B4779E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949297" y="3967641"/>
              <a:ext cx="4621" cy="49642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21353742-6B0D-DCCE-D7BA-60F95359D0BB}"/>
                </a:ext>
              </a:extLst>
            </p:cNvPr>
            <p:cNvSpPr/>
            <p:nvPr/>
          </p:nvSpPr>
          <p:spPr>
            <a:xfrm rot="16200000">
              <a:off x="7317965" y="4119750"/>
              <a:ext cx="205539" cy="1905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3B5207D1-E8EC-9A57-B8E1-2EEE6087B4B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724903" y="4318090"/>
              <a:ext cx="275737" cy="44251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2CCEF7F0-1853-22E9-71C6-2C29B57A9CB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724902" y="3642355"/>
              <a:ext cx="275737" cy="44251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D3576E20-763A-DF6E-441E-583B7D3A43B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942108" y="2946849"/>
              <a:ext cx="4621" cy="49642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0AB64584-2F0F-E276-20D6-81E78D08338A}"/>
                </a:ext>
              </a:extLst>
            </p:cNvPr>
            <p:cNvSpPr/>
            <p:nvPr/>
          </p:nvSpPr>
          <p:spPr>
            <a:xfrm rot="16200000">
              <a:off x="7310776" y="3098958"/>
              <a:ext cx="205539" cy="1905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50F2D1A-F918-2DC7-55C3-13D3266E0711}"/>
                </a:ext>
              </a:extLst>
            </p:cNvPr>
            <p:cNvSpPr/>
            <p:nvPr/>
          </p:nvSpPr>
          <p:spPr>
            <a:xfrm rot="16200000">
              <a:off x="8139270" y="4710688"/>
              <a:ext cx="205539" cy="1905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2A719B29-9938-BAC6-E0D6-2CFFD7D75C7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53397" y="4858707"/>
              <a:ext cx="275737" cy="44251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490A0877-B423-5AE2-18AC-152842B2B56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553396" y="4312368"/>
              <a:ext cx="275737" cy="44251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2A1F60B3-AF26-B468-C15B-4372C1E125F4}"/>
                </a:ext>
              </a:extLst>
            </p:cNvPr>
            <p:cNvSpPr/>
            <p:nvPr/>
          </p:nvSpPr>
          <p:spPr>
            <a:xfrm rot="16200000">
              <a:off x="8980346" y="5221083"/>
              <a:ext cx="205539" cy="1905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767336A-B311-AE5A-68A9-229E6F917BE8}"/>
                </a:ext>
              </a:extLst>
            </p:cNvPr>
            <p:cNvSpPr/>
            <p:nvPr/>
          </p:nvSpPr>
          <p:spPr>
            <a:xfrm rot="16200000">
              <a:off x="8980345" y="4229046"/>
              <a:ext cx="205539" cy="1905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8778A3F8-2EDD-9C4D-491C-D27385E87A56}"/>
                </a:ext>
              </a:extLst>
            </p:cNvPr>
            <p:cNvSpPr/>
            <p:nvPr/>
          </p:nvSpPr>
          <p:spPr>
            <a:xfrm rot="16200000">
              <a:off x="8139271" y="3506584"/>
              <a:ext cx="205539" cy="1905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B75ADA9E-9C9C-08C9-6171-91484ABFFAC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553398" y="3654603"/>
              <a:ext cx="275737" cy="44251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7DB2751F-4340-3C4C-3A87-D9C49295300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553397" y="3108264"/>
              <a:ext cx="275737" cy="44251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05A0E715-790F-4658-8E00-919EB6DBCC72}"/>
                </a:ext>
              </a:extLst>
            </p:cNvPr>
            <p:cNvSpPr/>
            <p:nvPr/>
          </p:nvSpPr>
          <p:spPr>
            <a:xfrm rot="16200000">
              <a:off x="8980347" y="4016979"/>
              <a:ext cx="205539" cy="1905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4DF464D-42B8-A4C2-93ED-9E94BB5C1491}"/>
                </a:ext>
              </a:extLst>
            </p:cNvPr>
            <p:cNvSpPr/>
            <p:nvPr/>
          </p:nvSpPr>
          <p:spPr>
            <a:xfrm rot="16200000">
              <a:off x="8980346" y="3024942"/>
              <a:ext cx="205539" cy="1905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E396381-C141-D9FD-B37E-5C82F19797E9}"/>
                </a:ext>
              </a:extLst>
            </p:cNvPr>
            <p:cNvSpPr txBox="1"/>
            <p:nvPr/>
          </p:nvSpPr>
          <p:spPr>
            <a:xfrm>
              <a:off x="7602594" y="2967245"/>
              <a:ext cx="12620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†</a:t>
              </a:r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32002005-A647-E9B1-4061-DEC8B5D271A7}"/>
                </a:ext>
              </a:extLst>
            </p:cNvPr>
            <p:cNvCxnSpPr>
              <a:cxnSpLocks/>
            </p:cNvCxnSpPr>
            <p:nvPr/>
          </p:nvCxnSpPr>
          <p:spPr>
            <a:xfrm>
              <a:off x="7826868" y="2549316"/>
              <a:ext cx="0" cy="3356975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865C387-626F-2038-8F38-81A5B6C96D8C}"/>
                </a:ext>
              </a:extLst>
            </p:cNvPr>
            <p:cNvSpPr txBox="1"/>
            <p:nvPr/>
          </p:nvSpPr>
          <p:spPr>
            <a:xfrm>
              <a:off x="2206239" y="5433716"/>
              <a:ext cx="157498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Introduction </a:t>
              </a:r>
            </a:p>
            <a:p>
              <a:pPr algn="ctr"/>
              <a:r>
                <a:rPr lang="en-US" sz="1400" b="1" dirty="0"/>
                <a:t>(from reservoir)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31C4F66E-D5FC-8CB3-D5AD-8490C175665A}"/>
                </a:ext>
              </a:extLst>
            </p:cNvPr>
            <p:cNvSpPr txBox="1"/>
            <p:nvPr/>
          </p:nvSpPr>
          <p:spPr>
            <a:xfrm>
              <a:off x="4647895" y="5097106"/>
              <a:ext cx="246317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Adaptive evolution during stuttering chains of transmission in humans</a:t>
              </a: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56165190-95F4-DE59-8FD0-ADEF88131489}"/>
                </a:ext>
              </a:extLst>
            </p:cNvPr>
            <p:cNvSpPr/>
            <p:nvPr/>
          </p:nvSpPr>
          <p:spPr>
            <a:xfrm rot="16200000">
              <a:off x="2332943" y="3738069"/>
              <a:ext cx="205539" cy="1905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48B771A1-3C18-ABDA-F149-8AF0FD70544D}"/>
                </a:ext>
              </a:extLst>
            </p:cNvPr>
            <p:cNvSpPr/>
            <p:nvPr/>
          </p:nvSpPr>
          <p:spPr>
            <a:xfrm rot="16200000">
              <a:off x="2448692" y="4291130"/>
              <a:ext cx="205539" cy="1905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A202D8AA-5CE0-BB16-DF0F-85594A93B6B6}"/>
                </a:ext>
              </a:extLst>
            </p:cNvPr>
            <p:cNvSpPr/>
            <p:nvPr/>
          </p:nvSpPr>
          <p:spPr>
            <a:xfrm rot="16200000">
              <a:off x="3004191" y="4236050"/>
              <a:ext cx="205539" cy="1905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C1200BBC-B35D-8524-9CA0-AA6467A495BE}"/>
                </a:ext>
              </a:extLst>
            </p:cNvPr>
            <p:cNvSpPr/>
            <p:nvPr/>
          </p:nvSpPr>
          <p:spPr>
            <a:xfrm rot="16200000">
              <a:off x="3435915" y="2570595"/>
              <a:ext cx="205539" cy="1905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6981F7E5-607D-D80F-AC02-FB998155362E}"/>
                </a:ext>
              </a:extLst>
            </p:cNvPr>
            <p:cNvSpPr/>
            <p:nvPr/>
          </p:nvSpPr>
          <p:spPr>
            <a:xfrm>
              <a:off x="3684360" y="2073577"/>
              <a:ext cx="4973242" cy="575580"/>
            </a:xfrm>
            <a:custGeom>
              <a:avLst/>
              <a:gdLst>
                <a:gd name="connsiteX0" fmla="*/ 0 w 5655501"/>
                <a:gd name="connsiteY0" fmla="*/ 732782 h 732782"/>
                <a:gd name="connsiteX1" fmla="*/ 2749463 w 5655501"/>
                <a:gd name="connsiteY1" fmla="*/ 9 h 732782"/>
                <a:gd name="connsiteX2" fmla="*/ 5655501 w 5655501"/>
                <a:gd name="connsiteY2" fmla="*/ 720256 h 732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55501" h="732782">
                  <a:moveTo>
                    <a:pt x="0" y="732782"/>
                  </a:moveTo>
                  <a:cubicBezTo>
                    <a:pt x="903440" y="367439"/>
                    <a:pt x="1806880" y="2097"/>
                    <a:pt x="2749463" y="9"/>
                  </a:cubicBezTo>
                  <a:cubicBezTo>
                    <a:pt x="3692047" y="-2079"/>
                    <a:pt x="4673774" y="359088"/>
                    <a:pt x="5655501" y="720256"/>
                  </a:cubicBezTo>
                </a:path>
              </a:pathLst>
            </a:custGeom>
            <a:ln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E18A987E-4F7A-6F7A-3835-6E40B05D2F4D}"/>
                </a:ext>
              </a:extLst>
            </p:cNvPr>
            <p:cNvSpPr txBox="1"/>
            <p:nvPr/>
          </p:nvSpPr>
          <p:spPr>
            <a:xfrm>
              <a:off x="5012856" y="2182545"/>
              <a:ext cx="21571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(pre-adaptation, R0 &gt; 1)</a:t>
              </a:r>
            </a:p>
          </p:txBody>
        </p:sp>
        <p:sp>
          <p:nvSpPr>
            <p:cNvPr id="99" name="Arc 98">
              <a:extLst>
                <a:ext uri="{FF2B5EF4-FFF2-40B4-BE49-F238E27FC236}">
                  <a16:creationId xmlns:a16="http://schemas.microsoft.com/office/drawing/2014/main" id="{AEB9450A-CC51-26AF-41D9-E1D71ECA44FD}"/>
                </a:ext>
              </a:extLst>
            </p:cNvPr>
            <p:cNvSpPr/>
            <p:nvPr/>
          </p:nvSpPr>
          <p:spPr>
            <a:xfrm rot="18967714">
              <a:off x="3424584" y="5498985"/>
              <a:ext cx="1572016" cy="1546965"/>
            </a:xfrm>
            <a:prstGeom prst="arc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Arc 99">
              <a:extLst>
                <a:ext uri="{FF2B5EF4-FFF2-40B4-BE49-F238E27FC236}">
                  <a16:creationId xmlns:a16="http://schemas.microsoft.com/office/drawing/2014/main" id="{968FD436-5BA6-03D5-6D47-372D62D968BB}"/>
                </a:ext>
              </a:extLst>
            </p:cNvPr>
            <p:cNvSpPr/>
            <p:nvPr/>
          </p:nvSpPr>
          <p:spPr>
            <a:xfrm rot="18967714">
              <a:off x="6998425" y="5498986"/>
              <a:ext cx="1572016" cy="1546965"/>
            </a:xfrm>
            <a:prstGeom prst="arc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0D281CE0-CD37-ECFE-6CCE-CF8154845311}"/>
                </a:ext>
              </a:extLst>
            </p:cNvPr>
            <p:cNvSpPr txBox="1"/>
            <p:nvPr/>
          </p:nvSpPr>
          <p:spPr>
            <a:xfrm>
              <a:off x="7602594" y="5948908"/>
              <a:ext cx="60506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R0 = 1</a:t>
              </a:r>
            </a:p>
          </p:txBody>
        </p: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01CFCE7E-3F95-E6C3-3C97-A416E149E7A4}"/>
                </a:ext>
              </a:extLst>
            </p:cNvPr>
            <p:cNvCxnSpPr>
              <a:cxnSpLocks/>
            </p:cNvCxnSpPr>
            <p:nvPr/>
          </p:nvCxnSpPr>
          <p:spPr>
            <a:xfrm>
              <a:off x="4134599" y="6432385"/>
              <a:ext cx="369226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63B7F7DC-2A7F-AE63-E3E6-E6549FF2D9B1}"/>
                </a:ext>
              </a:extLst>
            </p:cNvPr>
            <p:cNvCxnSpPr>
              <a:cxnSpLocks/>
            </p:cNvCxnSpPr>
            <p:nvPr/>
          </p:nvCxnSpPr>
          <p:spPr>
            <a:xfrm>
              <a:off x="7826868" y="6350966"/>
              <a:ext cx="0" cy="1628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687A4300-62A8-7579-54F9-554C0A4F3EB1}"/>
                </a:ext>
              </a:extLst>
            </p:cNvPr>
            <p:cNvCxnSpPr>
              <a:cxnSpLocks/>
            </p:cNvCxnSpPr>
            <p:nvPr/>
          </p:nvCxnSpPr>
          <p:spPr>
            <a:xfrm>
              <a:off x="4134599" y="6684993"/>
              <a:ext cx="4616111" cy="0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98A2469E-56A9-8AF7-5FF7-934483115F13}"/>
                </a:ext>
              </a:extLst>
            </p:cNvPr>
            <p:cNvSpPr txBox="1"/>
            <p:nvPr/>
          </p:nvSpPr>
          <p:spPr>
            <a:xfrm>
              <a:off x="7843980" y="6325935"/>
              <a:ext cx="1009579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Extinction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72635710-24C6-8389-5DED-DF0D2B00DC1A}"/>
                </a:ext>
              </a:extLst>
            </p:cNvPr>
            <p:cNvSpPr txBox="1"/>
            <p:nvPr/>
          </p:nvSpPr>
          <p:spPr>
            <a:xfrm>
              <a:off x="8790831" y="6572986"/>
              <a:ext cx="1009579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Emergence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6FCE13CA-D33B-555F-C7DA-4688AA6A4D3A}"/>
                </a:ext>
              </a:extLst>
            </p:cNvPr>
            <p:cNvSpPr txBox="1"/>
            <p:nvPr/>
          </p:nvSpPr>
          <p:spPr>
            <a:xfrm>
              <a:off x="8270882" y="5664426"/>
              <a:ext cx="17760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Incipient epidemic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0CD940C6-E12E-C779-31AF-C8D1CB669580}"/>
                </a:ext>
              </a:extLst>
            </p:cNvPr>
            <p:cNvSpPr txBox="1"/>
            <p:nvPr/>
          </p:nvSpPr>
          <p:spPr>
            <a:xfrm>
              <a:off x="4756113" y="2971012"/>
              <a:ext cx="2027344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dirty="0"/>
                <a:t>Number of mutations to adaptation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A6E67E41-A0BA-02D6-0262-56F6EDB8C052}"/>
                </a:ext>
              </a:extLst>
            </p:cNvPr>
            <p:cNvSpPr txBox="1"/>
            <p:nvPr/>
          </p:nvSpPr>
          <p:spPr>
            <a:xfrm>
              <a:off x="5441319" y="6022218"/>
              <a:ext cx="143740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R0 increasing</a:t>
              </a:r>
            </a:p>
          </p:txBody>
        </p:sp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AD4C01F7-25D7-3FB2-A6F9-979899E04E7C}"/>
                </a:ext>
              </a:extLst>
            </p:cNvPr>
            <p:cNvCxnSpPr>
              <a:cxnSpLocks/>
            </p:cNvCxnSpPr>
            <p:nvPr/>
          </p:nvCxnSpPr>
          <p:spPr>
            <a:xfrm>
              <a:off x="5258164" y="5972203"/>
              <a:ext cx="1265813" cy="0"/>
            </a:xfrm>
            <a:prstGeom prst="line">
              <a:avLst/>
            </a:prstGeom>
            <a:ln w="76200"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8ACF42F-F233-8ABC-41B7-F1164C2F1A02}"/>
                </a:ext>
              </a:extLst>
            </p:cNvPr>
            <p:cNvSpPr txBox="1"/>
            <p:nvPr/>
          </p:nvSpPr>
          <p:spPr>
            <a:xfrm>
              <a:off x="2637660" y="3479232"/>
              <a:ext cx="12399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“Tailor-made”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FBEA52B-9353-B67A-1D2C-9E4387024404}"/>
                </a:ext>
              </a:extLst>
            </p:cNvPr>
            <p:cNvSpPr txBox="1"/>
            <p:nvPr/>
          </p:nvSpPr>
          <p:spPr>
            <a:xfrm>
              <a:off x="2192609" y="2333078"/>
              <a:ext cx="11739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“Off-the-shelf”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1737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2D26E-61DA-1BC0-E5F9-99D4C68C6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48ACD449-2198-B59A-86C3-7923C362C423}"/>
              </a:ext>
            </a:extLst>
          </p:cNvPr>
          <p:cNvSpPr/>
          <p:nvPr/>
        </p:nvSpPr>
        <p:spPr>
          <a:xfrm>
            <a:off x="1813537" y="298603"/>
            <a:ext cx="205539" cy="1905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E6D95B1-A68C-BFB0-3305-6A890A2BE628}"/>
              </a:ext>
            </a:extLst>
          </p:cNvPr>
          <p:cNvCxnSpPr>
            <a:cxnSpLocks/>
          </p:cNvCxnSpPr>
          <p:nvPr/>
        </p:nvCxnSpPr>
        <p:spPr>
          <a:xfrm>
            <a:off x="1923923" y="560718"/>
            <a:ext cx="4621" cy="4964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058EB37-47D0-18E7-EB13-C5249A907100}"/>
              </a:ext>
            </a:extLst>
          </p:cNvPr>
          <p:cNvCxnSpPr>
            <a:cxnSpLocks/>
          </p:cNvCxnSpPr>
          <p:nvPr/>
        </p:nvCxnSpPr>
        <p:spPr>
          <a:xfrm>
            <a:off x="3427384" y="560717"/>
            <a:ext cx="6161" cy="4964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D807496-D587-7D51-1CE1-7E483BD38A4B}"/>
              </a:ext>
            </a:extLst>
          </p:cNvPr>
          <p:cNvSpPr/>
          <p:nvPr/>
        </p:nvSpPr>
        <p:spPr>
          <a:xfrm>
            <a:off x="1842292" y="1157650"/>
            <a:ext cx="205539" cy="1905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719E41E-D23C-75BA-5357-92E882D516A9}"/>
              </a:ext>
            </a:extLst>
          </p:cNvPr>
          <p:cNvSpPr/>
          <p:nvPr/>
        </p:nvSpPr>
        <p:spPr>
          <a:xfrm>
            <a:off x="3312377" y="298604"/>
            <a:ext cx="205539" cy="1905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53B0386-3685-75BE-CE9D-519A5F1CAB17}"/>
              </a:ext>
            </a:extLst>
          </p:cNvPr>
          <p:cNvCxnSpPr>
            <a:cxnSpLocks/>
          </p:cNvCxnSpPr>
          <p:nvPr/>
        </p:nvCxnSpPr>
        <p:spPr>
          <a:xfrm>
            <a:off x="820455" y="756385"/>
            <a:ext cx="9926343" cy="0"/>
          </a:xfrm>
          <a:prstGeom prst="straightConnector1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1A8BCD3-E774-B778-06DA-A0819D5AF3C5}"/>
              </a:ext>
            </a:extLst>
          </p:cNvPr>
          <p:cNvCxnSpPr>
            <a:cxnSpLocks/>
          </p:cNvCxnSpPr>
          <p:nvPr/>
        </p:nvCxnSpPr>
        <p:spPr>
          <a:xfrm>
            <a:off x="1945488" y="1484463"/>
            <a:ext cx="4621" cy="4964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9ADD49EC-9633-BAFF-B24F-87D6720EF3F6}"/>
              </a:ext>
            </a:extLst>
          </p:cNvPr>
          <p:cNvSpPr/>
          <p:nvPr/>
        </p:nvSpPr>
        <p:spPr>
          <a:xfrm>
            <a:off x="3326753" y="1157649"/>
            <a:ext cx="205539" cy="1905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E04D5ED-74BE-E307-47FF-DA72B99A25E4}"/>
              </a:ext>
            </a:extLst>
          </p:cNvPr>
          <p:cNvSpPr/>
          <p:nvPr/>
        </p:nvSpPr>
        <p:spPr>
          <a:xfrm>
            <a:off x="1842292" y="2120933"/>
            <a:ext cx="205539" cy="1905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F52DAA4-B7D7-FCC0-B1CA-F4961E396AD4}"/>
              </a:ext>
            </a:extLst>
          </p:cNvPr>
          <p:cNvCxnSpPr>
            <a:cxnSpLocks/>
          </p:cNvCxnSpPr>
          <p:nvPr/>
        </p:nvCxnSpPr>
        <p:spPr>
          <a:xfrm flipH="1">
            <a:off x="1554732" y="2408208"/>
            <a:ext cx="275737" cy="442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246C3A-7159-41A6-35A8-DB9AF888C14D}"/>
              </a:ext>
            </a:extLst>
          </p:cNvPr>
          <p:cNvCxnSpPr>
            <a:cxnSpLocks/>
          </p:cNvCxnSpPr>
          <p:nvPr/>
        </p:nvCxnSpPr>
        <p:spPr>
          <a:xfrm>
            <a:off x="2101071" y="2408207"/>
            <a:ext cx="275737" cy="442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75469FEA-9032-4CB6-15AB-89FC7602F108}"/>
              </a:ext>
            </a:extLst>
          </p:cNvPr>
          <p:cNvSpPr/>
          <p:nvPr/>
        </p:nvSpPr>
        <p:spPr>
          <a:xfrm>
            <a:off x="1353461" y="2926064"/>
            <a:ext cx="205539" cy="1905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F9F6DAA-50F3-A623-CD3A-119D2FCA0FDE}"/>
              </a:ext>
            </a:extLst>
          </p:cNvPr>
          <p:cNvSpPr/>
          <p:nvPr/>
        </p:nvSpPr>
        <p:spPr>
          <a:xfrm>
            <a:off x="2345498" y="2926063"/>
            <a:ext cx="205539" cy="1905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6B5B2A-3E5F-3E67-A189-F452B63AA403}"/>
              </a:ext>
            </a:extLst>
          </p:cNvPr>
          <p:cNvCxnSpPr>
            <a:cxnSpLocks/>
          </p:cNvCxnSpPr>
          <p:nvPr/>
        </p:nvCxnSpPr>
        <p:spPr>
          <a:xfrm>
            <a:off x="4660242" y="567905"/>
            <a:ext cx="6161" cy="4964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B3158698-075A-E285-9D04-7EEBDC86952D}"/>
              </a:ext>
            </a:extLst>
          </p:cNvPr>
          <p:cNvSpPr/>
          <p:nvPr/>
        </p:nvSpPr>
        <p:spPr>
          <a:xfrm>
            <a:off x="4545235" y="305792"/>
            <a:ext cx="205539" cy="1905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463FEA8-6134-402E-BBB7-F4684EA93BEA}"/>
              </a:ext>
            </a:extLst>
          </p:cNvPr>
          <p:cNvSpPr/>
          <p:nvPr/>
        </p:nvSpPr>
        <p:spPr>
          <a:xfrm>
            <a:off x="4559611" y="1164837"/>
            <a:ext cx="205539" cy="1905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70BAB41-8EB1-AF62-0DD1-CC01AD3A2A61}"/>
              </a:ext>
            </a:extLst>
          </p:cNvPr>
          <p:cNvCxnSpPr>
            <a:cxnSpLocks/>
          </p:cNvCxnSpPr>
          <p:nvPr/>
        </p:nvCxnSpPr>
        <p:spPr>
          <a:xfrm>
            <a:off x="4662808" y="1455708"/>
            <a:ext cx="4621" cy="4964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1A352324-DC7E-D75F-23A0-A11C20DD682D}"/>
              </a:ext>
            </a:extLst>
          </p:cNvPr>
          <p:cNvSpPr/>
          <p:nvPr/>
        </p:nvSpPr>
        <p:spPr>
          <a:xfrm>
            <a:off x="4559612" y="2092178"/>
            <a:ext cx="205539" cy="1905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F3F6B3A-68FE-08A5-320E-03808AB9E5F4}"/>
              </a:ext>
            </a:extLst>
          </p:cNvPr>
          <p:cNvCxnSpPr>
            <a:cxnSpLocks/>
          </p:cNvCxnSpPr>
          <p:nvPr/>
        </p:nvCxnSpPr>
        <p:spPr>
          <a:xfrm flipH="1">
            <a:off x="4272052" y="2379453"/>
            <a:ext cx="275737" cy="442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1C5201E-023E-DB1C-3BDF-45EF1FC290FC}"/>
              </a:ext>
            </a:extLst>
          </p:cNvPr>
          <p:cNvCxnSpPr>
            <a:cxnSpLocks/>
          </p:cNvCxnSpPr>
          <p:nvPr/>
        </p:nvCxnSpPr>
        <p:spPr>
          <a:xfrm>
            <a:off x="4818391" y="2379452"/>
            <a:ext cx="275737" cy="442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33BD6129-2463-A4A6-F61C-563FF060B6C3}"/>
              </a:ext>
            </a:extLst>
          </p:cNvPr>
          <p:cNvSpPr/>
          <p:nvPr/>
        </p:nvSpPr>
        <p:spPr>
          <a:xfrm>
            <a:off x="4070781" y="2897309"/>
            <a:ext cx="205539" cy="1905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677FBB9-D9E8-47CB-3701-DB6E5C99F5D9}"/>
              </a:ext>
            </a:extLst>
          </p:cNvPr>
          <p:cNvSpPr/>
          <p:nvPr/>
        </p:nvSpPr>
        <p:spPr>
          <a:xfrm>
            <a:off x="5062818" y="2897308"/>
            <a:ext cx="205539" cy="1905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5FE59E8-8EBF-B4E9-085E-B5F677C58E11}"/>
              </a:ext>
            </a:extLst>
          </p:cNvPr>
          <p:cNvCxnSpPr>
            <a:cxnSpLocks/>
          </p:cNvCxnSpPr>
          <p:nvPr/>
        </p:nvCxnSpPr>
        <p:spPr>
          <a:xfrm>
            <a:off x="5183987" y="3220528"/>
            <a:ext cx="4621" cy="4964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D28A9D67-2503-30A9-130E-C09588E0239F}"/>
              </a:ext>
            </a:extLst>
          </p:cNvPr>
          <p:cNvSpPr/>
          <p:nvPr/>
        </p:nvSpPr>
        <p:spPr>
          <a:xfrm>
            <a:off x="5084383" y="3842619"/>
            <a:ext cx="205539" cy="1905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7F55114-28F3-FB02-3D61-A3AECFC9D66F}"/>
              </a:ext>
            </a:extLst>
          </p:cNvPr>
          <p:cNvCxnSpPr>
            <a:cxnSpLocks/>
          </p:cNvCxnSpPr>
          <p:nvPr/>
        </p:nvCxnSpPr>
        <p:spPr>
          <a:xfrm flipH="1">
            <a:off x="4775259" y="4165839"/>
            <a:ext cx="275737" cy="442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AB4EA61-685B-42B0-EB9E-FFD38E79C9F0}"/>
              </a:ext>
            </a:extLst>
          </p:cNvPr>
          <p:cNvCxnSpPr>
            <a:cxnSpLocks/>
          </p:cNvCxnSpPr>
          <p:nvPr/>
        </p:nvCxnSpPr>
        <p:spPr>
          <a:xfrm>
            <a:off x="5321598" y="4165838"/>
            <a:ext cx="275737" cy="442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FEE5BAAC-DD49-256C-E3CB-2604D1140019}"/>
              </a:ext>
            </a:extLst>
          </p:cNvPr>
          <p:cNvSpPr/>
          <p:nvPr/>
        </p:nvSpPr>
        <p:spPr>
          <a:xfrm>
            <a:off x="4573988" y="4683695"/>
            <a:ext cx="205539" cy="1905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CABB3B2-3EC1-1E25-1A82-2DBAED126DE6}"/>
              </a:ext>
            </a:extLst>
          </p:cNvPr>
          <p:cNvSpPr/>
          <p:nvPr/>
        </p:nvSpPr>
        <p:spPr>
          <a:xfrm>
            <a:off x="5566025" y="4683694"/>
            <a:ext cx="205539" cy="1905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356FB64-A3FE-AA61-29A0-08EA90FA10AF}"/>
              </a:ext>
            </a:extLst>
          </p:cNvPr>
          <p:cNvCxnSpPr>
            <a:cxnSpLocks/>
          </p:cNvCxnSpPr>
          <p:nvPr/>
        </p:nvCxnSpPr>
        <p:spPr>
          <a:xfrm>
            <a:off x="6040468" y="567904"/>
            <a:ext cx="6161" cy="4964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89487E41-A2A0-35CF-4F24-BECBBF3AF977}"/>
              </a:ext>
            </a:extLst>
          </p:cNvPr>
          <p:cNvSpPr/>
          <p:nvPr/>
        </p:nvSpPr>
        <p:spPr>
          <a:xfrm>
            <a:off x="5925461" y="305791"/>
            <a:ext cx="205539" cy="1905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3ED827A-69D5-7180-4997-276367E99FC6}"/>
              </a:ext>
            </a:extLst>
          </p:cNvPr>
          <p:cNvSpPr/>
          <p:nvPr/>
        </p:nvSpPr>
        <p:spPr>
          <a:xfrm>
            <a:off x="5939837" y="1164836"/>
            <a:ext cx="205539" cy="1905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51D868C-36F2-DFC1-EB2E-FE4108D8E4C4}"/>
              </a:ext>
            </a:extLst>
          </p:cNvPr>
          <p:cNvCxnSpPr>
            <a:cxnSpLocks/>
          </p:cNvCxnSpPr>
          <p:nvPr/>
        </p:nvCxnSpPr>
        <p:spPr>
          <a:xfrm>
            <a:off x="6053817" y="1516811"/>
            <a:ext cx="4621" cy="4964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6F3033F1-5B73-60C4-E352-945D0731107E}"/>
              </a:ext>
            </a:extLst>
          </p:cNvPr>
          <p:cNvSpPr/>
          <p:nvPr/>
        </p:nvSpPr>
        <p:spPr>
          <a:xfrm>
            <a:off x="5950621" y="2153281"/>
            <a:ext cx="205539" cy="1905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805647F-8A34-B816-6259-47CF604083D5}"/>
              </a:ext>
            </a:extLst>
          </p:cNvPr>
          <p:cNvCxnSpPr>
            <a:cxnSpLocks/>
          </p:cNvCxnSpPr>
          <p:nvPr/>
        </p:nvCxnSpPr>
        <p:spPr>
          <a:xfrm>
            <a:off x="7485392" y="560715"/>
            <a:ext cx="6161" cy="4964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C92D32C4-973C-AE40-D2A2-1D007931C213}"/>
              </a:ext>
            </a:extLst>
          </p:cNvPr>
          <p:cNvSpPr/>
          <p:nvPr/>
        </p:nvSpPr>
        <p:spPr>
          <a:xfrm>
            <a:off x="7370385" y="298602"/>
            <a:ext cx="205539" cy="1905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17DDE5E-DD57-48AB-1270-904F733B572C}"/>
              </a:ext>
            </a:extLst>
          </p:cNvPr>
          <p:cNvSpPr/>
          <p:nvPr/>
        </p:nvSpPr>
        <p:spPr>
          <a:xfrm>
            <a:off x="7384761" y="1157647"/>
            <a:ext cx="205539" cy="1905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9DBB9F8-525D-7176-B383-2FE82F461597}"/>
              </a:ext>
            </a:extLst>
          </p:cNvPr>
          <p:cNvCxnSpPr>
            <a:cxnSpLocks/>
          </p:cNvCxnSpPr>
          <p:nvPr/>
        </p:nvCxnSpPr>
        <p:spPr>
          <a:xfrm>
            <a:off x="7498741" y="1466490"/>
            <a:ext cx="4621" cy="4964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2CB5B809-D880-05CF-2CF8-85D6A17E77D5}"/>
              </a:ext>
            </a:extLst>
          </p:cNvPr>
          <p:cNvSpPr/>
          <p:nvPr/>
        </p:nvSpPr>
        <p:spPr>
          <a:xfrm>
            <a:off x="7399137" y="2088581"/>
            <a:ext cx="205539" cy="1905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D16EF3E-78E9-9957-6509-729BC66C3572}"/>
              </a:ext>
            </a:extLst>
          </p:cNvPr>
          <p:cNvCxnSpPr>
            <a:cxnSpLocks/>
          </p:cNvCxnSpPr>
          <p:nvPr/>
        </p:nvCxnSpPr>
        <p:spPr>
          <a:xfrm flipH="1">
            <a:off x="7090013" y="2411801"/>
            <a:ext cx="275737" cy="442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448ED55-2B49-2B1D-6762-8CE888A3C098}"/>
              </a:ext>
            </a:extLst>
          </p:cNvPr>
          <p:cNvCxnSpPr>
            <a:cxnSpLocks/>
          </p:cNvCxnSpPr>
          <p:nvPr/>
        </p:nvCxnSpPr>
        <p:spPr>
          <a:xfrm>
            <a:off x="7636352" y="2411800"/>
            <a:ext cx="275737" cy="442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FB2C5497-B565-A3F6-213E-3360066D5E4D}"/>
              </a:ext>
            </a:extLst>
          </p:cNvPr>
          <p:cNvSpPr/>
          <p:nvPr/>
        </p:nvSpPr>
        <p:spPr>
          <a:xfrm>
            <a:off x="6888742" y="2929657"/>
            <a:ext cx="205539" cy="1905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A1D7E80-8BBE-8D54-92AD-66C7BC3573EC}"/>
              </a:ext>
            </a:extLst>
          </p:cNvPr>
          <p:cNvSpPr/>
          <p:nvPr/>
        </p:nvSpPr>
        <p:spPr>
          <a:xfrm>
            <a:off x="7880779" y="2929656"/>
            <a:ext cx="205539" cy="1905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B2AF22D-1B82-E8F9-52F7-F05FCA0DAD88}"/>
              </a:ext>
            </a:extLst>
          </p:cNvPr>
          <p:cNvCxnSpPr>
            <a:cxnSpLocks/>
          </p:cNvCxnSpPr>
          <p:nvPr/>
        </p:nvCxnSpPr>
        <p:spPr>
          <a:xfrm>
            <a:off x="6988345" y="3224122"/>
            <a:ext cx="4621" cy="4964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ED6EE358-4523-51AE-EFA1-7D2C8FEA7E78}"/>
              </a:ext>
            </a:extLst>
          </p:cNvPr>
          <p:cNvSpPr/>
          <p:nvPr/>
        </p:nvSpPr>
        <p:spPr>
          <a:xfrm>
            <a:off x="6888741" y="3846213"/>
            <a:ext cx="205539" cy="1905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1B8EF49-A471-89EB-4741-7F1E76326E2A}"/>
              </a:ext>
            </a:extLst>
          </p:cNvPr>
          <p:cNvCxnSpPr>
            <a:cxnSpLocks/>
          </p:cNvCxnSpPr>
          <p:nvPr/>
        </p:nvCxnSpPr>
        <p:spPr>
          <a:xfrm flipH="1">
            <a:off x="6529296" y="4162244"/>
            <a:ext cx="275737" cy="442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348D4F6-A365-B9A2-ECEC-947D3025BBDF}"/>
              </a:ext>
            </a:extLst>
          </p:cNvPr>
          <p:cNvCxnSpPr>
            <a:cxnSpLocks/>
          </p:cNvCxnSpPr>
          <p:nvPr/>
        </p:nvCxnSpPr>
        <p:spPr>
          <a:xfrm>
            <a:off x="7205031" y="4162243"/>
            <a:ext cx="275737" cy="442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2BB80BF9-3299-A5B2-E81D-373FDF68CF86}"/>
              </a:ext>
            </a:extLst>
          </p:cNvPr>
          <p:cNvSpPr/>
          <p:nvPr/>
        </p:nvSpPr>
        <p:spPr>
          <a:xfrm>
            <a:off x="6310053" y="4680100"/>
            <a:ext cx="205539" cy="1905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FC3F5AF-C492-700E-BD75-0A3A53E1C207}"/>
              </a:ext>
            </a:extLst>
          </p:cNvPr>
          <p:cNvSpPr/>
          <p:nvPr/>
        </p:nvSpPr>
        <p:spPr>
          <a:xfrm>
            <a:off x="7499779" y="4680099"/>
            <a:ext cx="205539" cy="1905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479AA41-DB57-85BB-2CEA-E0630F7F4962}"/>
              </a:ext>
            </a:extLst>
          </p:cNvPr>
          <p:cNvCxnSpPr>
            <a:cxnSpLocks/>
          </p:cNvCxnSpPr>
          <p:nvPr/>
        </p:nvCxnSpPr>
        <p:spPr>
          <a:xfrm>
            <a:off x="8009137" y="3216933"/>
            <a:ext cx="4621" cy="4964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6BC94C44-6E66-594A-B419-C3F88C45DF58}"/>
              </a:ext>
            </a:extLst>
          </p:cNvPr>
          <p:cNvSpPr/>
          <p:nvPr/>
        </p:nvSpPr>
        <p:spPr>
          <a:xfrm>
            <a:off x="7909533" y="3839024"/>
            <a:ext cx="205539" cy="1905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8FB6076-D6C0-4E4F-E4F2-6F5A61997606}"/>
              </a:ext>
            </a:extLst>
          </p:cNvPr>
          <p:cNvCxnSpPr>
            <a:cxnSpLocks/>
          </p:cNvCxnSpPr>
          <p:nvPr/>
        </p:nvCxnSpPr>
        <p:spPr>
          <a:xfrm>
            <a:off x="8790138" y="564311"/>
            <a:ext cx="6161" cy="4964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>
            <a:extLst>
              <a:ext uri="{FF2B5EF4-FFF2-40B4-BE49-F238E27FC236}">
                <a16:creationId xmlns:a16="http://schemas.microsoft.com/office/drawing/2014/main" id="{1757C2AE-E3D8-2337-2E61-2159B5B5C9CC}"/>
              </a:ext>
            </a:extLst>
          </p:cNvPr>
          <p:cNvSpPr/>
          <p:nvPr/>
        </p:nvSpPr>
        <p:spPr>
          <a:xfrm>
            <a:off x="8675131" y="302198"/>
            <a:ext cx="205539" cy="1905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EE064C8-D05D-1E1B-689D-C816F34D897D}"/>
              </a:ext>
            </a:extLst>
          </p:cNvPr>
          <p:cNvSpPr/>
          <p:nvPr/>
        </p:nvSpPr>
        <p:spPr>
          <a:xfrm>
            <a:off x="8689507" y="1161243"/>
            <a:ext cx="205539" cy="1905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74D9F39-0560-C2F4-6404-938E2D4B9CDE}"/>
              </a:ext>
            </a:extLst>
          </p:cNvPr>
          <p:cNvCxnSpPr>
            <a:cxnSpLocks/>
          </p:cNvCxnSpPr>
          <p:nvPr/>
        </p:nvCxnSpPr>
        <p:spPr>
          <a:xfrm>
            <a:off x="9947515" y="542744"/>
            <a:ext cx="6161" cy="4964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61D676E1-B53D-3727-BF0F-A754ECF51A0C}"/>
              </a:ext>
            </a:extLst>
          </p:cNvPr>
          <p:cNvSpPr/>
          <p:nvPr/>
        </p:nvSpPr>
        <p:spPr>
          <a:xfrm>
            <a:off x="9832508" y="280631"/>
            <a:ext cx="205539" cy="1905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34D9E52-C127-64E4-534E-808FBB9F2522}"/>
              </a:ext>
            </a:extLst>
          </p:cNvPr>
          <p:cNvSpPr/>
          <p:nvPr/>
        </p:nvSpPr>
        <p:spPr>
          <a:xfrm>
            <a:off x="9846884" y="1139676"/>
            <a:ext cx="205539" cy="1905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62FF4A4-52B1-D415-2EEE-B813405A689B}"/>
              </a:ext>
            </a:extLst>
          </p:cNvPr>
          <p:cNvCxnSpPr>
            <a:cxnSpLocks/>
          </p:cNvCxnSpPr>
          <p:nvPr/>
        </p:nvCxnSpPr>
        <p:spPr>
          <a:xfrm>
            <a:off x="9953676" y="1470085"/>
            <a:ext cx="4621" cy="4964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D6D38A80-3B2C-F87A-D86A-B6023FD053A2}"/>
              </a:ext>
            </a:extLst>
          </p:cNvPr>
          <p:cNvSpPr/>
          <p:nvPr/>
        </p:nvSpPr>
        <p:spPr>
          <a:xfrm>
            <a:off x="9858359" y="2041782"/>
            <a:ext cx="205539" cy="1905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7A32B7-533C-13D2-46E3-A4BCE31D082C}"/>
              </a:ext>
            </a:extLst>
          </p:cNvPr>
          <p:cNvSpPr txBox="1"/>
          <p:nvPr/>
        </p:nvSpPr>
        <p:spPr>
          <a:xfrm>
            <a:off x="1393128" y="3116563"/>
            <a:ext cx="126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†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3C4604E-C8FF-091F-61BD-9C34EF142284}"/>
              </a:ext>
            </a:extLst>
          </p:cNvPr>
          <p:cNvSpPr txBox="1"/>
          <p:nvPr/>
        </p:nvSpPr>
        <p:spPr>
          <a:xfrm>
            <a:off x="2390920" y="3116563"/>
            <a:ext cx="126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†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15CF06C-1F43-2273-5E75-DFECEA51BCFD}"/>
              </a:ext>
            </a:extLst>
          </p:cNvPr>
          <p:cNvSpPr txBox="1"/>
          <p:nvPr/>
        </p:nvSpPr>
        <p:spPr>
          <a:xfrm>
            <a:off x="4102676" y="3116563"/>
            <a:ext cx="126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†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ABCB6-EFB0-B6B5-AE66-D5EDCF2C74B1}"/>
              </a:ext>
            </a:extLst>
          </p:cNvPr>
          <p:cNvSpPr txBox="1"/>
          <p:nvPr/>
        </p:nvSpPr>
        <p:spPr>
          <a:xfrm>
            <a:off x="4604327" y="4870599"/>
            <a:ext cx="126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†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7783344-3592-CCE2-1E00-F1D97B65CF64}"/>
              </a:ext>
            </a:extLst>
          </p:cNvPr>
          <p:cNvSpPr txBox="1"/>
          <p:nvPr/>
        </p:nvSpPr>
        <p:spPr>
          <a:xfrm>
            <a:off x="5605692" y="4870599"/>
            <a:ext cx="126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†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C8EE4C9-86E8-7601-D669-B49F40963F04}"/>
              </a:ext>
            </a:extLst>
          </p:cNvPr>
          <p:cNvSpPr txBox="1"/>
          <p:nvPr/>
        </p:nvSpPr>
        <p:spPr>
          <a:xfrm>
            <a:off x="7946035" y="4061874"/>
            <a:ext cx="126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†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9D7FD18-9444-4888-8C48-7535F1AEDACD}"/>
              </a:ext>
            </a:extLst>
          </p:cNvPr>
          <p:cNvSpPr txBox="1"/>
          <p:nvPr/>
        </p:nvSpPr>
        <p:spPr>
          <a:xfrm>
            <a:off x="5990288" y="2343781"/>
            <a:ext cx="126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†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474CA89-DBEA-B793-F88F-3127AC3E1BA1}"/>
              </a:ext>
            </a:extLst>
          </p:cNvPr>
          <p:cNvSpPr txBox="1"/>
          <p:nvPr/>
        </p:nvSpPr>
        <p:spPr>
          <a:xfrm>
            <a:off x="9898491" y="2238444"/>
            <a:ext cx="126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†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69205B6-CFE9-555D-041C-DF4E2EB14899}"/>
              </a:ext>
            </a:extLst>
          </p:cNvPr>
          <p:cNvSpPr txBox="1"/>
          <p:nvPr/>
        </p:nvSpPr>
        <p:spPr>
          <a:xfrm>
            <a:off x="8714798" y="1355336"/>
            <a:ext cx="126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†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94B47EC-1211-B5BF-9194-B526BD2D8040}"/>
              </a:ext>
            </a:extLst>
          </p:cNvPr>
          <p:cNvSpPr txBox="1"/>
          <p:nvPr/>
        </p:nvSpPr>
        <p:spPr>
          <a:xfrm>
            <a:off x="3370860" y="1332806"/>
            <a:ext cx="126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†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E5CCBDF-AEF2-1DC4-F3A8-B81DF0EDF865}"/>
              </a:ext>
            </a:extLst>
          </p:cNvPr>
          <p:cNvSpPr txBox="1"/>
          <p:nvPr/>
        </p:nvSpPr>
        <p:spPr>
          <a:xfrm>
            <a:off x="733678" y="380160"/>
            <a:ext cx="8611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Introduction </a:t>
            </a:r>
          </a:p>
          <a:p>
            <a:r>
              <a:rPr lang="en-US" sz="800" dirty="0"/>
              <a:t>(from reservoir)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0E61131-342C-AAF4-46AA-FA7CFB7D7731}"/>
              </a:ext>
            </a:extLst>
          </p:cNvPr>
          <p:cNvSpPr txBox="1"/>
          <p:nvPr/>
        </p:nvSpPr>
        <p:spPr>
          <a:xfrm>
            <a:off x="737395" y="800750"/>
            <a:ext cx="9989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Transmission in </a:t>
            </a:r>
          </a:p>
          <a:p>
            <a:r>
              <a:rPr lang="en-US" sz="800" dirty="0"/>
              <a:t>human population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4D37517-E925-C5A8-D337-D5B7EE4A731F}"/>
              </a:ext>
            </a:extLst>
          </p:cNvPr>
          <p:cNvSpPr txBox="1"/>
          <p:nvPr/>
        </p:nvSpPr>
        <p:spPr>
          <a:xfrm>
            <a:off x="6689271" y="5836419"/>
            <a:ext cx="7152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/>
              <a:t>Emergence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ABAA3BE-63BA-5B55-7123-D16AC394BCD4}"/>
              </a:ext>
            </a:extLst>
          </p:cNvPr>
          <p:cNvSpPr txBox="1"/>
          <p:nvPr/>
        </p:nvSpPr>
        <p:spPr>
          <a:xfrm>
            <a:off x="752909" y="3963254"/>
            <a:ext cx="8018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Infections by: 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5DBA10FC-C5EC-622F-581F-16A652185010}"/>
              </a:ext>
            </a:extLst>
          </p:cNvPr>
          <p:cNvSpPr/>
          <p:nvPr/>
        </p:nvSpPr>
        <p:spPr>
          <a:xfrm>
            <a:off x="988435" y="4176406"/>
            <a:ext cx="90892" cy="90512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30AC4F92-59DB-F60B-2C4D-A186C3A9CA64}"/>
              </a:ext>
            </a:extLst>
          </p:cNvPr>
          <p:cNvSpPr/>
          <p:nvPr/>
        </p:nvSpPr>
        <p:spPr>
          <a:xfrm>
            <a:off x="990523" y="4336126"/>
            <a:ext cx="90892" cy="9051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254E69E6-1DD0-6A73-8FC2-55291DED9BE6}"/>
              </a:ext>
            </a:extLst>
          </p:cNvPr>
          <p:cNvSpPr/>
          <p:nvPr/>
        </p:nvSpPr>
        <p:spPr>
          <a:xfrm>
            <a:off x="990522" y="4478768"/>
            <a:ext cx="90892" cy="9051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66F38B53-65C7-35C1-0625-CEF4A096DC6A}"/>
              </a:ext>
            </a:extLst>
          </p:cNvPr>
          <p:cNvSpPr/>
          <p:nvPr/>
        </p:nvSpPr>
        <p:spPr>
          <a:xfrm>
            <a:off x="992611" y="4632575"/>
            <a:ext cx="90892" cy="90512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D40DE181-46FE-C54E-0C2B-A78D347B52BC}"/>
              </a:ext>
            </a:extLst>
          </p:cNvPr>
          <p:cNvSpPr/>
          <p:nvPr/>
        </p:nvSpPr>
        <p:spPr>
          <a:xfrm>
            <a:off x="992610" y="4789123"/>
            <a:ext cx="90892" cy="905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1F66195-94F8-C724-AB82-B3A3C2C74271}"/>
              </a:ext>
            </a:extLst>
          </p:cNvPr>
          <p:cNvSpPr txBox="1"/>
          <p:nvPr/>
        </p:nvSpPr>
        <p:spPr>
          <a:xfrm>
            <a:off x="1060417" y="4115328"/>
            <a:ext cx="16514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4 mutations away from R0 &gt; 1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9933F3A-8BA9-34A5-C74A-56EC97F3C7A0}"/>
              </a:ext>
            </a:extLst>
          </p:cNvPr>
          <p:cNvSpPr txBox="1"/>
          <p:nvPr/>
        </p:nvSpPr>
        <p:spPr>
          <a:xfrm>
            <a:off x="1060417" y="4272904"/>
            <a:ext cx="1676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3 mutations away from R0 &gt; 1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39D8D9F-4426-95D8-BCD7-6EBE8C0696B3}"/>
              </a:ext>
            </a:extLst>
          </p:cNvPr>
          <p:cNvSpPr txBox="1"/>
          <p:nvPr/>
        </p:nvSpPr>
        <p:spPr>
          <a:xfrm>
            <a:off x="1060417" y="4424770"/>
            <a:ext cx="163530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2 mutations away from R0 &gt; 1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E505ADE-F235-8CC3-1E9F-F50BF1E70711}"/>
              </a:ext>
            </a:extLst>
          </p:cNvPr>
          <p:cNvSpPr txBox="1"/>
          <p:nvPr/>
        </p:nvSpPr>
        <p:spPr>
          <a:xfrm>
            <a:off x="1060417" y="4572867"/>
            <a:ext cx="14906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1 mutations away from R0 &gt; 1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0A71B86-3216-9107-2262-935892D3B53C}"/>
              </a:ext>
            </a:extLst>
          </p:cNvPr>
          <p:cNvSpPr txBox="1"/>
          <p:nvPr/>
        </p:nvSpPr>
        <p:spPr>
          <a:xfrm>
            <a:off x="1060417" y="4727120"/>
            <a:ext cx="14906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R0 &gt; 1</a:t>
            </a: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19A2634A-896E-4399-3B8D-60962FCDD7F2}"/>
              </a:ext>
            </a:extLst>
          </p:cNvPr>
          <p:cNvSpPr/>
          <p:nvPr/>
        </p:nvSpPr>
        <p:spPr>
          <a:xfrm>
            <a:off x="6303790" y="4680099"/>
            <a:ext cx="205539" cy="1905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F87894DF-89F1-1ABB-68EA-72CC020BF11C}"/>
              </a:ext>
            </a:extLst>
          </p:cNvPr>
          <p:cNvCxnSpPr>
            <a:cxnSpLocks/>
          </p:cNvCxnSpPr>
          <p:nvPr/>
        </p:nvCxnSpPr>
        <p:spPr>
          <a:xfrm flipH="1">
            <a:off x="5994666" y="5003319"/>
            <a:ext cx="275737" cy="442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9F153620-4B30-0CB9-5BD2-84E5BECCBA00}"/>
              </a:ext>
            </a:extLst>
          </p:cNvPr>
          <p:cNvCxnSpPr>
            <a:cxnSpLocks/>
          </p:cNvCxnSpPr>
          <p:nvPr/>
        </p:nvCxnSpPr>
        <p:spPr>
          <a:xfrm>
            <a:off x="6518427" y="4992029"/>
            <a:ext cx="275737" cy="442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Oval 116">
            <a:extLst>
              <a:ext uri="{FF2B5EF4-FFF2-40B4-BE49-F238E27FC236}">
                <a16:creationId xmlns:a16="http://schemas.microsoft.com/office/drawing/2014/main" id="{40FA0755-3FC7-28E4-D208-29B9CB089FCC}"/>
              </a:ext>
            </a:extLst>
          </p:cNvPr>
          <p:cNvSpPr/>
          <p:nvPr/>
        </p:nvSpPr>
        <p:spPr>
          <a:xfrm>
            <a:off x="5793395" y="5521175"/>
            <a:ext cx="205539" cy="1905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3560498D-868C-E075-A9BE-394B4063493C}"/>
              </a:ext>
            </a:extLst>
          </p:cNvPr>
          <p:cNvSpPr/>
          <p:nvPr/>
        </p:nvSpPr>
        <p:spPr>
          <a:xfrm>
            <a:off x="6762854" y="5521174"/>
            <a:ext cx="205539" cy="1905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E68A4885-63ED-5FFC-7B3E-1C39ACCFE3E4}"/>
              </a:ext>
            </a:extLst>
          </p:cNvPr>
          <p:cNvSpPr/>
          <p:nvPr/>
        </p:nvSpPr>
        <p:spPr>
          <a:xfrm>
            <a:off x="7507894" y="4680100"/>
            <a:ext cx="205539" cy="1905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F15EA157-97DB-51D6-594C-420DB2993557}"/>
              </a:ext>
            </a:extLst>
          </p:cNvPr>
          <p:cNvCxnSpPr>
            <a:cxnSpLocks/>
          </p:cNvCxnSpPr>
          <p:nvPr/>
        </p:nvCxnSpPr>
        <p:spPr>
          <a:xfrm flipH="1">
            <a:off x="7246892" y="4995657"/>
            <a:ext cx="275737" cy="442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ED79DE99-9B29-71A9-B026-D14D5866DD83}"/>
              </a:ext>
            </a:extLst>
          </p:cNvPr>
          <p:cNvCxnSpPr>
            <a:cxnSpLocks/>
          </p:cNvCxnSpPr>
          <p:nvPr/>
        </p:nvCxnSpPr>
        <p:spPr>
          <a:xfrm>
            <a:off x="7712629" y="4982427"/>
            <a:ext cx="275737" cy="442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>
            <a:extLst>
              <a:ext uri="{FF2B5EF4-FFF2-40B4-BE49-F238E27FC236}">
                <a16:creationId xmlns:a16="http://schemas.microsoft.com/office/drawing/2014/main" id="{5476CE94-76D7-311A-DF7B-54D2B1015116}"/>
              </a:ext>
            </a:extLst>
          </p:cNvPr>
          <p:cNvSpPr/>
          <p:nvPr/>
        </p:nvSpPr>
        <p:spPr>
          <a:xfrm>
            <a:off x="7090013" y="5520705"/>
            <a:ext cx="205539" cy="1905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89EC0075-875C-A325-0B06-53512C58646E}"/>
              </a:ext>
            </a:extLst>
          </p:cNvPr>
          <p:cNvSpPr/>
          <p:nvPr/>
        </p:nvSpPr>
        <p:spPr>
          <a:xfrm>
            <a:off x="7989536" y="5521175"/>
            <a:ext cx="205539" cy="1905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447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1AEF2-B4DC-7A71-2129-87B41983B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2140F-C86D-9056-8AD1-1117FAA65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 the probability that a lineage starting with some R evolves a variant with R &gt; 1 (or 3, for Smallpox) before going extinct</a:t>
            </a:r>
          </a:p>
        </p:txBody>
      </p:sp>
    </p:spTree>
    <p:extLst>
      <p:ext uri="{BB962C8B-B14F-4D97-AF65-F5344CB8AC3E}">
        <p14:creationId xmlns:p14="http://schemas.microsoft.com/office/powerpoint/2010/main" val="3499620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B54BD-14E1-407F-37B3-833592E08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730F1-2216-93BA-AECB-AEFA6E7B0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718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219</Words>
  <Application>Microsoft Macintosh PowerPoint</Application>
  <PresentationFormat>Widescreen</PresentationFormat>
  <Paragraphs>54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The effect of population immunity on the emergence probability of zoonotic infections</vt:lpstr>
      <vt:lpstr>PowerPoint Presentation</vt:lpstr>
      <vt:lpstr>PowerPoint Presentation</vt:lpstr>
      <vt:lpstr>R0 &gt; 1 Theory </vt:lpstr>
      <vt:lpstr>PowerPoint Presentation</vt:lpstr>
      <vt:lpstr>PowerPoint Presentation</vt:lpstr>
      <vt:lpstr>PowerPoint Presentation</vt:lpstr>
      <vt:lpstr>Branching process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Hirst, Cora</dc:creator>
  <cp:lastModifiedBy>Hirst, Cora</cp:lastModifiedBy>
  <cp:revision>1</cp:revision>
  <dcterms:created xsi:type="dcterms:W3CDTF">2025-07-15T20:35:12Z</dcterms:created>
  <dcterms:modified xsi:type="dcterms:W3CDTF">2025-07-15T21:05:44Z</dcterms:modified>
</cp:coreProperties>
</file>