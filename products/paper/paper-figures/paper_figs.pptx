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398" r:id="rId6"/>
    <p:sldId id="262" r:id="rId7"/>
    <p:sldId id="261" r:id="rId8"/>
    <p:sldId id="397"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30806"/>
    <a:srgbClr val="FD0E1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059"/>
    <p:restoredTop sz="94694"/>
  </p:normalViewPr>
  <p:slideViewPr>
    <p:cSldViewPr snapToGrid="0">
      <p:cViewPr varScale="1">
        <p:scale>
          <a:sx n="121" d="100"/>
          <a:sy n="121" d="100"/>
        </p:scale>
        <p:origin x="712"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2CADE5-B242-284B-8F01-80AC947059F2}" type="datetimeFigureOut">
              <a:rPr lang="en-US" smtClean="0"/>
              <a:t>10/21/25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139CDE4-B4AB-7549-9EE9-A974916FD447}" type="slidenum">
              <a:rPr lang="en-US" smtClean="0"/>
              <a:t>‹#›</a:t>
            </a:fld>
            <a:endParaRPr lang="en-US"/>
          </a:p>
        </p:txBody>
      </p:sp>
    </p:spTree>
    <p:extLst>
      <p:ext uri="{BB962C8B-B14F-4D97-AF65-F5344CB8AC3E}">
        <p14:creationId xmlns:p14="http://schemas.microsoft.com/office/powerpoint/2010/main" val="20833804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Selective advantage after sigma </a:t>
            </a:r>
          </a:p>
          <a:p>
            <a:r>
              <a:rPr lang="en-US" dirty="0"/>
              <a:t>Aspect ratio – golden ratio </a:t>
            </a:r>
          </a:p>
          <a:p>
            <a:endParaRPr lang="en-US" dirty="0"/>
          </a:p>
          <a:p>
            <a:r>
              <a:rPr lang="en-US" dirty="0"/>
              <a:t>P(evolving high R0)</a:t>
            </a:r>
          </a:p>
        </p:txBody>
      </p:sp>
      <p:sp>
        <p:nvSpPr>
          <p:cNvPr id="4" name="Slide Number Placeholder 3"/>
          <p:cNvSpPr>
            <a:spLocks noGrp="1"/>
          </p:cNvSpPr>
          <p:nvPr>
            <p:ph type="sldNum" sz="quarter" idx="5"/>
          </p:nvPr>
        </p:nvSpPr>
        <p:spPr/>
        <p:txBody>
          <a:bodyPr/>
          <a:lstStyle/>
          <a:p>
            <a:fld id="{7139CDE4-B4AB-7549-9EE9-A974916FD447}" type="slidenum">
              <a:rPr lang="en-US" smtClean="0"/>
              <a:t>3</a:t>
            </a:fld>
            <a:endParaRPr lang="en-US"/>
          </a:p>
        </p:txBody>
      </p:sp>
    </p:spTree>
    <p:extLst>
      <p:ext uri="{BB962C8B-B14F-4D97-AF65-F5344CB8AC3E}">
        <p14:creationId xmlns:p14="http://schemas.microsoft.com/office/powerpoint/2010/main" val="30075327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 – beneficial mutation rate infection-1</a:t>
            </a:r>
          </a:p>
          <a:p>
            <a:r>
              <a:rPr lang="en-US" dirty="0"/>
              <a:t>P(evolving high transmissibility)</a:t>
            </a:r>
          </a:p>
          <a:p>
            <a:r>
              <a:rPr lang="en-US" dirty="0"/>
              <a:t>Take out 10^-1</a:t>
            </a:r>
          </a:p>
        </p:txBody>
      </p:sp>
      <p:sp>
        <p:nvSpPr>
          <p:cNvPr id="4" name="Slide Number Placeholder 3"/>
          <p:cNvSpPr>
            <a:spLocks noGrp="1"/>
          </p:cNvSpPr>
          <p:nvPr>
            <p:ph type="sldNum" sz="quarter" idx="5"/>
          </p:nvPr>
        </p:nvSpPr>
        <p:spPr/>
        <p:txBody>
          <a:bodyPr/>
          <a:lstStyle/>
          <a:p>
            <a:fld id="{7139CDE4-B4AB-7549-9EE9-A974916FD447}" type="slidenum">
              <a:rPr lang="en-US" smtClean="0"/>
              <a:t>4</a:t>
            </a:fld>
            <a:endParaRPr lang="en-US"/>
          </a:p>
        </p:txBody>
      </p:sp>
    </p:spTree>
    <p:extLst>
      <p:ext uri="{BB962C8B-B14F-4D97-AF65-F5344CB8AC3E}">
        <p14:creationId xmlns:p14="http://schemas.microsoft.com/office/powerpoint/2010/main" val="16525424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Mutation^-1</a:t>
            </a:r>
          </a:p>
        </p:txBody>
      </p:sp>
      <p:sp>
        <p:nvSpPr>
          <p:cNvPr id="4" name="Slide Number Placeholder 3"/>
          <p:cNvSpPr>
            <a:spLocks noGrp="1"/>
          </p:cNvSpPr>
          <p:nvPr>
            <p:ph type="sldNum" sz="quarter" idx="5"/>
          </p:nvPr>
        </p:nvSpPr>
        <p:spPr/>
        <p:txBody>
          <a:bodyPr/>
          <a:lstStyle/>
          <a:p>
            <a:fld id="{7139CDE4-B4AB-7549-9EE9-A974916FD447}" type="slidenum">
              <a:rPr lang="en-US" smtClean="0"/>
              <a:t>6</a:t>
            </a:fld>
            <a:endParaRPr lang="en-US"/>
          </a:p>
        </p:txBody>
      </p:sp>
    </p:spTree>
    <p:extLst>
      <p:ext uri="{BB962C8B-B14F-4D97-AF65-F5344CB8AC3E}">
        <p14:creationId xmlns:p14="http://schemas.microsoft.com/office/powerpoint/2010/main" val="3796112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P(Emergence) changes more sharply with Re than S . Black contours show when probability of emergence per year is between 1 in 10 and 1 in 1000 years</a:t>
            </a:r>
          </a:p>
          <a:p>
            <a:pPr marL="0" marR="0" lvl="0" indent="0" algn="l" defTabSz="914400" rtl="0" eaLnBrk="1" fontAlgn="auto" latinLnBrk="0" hangingPunct="1">
              <a:lnSpc>
                <a:spcPct val="100000"/>
              </a:lnSpc>
              <a:spcBef>
                <a:spcPts val="0"/>
              </a:spcBef>
              <a:spcAft>
                <a:spcPts val="0"/>
              </a:spcAft>
              <a:buClrTx/>
              <a:buSzTx/>
              <a:buFontTx/>
              <a:buNone/>
              <a:tabLst/>
              <a:defRPr/>
            </a:pPr>
            <a:br>
              <a:rPr lang="en-US"/>
            </a:br>
            <a:r>
              <a:rPr lang="en-US"/>
              <a:t>And note that changing Re can be effective to reduce the probability of evolving high transmissibility after spillover (during outbreaks), while reducing spillovers will only reduce the probability of emergence before spillover.</a:t>
            </a:r>
          </a:p>
          <a:p>
            <a:endParaRPr lang="en-US"/>
          </a:p>
        </p:txBody>
      </p:sp>
      <p:sp>
        <p:nvSpPr>
          <p:cNvPr id="4" name="Slide Number Placeholder 3"/>
          <p:cNvSpPr>
            <a:spLocks noGrp="1"/>
          </p:cNvSpPr>
          <p:nvPr>
            <p:ph type="sldNum" sz="quarter" idx="5"/>
          </p:nvPr>
        </p:nvSpPr>
        <p:spPr/>
        <p:txBody>
          <a:bodyPr/>
          <a:lstStyle/>
          <a:p>
            <a:fld id="{D25E994C-DB96-6D4C-B809-6B2AAF83BD72}" type="slidenum">
              <a:rPr lang="en-US" smtClean="0"/>
              <a:t>8</a:t>
            </a:fld>
            <a:endParaRPr lang="en-US"/>
          </a:p>
        </p:txBody>
      </p:sp>
    </p:spTree>
    <p:extLst>
      <p:ext uri="{BB962C8B-B14F-4D97-AF65-F5344CB8AC3E}">
        <p14:creationId xmlns:p14="http://schemas.microsoft.com/office/powerpoint/2010/main" val="16962402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EAD7C6-88CC-BFF5-4C03-B40A8ED1F8E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798B42B-7917-0E89-090B-E9FA02092B0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1AC3380-38CF-BC96-8E0E-71E00A41036B}"/>
              </a:ext>
            </a:extLst>
          </p:cNvPr>
          <p:cNvSpPr>
            <a:spLocks noGrp="1"/>
          </p:cNvSpPr>
          <p:nvPr>
            <p:ph type="dt" sz="half" idx="10"/>
          </p:nvPr>
        </p:nvSpPr>
        <p:spPr/>
        <p:txBody>
          <a:bodyPr/>
          <a:lstStyle/>
          <a:p>
            <a:fld id="{9F4AEB3C-D287-6F42-BE4A-5B2D28C015D5}" type="datetimeFigureOut">
              <a:rPr lang="en-US" smtClean="0"/>
              <a:t>10/21/25</a:t>
            </a:fld>
            <a:endParaRPr lang="en-US"/>
          </a:p>
        </p:txBody>
      </p:sp>
      <p:sp>
        <p:nvSpPr>
          <p:cNvPr id="5" name="Footer Placeholder 4">
            <a:extLst>
              <a:ext uri="{FF2B5EF4-FFF2-40B4-BE49-F238E27FC236}">
                <a16:creationId xmlns:a16="http://schemas.microsoft.com/office/drawing/2014/main" id="{41A50776-167E-8F9C-9CD8-EEA0856CB9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B1E455-9C79-A599-0114-FB1DE1335B39}"/>
              </a:ext>
            </a:extLst>
          </p:cNvPr>
          <p:cNvSpPr>
            <a:spLocks noGrp="1"/>
          </p:cNvSpPr>
          <p:nvPr>
            <p:ph type="sldNum" sz="quarter" idx="12"/>
          </p:nvPr>
        </p:nvSpPr>
        <p:spPr/>
        <p:txBody>
          <a:bodyPr/>
          <a:lstStyle/>
          <a:p>
            <a:fld id="{1561924E-C2E5-5547-8ACF-1B62CB380C8F}" type="slidenum">
              <a:rPr lang="en-US" smtClean="0"/>
              <a:t>‹#›</a:t>
            </a:fld>
            <a:endParaRPr lang="en-US"/>
          </a:p>
        </p:txBody>
      </p:sp>
    </p:spTree>
    <p:extLst>
      <p:ext uri="{BB962C8B-B14F-4D97-AF65-F5344CB8AC3E}">
        <p14:creationId xmlns:p14="http://schemas.microsoft.com/office/powerpoint/2010/main" val="12220081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402BD-BF88-797E-20ED-550E32232F8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55CF567-301C-36D7-C8B4-2631A83A589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F786A9-7808-A913-07FB-4327452977E6}"/>
              </a:ext>
            </a:extLst>
          </p:cNvPr>
          <p:cNvSpPr>
            <a:spLocks noGrp="1"/>
          </p:cNvSpPr>
          <p:nvPr>
            <p:ph type="dt" sz="half" idx="10"/>
          </p:nvPr>
        </p:nvSpPr>
        <p:spPr/>
        <p:txBody>
          <a:bodyPr/>
          <a:lstStyle/>
          <a:p>
            <a:fld id="{9F4AEB3C-D287-6F42-BE4A-5B2D28C015D5}" type="datetimeFigureOut">
              <a:rPr lang="en-US" smtClean="0"/>
              <a:t>10/21/25</a:t>
            </a:fld>
            <a:endParaRPr lang="en-US"/>
          </a:p>
        </p:txBody>
      </p:sp>
      <p:sp>
        <p:nvSpPr>
          <p:cNvPr id="5" name="Footer Placeholder 4">
            <a:extLst>
              <a:ext uri="{FF2B5EF4-FFF2-40B4-BE49-F238E27FC236}">
                <a16:creationId xmlns:a16="http://schemas.microsoft.com/office/drawing/2014/main" id="{5C5F2AAA-C3BB-3204-6E84-799ABBC626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7393A3-1E69-F62F-7B1C-EDB2B3D6BF46}"/>
              </a:ext>
            </a:extLst>
          </p:cNvPr>
          <p:cNvSpPr>
            <a:spLocks noGrp="1"/>
          </p:cNvSpPr>
          <p:nvPr>
            <p:ph type="sldNum" sz="quarter" idx="12"/>
          </p:nvPr>
        </p:nvSpPr>
        <p:spPr/>
        <p:txBody>
          <a:bodyPr/>
          <a:lstStyle/>
          <a:p>
            <a:fld id="{1561924E-C2E5-5547-8ACF-1B62CB380C8F}" type="slidenum">
              <a:rPr lang="en-US" smtClean="0"/>
              <a:t>‹#›</a:t>
            </a:fld>
            <a:endParaRPr lang="en-US"/>
          </a:p>
        </p:txBody>
      </p:sp>
    </p:spTree>
    <p:extLst>
      <p:ext uri="{BB962C8B-B14F-4D97-AF65-F5344CB8AC3E}">
        <p14:creationId xmlns:p14="http://schemas.microsoft.com/office/powerpoint/2010/main" val="1676330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D49BF-5E6A-C9F7-95C1-27CCC26692E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5F6A07A-B59D-5126-A354-FD622DC99C9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454FA70-379A-C6A8-2532-FC9291E44CDB}"/>
              </a:ext>
            </a:extLst>
          </p:cNvPr>
          <p:cNvSpPr>
            <a:spLocks noGrp="1"/>
          </p:cNvSpPr>
          <p:nvPr>
            <p:ph type="dt" sz="half" idx="10"/>
          </p:nvPr>
        </p:nvSpPr>
        <p:spPr/>
        <p:txBody>
          <a:bodyPr/>
          <a:lstStyle/>
          <a:p>
            <a:fld id="{9F4AEB3C-D287-6F42-BE4A-5B2D28C015D5}" type="datetimeFigureOut">
              <a:rPr lang="en-US" smtClean="0"/>
              <a:t>10/21/25</a:t>
            </a:fld>
            <a:endParaRPr lang="en-US"/>
          </a:p>
        </p:txBody>
      </p:sp>
      <p:sp>
        <p:nvSpPr>
          <p:cNvPr id="5" name="Footer Placeholder 4">
            <a:extLst>
              <a:ext uri="{FF2B5EF4-FFF2-40B4-BE49-F238E27FC236}">
                <a16:creationId xmlns:a16="http://schemas.microsoft.com/office/drawing/2014/main" id="{F0CDFB9D-E54C-15B0-4A03-4E7E5445A7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F0961C-FE5C-F284-F926-5787D47EC4CE}"/>
              </a:ext>
            </a:extLst>
          </p:cNvPr>
          <p:cNvSpPr>
            <a:spLocks noGrp="1"/>
          </p:cNvSpPr>
          <p:nvPr>
            <p:ph type="sldNum" sz="quarter" idx="12"/>
          </p:nvPr>
        </p:nvSpPr>
        <p:spPr/>
        <p:txBody>
          <a:bodyPr/>
          <a:lstStyle/>
          <a:p>
            <a:fld id="{1561924E-C2E5-5547-8ACF-1B62CB380C8F}" type="slidenum">
              <a:rPr lang="en-US" smtClean="0"/>
              <a:t>‹#›</a:t>
            </a:fld>
            <a:endParaRPr lang="en-US"/>
          </a:p>
        </p:txBody>
      </p:sp>
    </p:spTree>
    <p:extLst>
      <p:ext uri="{BB962C8B-B14F-4D97-AF65-F5344CB8AC3E}">
        <p14:creationId xmlns:p14="http://schemas.microsoft.com/office/powerpoint/2010/main" val="26949345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5E2CB-09AB-3985-45B1-03F56D78A36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EBF742A-F7BF-0F0E-EB94-C9CF15F0C75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5EEAA22-3D19-F976-4A55-52D3828D1C2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DA03894-E80B-0CED-82F2-60615E22669A}"/>
              </a:ext>
            </a:extLst>
          </p:cNvPr>
          <p:cNvSpPr>
            <a:spLocks noGrp="1"/>
          </p:cNvSpPr>
          <p:nvPr>
            <p:ph type="dt" sz="half" idx="10"/>
          </p:nvPr>
        </p:nvSpPr>
        <p:spPr/>
        <p:txBody>
          <a:bodyPr/>
          <a:lstStyle/>
          <a:p>
            <a:fld id="{9F4AEB3C-D287-6F42-BE4A-5B2D28C015D5}" type="datetimeFigureOut">
              <a:rPr lang="en-US" smtClean="0"/>
              <a:t>10/21/25</a:t>
            </a:fld>
            <a:endParaRPr lang="en-US"/>
          </a:p>
        </p:txBody>
      </p:sp>
      <p:sp>
        <p:nvSpPr>
          <p:cNvPr id="6" name="Footer Placeholder 5">
            <a:extLst>
              <a:ext uri="{FF2B5EF4-FFF2-40B4-BE49-F238E27FC236}">
                <a16:creationId xmlns:a16="http://schemas.microsoft.com/office/drawing/2014/main" id="{E733161B-4454-76A8-DAFD-83201C21658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9007763-07A5-F62F-B3F6-A31968851DED}"/>
              </a:ext>
            </a:extLst>
          </p:cNvPr>
          <p:cNvSpPr>
            <a:spLocks noGrp="1"/>
          </p:cNvSpPr>
          <p:nvPr>
            <p:ph type="sldNum" sz="quarter" idx="12"/>
          </p:nvPr>
        </p:nvSpPr>
        <p:spPr/>
        <p:txBody>
          <a:bodyPr/>
          <a:lstStyle/>
          <a:p>
            <a:fld id="{1561924E-C2E5-5547-8ACF-1B62CB380C8F}" type="slidenum">
              <a:rPr lang="en-US" smtClean="0"/>
              <a:t>‹#›</a:t>
            </a:fld>
            <a:endParaRPr lang="en-US"/>
          </a:p>
        </p:txBody>
      </p:sp>
    </p:spTree>
    <p:extLst>
      <p:ext uri="{BB962C8B-B14F-4D97-AF65-F5344CB8AC3E}">
        <p14:creationId xmlns:p14="http://schemas.microsoft.com/office/powerpoint/2010/main" val="33316372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79C15A-43D7-0335-3903-7A2994653C8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DFDE1F8-3830-6DB0-CF0C-72A018BD80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8C0ADD8-3714-2C78-4AF9-F0E4390791D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903009D-030B-9929-BD26-F075F7901C6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50F4AF-C5EF-AB02-E310-1BEE72144C1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525B477-9C19-070B-AF21-4018B1538699}"/>
              </a:ext>
            </a:extLst>
          </p:cNvPr>
          <p:cNvSpPr>
            <a:spLocks noGrp="1"/>
          </p:cNvSpPr>
          <p:nvPr>
            <p:ph type="dt" sz="half" idx="10"/>
          </p:nvPr>
        </p:nvSpPr>
        <p:spPr/>
        <p:txBody>
          <a:bodyPr/>
          <a:lstStyle/>
          <a:p>
            <a:fld id="{9F4AEB3C-D287-6F42-BE4A-5B2D28C015D5}" type="datetimeFigureOut">
              <a:rPr lang="en-US" smtClean="0"/>
              <a:t>10/21/25</a:t>
            </a:fld>
            <a:endParaRPr lang="en-US"/>
          </a:p>
        </p:txBody>
      </p:sp>
      <p:sp>
        <p:nvSpPr>
          <p:cNvPr id="8" name="Footer Placeholder 7">
            <a:extLst>
              <a:ext uri="{FF2B5EF4-FFF2-40B4-BE49-F238E27FC236}">
                <a16:creationId xmlns:a16="http://schemas.microsoft.com/office/drawing/2014/main" id="{44D99333-02D1-5C8A-9B7D-59B7B576DD7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F271834-8AD2-7B7C-0210-14E417FAB7F4}"/>
              </a:ext>
            </a:extLst>
          </p:cNvPr>
          <p:cNvSpPr>
            <a:spLocks noGrp="1"/>
          </p:cNvSpPr>
          <p:nvPr>
            <p:ph type="sldNum" sz="quarter" idx="12"/>
          </p:nvPr>
        </p:nvSpPr>
        <p:spPr/>
        <p:txBody>
          <a:bodyPr/>
          <a:lstStyle/>
          <a:p>
            <a:fld id="{1561924E-C2E5-5547-8ACF-1B62CB380C8F}" type="slidenum">
              <a:rPr lang="en-US" smtClean="0"/>
              <a:t>‹#›</a:t>
            </a:fld>
            <a:endParaRPr lang="en-US"/>
          </a:p>
        </p:txBody>
      </p:sp>
    </p:spTree>
    <p:extLst>
      <p:ext uri="{BB962C8B-B14F-4D97-AF65-F5344CB8AC3E}">
        <p14:creationId xmlns:p14="http://schemas.microsoft.com/office/powerpoint/2010/main" val="21725012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01719-0E7A-5914-6487-F6BB5594902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B77AF9A-27F1-83A9-7C42-B371FF199387}"/>
              </a:ext>
            </a:extLst>
          </p:cNvPr>
          <p:cNvSpPr>
            <a:spLocks noGrp="1"/>
          </p:cNvSpPr>
          <p:nvPr>
            <p:ph type="dt" sz="half" idx="10"/>
          </p:nvPr>
        </p:nvSpPr>
        <p:spPr/>
        <p:txBody>
          <a:bodyPr/>
          <a:lstStyle/>
          <a:p>
            <a:fld id="{9F4AEB3C-D287-6F42-BE4A-5B2D28C015D5}" type="datetimeFigureOut">
              <a:rPr lang="en-US" smtClean="0"/>
              <a:t>10/21/25</a:t>
            </a:fld>
            <a:endParaRPr lang="en-US"/>
          </a:p>
        </p:txBody>
      </p:sp>
      <p:sp>
        <p:nvSpPr>
          <p:cNvPr id="4" name="Footer Placeholder 3">
            <a:extLst>
              <a:ext uri="{FF2B5EF4-FFF2-40B4-BE49-F238E27FC236}">
                <a16:creationId xmlns:a16="http://schemas.microsoft.com/office/drawing/2014/main" id="{89A8AC50-8C81-6B95-9434-8CA397273D2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EA991FB-4151-2185-8E35-DD7BF24B5C28}"/>
              </a:ext>
            </a:extLst>
          </p:cNvPr>
          <p:cNvSpPr>
            <a:spLocks noGrp="1"/>
          </p:cNvSpPr>
          <p:nvPr>
            <p:ph type="sldNum" sz="quarter" idx="12"/>
          </p:nvPr>
        </p:nvSpPr>
        <p:spPr/>
        <p:txBody>
          <a:bodyPr/>
          <a:lstStyle/>
          <a:p>
            <a:fld id="{1561924E-C2E5-5547-8ACF-1B62CB380C8F}" type="slidenum">
              <a:rPr lang="en-US" smtClean="0"/>
              <a:t>‹#›</a:t>
            </a:fld>
            <a:endParaRPr lang="en-US"/>
          </a:p>
        </p:txBody>
      </p:sp>
    </p:spTree>
    <p:extLst>
      <p:ext uri="{BB962C8B-B14F-4D97-AF65-F5344CB8AC3E}">
        <p14:creationId xmlns:p14="http://schemas.microsoft.com/office/powerpoint/2010/main" val="16859827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8C8E1DD-DC06-A859-CE2E-5B13E35154A6}"/>
              </a:ext>
            </a:extLst>
          </p:cNvPr>
          <p:cNvSpPr>
            <a:spLocks noGrp="1"/>
          </p:cNvSpPr>
          <p:nvPr>
            <p:ph type="dt" sz="half" idx="10"/>
          </p:nvPr>
        </p:nvSpPr>
        <p:spPr/>
        <p:txBody>
          <a:bodyPr/>
          <a:lstStyle/>
          <a:p>
            <a:fld id="{9F4AEB3C-D287-6F42-BE4A-5B2D28C015D5}" type="datetimeFigureOut">
              <a:rPr lang="en-US" smtClean="0"/>
              <a:t>10/21/25</a:t>
            </a:fld>
            <a:endParaRPr lang="en-US"/>
          </a:p>
        </p:txBody>
      </p:sp>
      <p:sp>
        <p:nvSpPr>
          <p:cNvPr id="3" name="Footer Placeholder 2">
            <a:extLst>
              <a:ext uri="{FF2B5EF4-FFF2-40B4-BE49-F238E27FC236}">
                <a16:creationId xmlns:a16="http://schemas.microsoft.com/office/drawing/2014/main" id="{023E51B7-3F99-3C20-1895-809895DB399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DFA8AB8-A6A3-A50A-9768-2378BEB6805A}"/>
              </a:ext>
            </a:extLst>
          </p:cNvPr>
          <p:cNvSpPr>
            <a:spLocks noGrp="1"/>
          </p:cNvSpPr>
          <p:nvPr>
            <p:ph type="sldNum" sz="quarter" idx="12"/>
          </p:nvPr>
        </p:nvSpPr>
        <p:spPr/>
        <p:txBody>
          <a:bodyPr/>
          <a:lstStyle/>
          <a:p>
            <a:fld id="{1561924E-C2E5-5547-8ACF-1B62CB380C8F}" type="slidenum">
              <a:rPr lang="en-US" smtClean="0"/>
              <a:t>‹#›</a:t>
            </a:fld>
            <a:endParaRPr lang="en-US"/>
          </a:p>
        </p:txBody>
      </p:sp>
    </p:spTree>
    <p:extLst>
      <p:ext uri="{BB962C8B-B14F-4D97-AF65-F5344CB8AC3E}">
        <p14:creationId xmlns:p14="http://schemas.microsoft.com/office/powerpoint/2010/main" val="12086276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09B771-CF1C-8F04-4A6C-FDA42F7018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D75E002-EB52-614C-608C-F10888C30EF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A4DDB4B-D327-48C9-5C9F-CC860A5048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C41353-5254-AC5B-C1B6-724372AB18A1}"/>
              </a:ext>
            </a:extLst>
          </p:cNvPr>
          <p:cNvSpPr>
            <a:spLocks noGrp="1"/>
          </p:cNvSpPr>
          <p:nvPr>
            <p:ph type="dt" sz="half" idx="10"/>
          </p:nvPr>
        </p:nvSpPr>
        <p:spPr/>
        <p:txBody>
          <a:bodyPr/>
          <a:lstStyle/>
          <a:p>
            <a:fld id="{9F4AEB3C-D287-6F42-BE4A-5B2D28C015D5}" type="datetimeFigureOut">
              <a:rPr lang="en-US" smtClean="0"/>
              <a:t>10/21/25</a:t>
            </a:fld>
            <a:endParaRPr lang="en-US"/>
          </a:p>
        </p:txBody>
      </p:sp>
      <p:sp>
        <p:nvSpPr>
          <p:cNvPr id="6" name="Footer Placeholder 5">
            <a:extLst>
              <a:ext uri="{FF2B5EF4-FFF2-40B4-BE49-F238E27FC236}">
                <a16:creationId xmlns:a16="http://schemas.microsoft.com/office/drawing/2014/main" id="{34738968-3994-CCF4-BDEB-CBD76B519D5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1E2C3F6-2D1B-8DFB-0E4B-0D3730DBF98C}"/>
              </a:ext>
            </a:extLst>
          </p:cNvPr>
          <p:cNvSpPr>
            <a:spLocks noGrp="1"/>
          </p:cNvSpPr>
          <p:nvPr>
            <p:ph type="sldNum" sz="quarter" idx="12"/>
          </p:nvPr>
        </p:nvSpPr>
        <p:spPr/>
        <p:txBody>
          <a:bodyPr/>
          <a:lstStyle/>
          <a:p>
            <a:fld id="{1561924E-C2E5-5547-8ACF-1B62CB380C8F}" type="slidenum">
              <a:rPr lang="en-US" smtClean="0"/>
              <a:t>‹#›</a:t>
            </a:fld>
            <a:endParaRPr lang="en-US"/>
          </a:p>
        </p:txBody>
      </p:sp>
    </p:spTree>
    <p:extLst>
      <p:ext uri="{BB962C8B-B14F-4D97-AF65-F5344CB8AC3E}">
        <p14:creationId xmlns:p14="http://schemas.microsoft.com/office/powerpoint/2010/main" val="34545094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5C242-EEB6-B026-ECEF-2A118F1B532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EC47F9C-0C34-CEAD-CC1F-A416F80D491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4C7A842-37F5-4C73-8AFB-C5DDD22DAE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07DD8CC-E229-24E8-1EAC-C9E08C9D79F2}"/>
              </a:ext>
            </a:extLst>
          </p:cNvPr>
          <p:cNvSpPr>
            <a:spLocks noGrp="1"/>
          </p:cNvSpPr>
          <p:nvPr>
            <p:ph type="dt" sz="half" idx="10"/>
          </p:nvPr>
        </p:nvSpPr>
        <p:spPr/>
        <p:txBody>
          <a:bodyPr/>
          <a:lstStyle/>
          <a:p>
            <a:fld id="{9F4AEB3C-D287-6F42-BE4A-5B2D28C015D5}" type="datetimeFigureOut">
              <a:rPr lang="en-US" smtClean="0"/>
              <a:t>10/21/25</a:t>
            </a:fld>
            <a:endParaRPr lang="en-US"/>
          </a:p>
        </p:txBody>
      </p:sp>
      <p:sp>
        <p:nvSpPr>
          <p:cNvPr id="6" name="Footer Placeholder 5">
            <a:extLst>
              <a:ext uri="{FF2B5EF4-FFF2-40B4-BE49-F238E27FC236}">
                <a16:creationId xmlns:a16="http://schemas.microsoft.com/office/drawing/2014/main" id="{ED6BD736-D24C-4843-2FA4-56810FC0A07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5BCBEC4-15A8-6F81-219E-D91AA26BCAC4}"/>
              </a:ext>
            </a:extLst>
          </p:cNvPr>
          <p:cNvSpPr>
            <a:spLocks noGrp="1"/>
          </p:cNvSpPr>
          <p:nvPr>
            <p:ph type="sldNum" sz="quarter" idx="12"/>
          </p:nvPr>
        </p:nvSpPr>
        <p:spPr/>
        <p:txBody>
          <a:bodyPr/>
          <a:lstStyle/>
          <a:p>
            <a:fld id="{1561924E-C2E5-5547-8ACF-1B62CB380C8F}" type="slidenum">
              <a:rPr lang="en-US" smtClean="0"/>
              <a:t>‹#›</a:t>
            </a:fld>
            <a:endParaRPr lang="en-US"/>
          </a:p>
        </p:txBody>
      </p:sp>
    </p:spTree>
    <p:extLst>
      <p:ext uri="{BB962C8B-B14F-4D97-AF65-F5344CB8AC3E}">
        <p14:creationId xmlns:p14="http://schemas.microsoft.com/office/powerpoint/2010/main" val="20000420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3583E5-D6D8-0CC7-011D-03BFA3522FF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7AF8E72-15B5-1EAE-A4DA-993871D8990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27A40B-ECDF-08C0-4ABD-865A250FD546}"/>
              </a:ext>
            </a:extLst>
          </p:cNvPr>
          <p:cNvSpPr>
            <a:spLocks noGrp="1"/>
          </p:cNvSpPr>
          <p:nvPr>
            <p:ph type="dt" sz="half" idx="10"/>
          </p:nvPr>
        </p:nvSpPr>
        <p:spPr/>
        <p:txBody>
          <a:bodyPr/>
          <a:lstStyle/>
          <a:p>
            <a:fld id="{9F4AEB3C-D287-6F42-BE4A-5B2D28C015D5}" type="datetimeFigureOut">
              <a:rPr lang="en-US" smtClean="0"/>
              <a:t>10/21/25</a:t>
            </a:fld>
            <a:endParaRPr lang="en-US"/>
          </a:p>
        </p:txBody>
      </p:sp>
      <p:sp>
        <p:nvSpPr>
          <p:cNvPr id="5" name="Footer Placeholder 4">
            <a:extLst>
              <a:ext uri="{FF2B5EF4-FFF2-40B4-BE49-F238E27FC236}">
                <a16:creationId xmlns:a16="http://schemas.microsoft.com/office/drawing/2014/main" id="{6DAEE222-FD56-7254-FEAB-6B71027E75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E583CC-998C-CA52-0ABA-53DC643F305B}"/>
              </a:ext>
            </a:extLst>
          </p:cNvPr>
          <p:cNvSpPr>
            <a:spLocks noGrp="1"/>
          </p:cNvSpPr>
          <p:nvPr>
            <p:ph type="sldNum" sz="quarter" idx="12"/>
          </p:nvPr>
        </p:nvSpPr>
        <p:spPr/>
        <p:txBody>
          <a:bodyPr/>
          <a:lstStyle/>
          <a:p>
            <a:fld id="{1561924E-C2E5-5547-8ACF-1B62CB380C8F}" type="slidenum">
              <a:rPr lang="en-US" smtClean="0"/>
              <a:t>‹#›</a:t>
            </a:fld>
            <a:endParaRPr lang="en-US"/>
          </a:p>
        </p:txBody>
      </p:sp>
    </p:spTree>
    <p:extLst>
      <p:ext uri="{BB962C8B-B14F-4D97-AF65-F5344CB8AC3E}">
        <p14:creationId xmlns:p14="http://schemas.microsoft.com/office/powerpoint/2010/main" val="10780694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0F8B50F-97CF-6F42-8AE1-0A278C0D97B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9E4D9DF-D115-7F16-E12C-832DD8CDEFA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B8C706-696F-B784-A286-471E1470DE29}"/>
              </a:ext>
            </a:extLst>
          </p:cNvPr>
          <p:cNvSpPr>
            <a:spLocks noGrp="1"/>
          </p:cNvSpPr>
          <p:nvPr>
            <p:ph type="dt" sz="half" idx="10"/>
          </p:nvPr>
        </p:nvSpPr>
        <p:spPr/>
        <p:txBody>
          <a:bodyPr/>
          <a:lstStyle/>
          <a:p>
            <a:fld id="{9F4AEB3C-D287-6F42-BE4A-5B2D28C015D5}" type="datetimeFigureOut">
              <a:rPr lang="en-US" smtClean="0"/>
              <a:t>10/21/25</a:t>
            </a:fld>
            <a:endParaRPr lang="en-US"/>
          </a:p>
        </p:txBody>
      </p:sp>
      <p:sp>
        <p:nvSpPr>
          <p:cNvPr id="5" name="Footer Placeholder 4">
            <a:extLst>
              <a:ext uri="{FF2B5EF4-FFF2-40B4-BE49-F238E27FC236}">
                <a16:creationId xmlns:a16="http://schemas.microsoft.com/office/drawing/2014/main" id="{5952B4E6-3381-649D-DABB-E7E1A27D4B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BB8360-2E58-E301-C821-0C4445A4AB3B}"/>
              </a:ext>
            </a:extLst>
          </p:cNvPr>
          <p:cNvSpPr>
            <a:spLocks noGrp="1"/>
          </p:cNvSpPr>
          <p:nvPr>
            <p:ph type="sldNum" sz="quarter" idx="12"/>
          </p:nvPr>
        </p:nvSpPr>
        <p:spPr/>
        <p:txBody>
          <a:bodyPr/>
          <a:lstStyle/>
          <a:p>
            <a:fld id="{1561924E-C2E5-5547-8ACF-1B62CB380C8F}" type="slidenum">
              <a:rPr lang="en-US" smtClean="0"/>
              <a:t>‹#›</a:t>
            </a:fld>
            <a:endParaRPr lang="en-US"/>
          </a:p>
        </p:txBody>
      </p:sp>
    </p:spTree>
    <p:extLst>
      <p:ext uri="{BB962C8B-B14F-4D97-AF65-F5344CB8AC3E}">
        <p14:creationId xmlns:p14="http://schemas.microsoft.com/office/powerpoint/2010/main" val="11020604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2F46775-75EC-3E19-A447-C896E2277E2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21FC488-96AC-A18B-1986-766C4BFBC14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66EF7B-0BD9-815A-83FB-633B268308D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F4AEB3C-D287-6F42-BE4A-5B2D28C015D5}" type="datetimeFigureOut">
              <a:rPr lang="en-US" smtClean="0"/>
              <a:t>10/21/25</a:t>
            </a:fld>
            <a:endParaRPr lang="en-US"/>
          </a:p>
        </p:txBody>
      </p:sp>
      <p:sp>
        <p:nvSpPr>
          <p:cNvPr id="5" name="Footer Placeholder 4">
            <a:extLst>
              <a:ext uri="{FF2B5EF4-FFF2-40B4-BE49-F238E27FC236}">
                <a16:creationId xmlns:a16="http://schemas.microsoft.com/office/drawing/2014/main" id="{2E20AC3F-B9B5-A662-0099-F4E95553652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2CF9C97-AC91-2476-E8B3-66968D3266B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561924E-C2E5-5547-8ACF-1B62CB380C8F}" type="slidenum">
              <a:rPr lang="en-US" smtClean="0"/>
              <a:t>‹#›</a:t>
            </a:fld>
            <a:endParaRPr lang="en-US"/>
          </a:p>
        </p:txBody>
      </p:sp>
    </p:spTree>
    <p:extLst>
      <p:ext uri="{BB962C8B-B14F-4D97-AF65-F5344CB8AC3E}">
        <p14:creationId xmlns:p14="http://schemas.microsoft.com/office/powerpoint/2010/main" val="15686758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6" name="Group 215">
            <a:extLst>
              <a:ext uri="{FF2B5EF4-FFF2-40B4-BE49-F238E27FC236}">
                <a16:creationId xmlns:a16="http://schemas.microsoft.com/office/drawing/2014/main" id="{D1527B7D-8789-CF98-B79C-14B3134CA600}"/>
              </a:ext>
            </a:extLst>
          </p:cNvPr>
          <p:cNvGrpSpPr/>
          <p:nvPr/>
        </p:nvGrpSpPr>
        <p:grpSpPr>
          <a:xfrm>
            <a:off x="984897" y="1342148"/>
            <a:ext cx="14547593" cy="4943731"/>
            <a:chOff x="1238086" y="1247004"/>
            <a:chExt cx="14547593" cy="4943731"/>
          </a:xfrm>
        </p:grpSpPr>
        <p:sp>
          <p:nvSpPr>
            <p:cNvPr id="159" name="Oval 158">
              <a:extLst>
                <a:ext uri="{FF2B5EF4-FFF2-40B4-BE49-F238E27FC236}">
                  <a16:creationId xmlns:a16="http://schemas.microsoft.com/office/drawing/2014/main" id="{793654B1-09F7-914A-4372-4477727602E5}"/>
                </a:ext>
              </a:extLst>
            </p:cNvPr>
            <p:cNvSpPr/>
            <p:nvPr/>
          </p:nvSpPr>
          <p:spPr>
            <a:xfrm rot="16200000">
              <a:off x="2385499" y="2946892"/>
              <a:ext cx="205539" cy="190500"/>
            </a:xfrm>
            <a:prstGeom prst="ellipse">
              <a:avLst/>
            </a:prstGeom>
            <a:solidFill>
              <a:schemeClr val="bg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cxnSp>
          <p:nvCxnSpPr>
            <p:cNvPr id="164" name="Straight Connector 163">
              <a:extLst>
                <a:ext uri="{FF2B5EF4-FFF2-40B4-BE49-F238E27FC236}">
                  <a16:creationId xmlns:a16="http://schemas.microsoft.com/office/drawing/2014/main" id="{6D39167A-5DAF-347A-F44C-A5278029CD4B}"/>
                </a:ext>
              </a:extLst>
            </p:cNvPr>
            <p:cNvCxnSpPr>
              <a:cxnSpLocks/>
            </p:cNvCxnSpPr>
            <p:nvPr/>
          </p:nvCxnSpPr>
          <p:spPr>
            <a:xfrm>
              <a:off x="8282580" y="5116987"/>
              <a:ext cx="1265813" cy="0"/>
            </a:xfrm>
            <a:prstGeom prst="line">
              <a:avLst/>
            </a:prstGeom>
            <a:ln w="76200">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165" name="Straight Arrow Connector 164">
              <a:extLst>
                <a:ext uri="{FF2B5EF4-FFF2-40B4-BE49-F238E27FC236}">
                  <a16:creationId xmlns:a16="http://schemas.microsoft.com/office/drawing/2014/main" id="{D5899919-559D-9DAC-AEFE-50D199ED9E19}"/>
                </a:ext>
              </a:extLst>
            </p:cNvPr>
            <p:cNvCxnSpPr>
              <a:cxnSpLocks/>
            </p:cNvCxnSpPr>
            <p:nvPr/>
          </p:nvCxnSpPr>
          <p:spPr>
            <a:xfrm>
              <a:off x="8594264" y="3921860"/>
              <a:ext cx="426816" cy="23810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66" name="Straight Arrow Connector 165">
              <a:extLst>
                <a:ext uri="{FF2B5EF4-FFF2-40B4-BE49-F238E27FC236}">
                  <a16:creationId xmlns:a16="http://schemas.microsoft.com/office/drawing/2014/main" id="{75101F24-4E80-F7CC-6A1C-76647FA7F6FC}"/>
                </a:ext>
              </a:extLst>
            </p:cNvPr>
            <p:cNvCxnSpPr>
              <a:cxnSpLocks/>
            </p:cNvCxnSpPr>
            <p:nvPr/>
          </p:nvCxnSpPr>
          <p:spPr>
            <a:xfrm rot="16200000">
              <a:off x="8661955" y="3377088"/>
              <a:ext cx="275737" cy="44251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67" name="Oval 166">
              <a:extLst>
                <a:ext uri="{FF2B5EF4-FFF2-40B4-BE49-F238E27FC236}">
                  <a16:creationId xmlns:a16="http://schemas.microsoft.com/office/drawing/2014/main" id="{14FCA540-76C8-D269-71D8-43529744B158}"/>
                </a:ext>
              </a:extLst>
            </p:cNvPr>
            <p:cNvSpPr/>
            <p:nvPr/>
          </p:nvSpPr>
          <p:spPr>
            <a:xfrm rot="16200000">
              <a:off x="9073295" y="4112199"/>
              <a:ext cx="205539" cy="190500"/>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168" name="Oval 167">
              <a:extLst>
                <a:ext uri="{FF2B5EF4-FFF2-40B4-BE49-F238E27FC236}">
                  <a16:creationId xmlns:a16="http://schemas.microsoft.com/office/drawing/2014/main" id="{3D1AE3C9-6178-E961-4FBC-849255AB36B5}"/>
                </a:ext>
              </a:extLst>
            </p:cNvPr>
            <p:cNvSpPr/>
            <p:nvPr/>
          </p:nvSpPr>
          <p:spPr>
            <a:xfrm rot="16200000">
              <a:off x="9069116" y="3305878"/>
              <a:ext cx="205539" cy="190500"/>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169" name="TextBox 168">
              <a:extLst>
                <a:ext uri="{FF2B5EF4-FFF2-40B4-BE49-F238E27FC236}">
                  <a16:creationId xmlns:a16="http://schemas.microsoft.com/office/drawing/2014/main" id="{768D7BA3-78C7-C583-714E-12C68ACFEB89}"/>
                </a:ext>
              </a:extLst>
            </p:cNvPr>
            <p:cNvSpPr txBox="1"/>
            <p:nvPr/>
          </p:nvSpPr>
          <p:spPr>
            <a:xfrm>
              <a:off x="8579503" y="2782614"/>
              <a:ext cx="126204" cy="400110"/>
            </a:xfrm>
            <a:prstGeom prst="rect">
              <a:avLst/>
            </a:prstGeom>
            <a:noFill/>
            <a:ln>
              <a:noFill/>
            </a:ln>
          </p:spPr>
          <p:txBody>
            <a:bodyPr wrap="square" rtlCol="0">
              <a:spAutoFit/>
            </a:bodyPr>
            <a:lstStyle/>
            <a:p>
              <a:pPr algn="ctr"/>
              <a:r>
                <a:rPr lang="en-US" sz="2000" dirty="0"/>
                <a:t>†</a:t>
              </a:r>
            </a:p>
          </p:txBody>
        </p:sp>
        <p:sp>
          <p:nvSpPr>
            <p:cNvPr id="172" name="Oval 171">
              <a:extLst>
                <a:ext uri="{FF2B5EF4-FFF2-40B4-BE49-F238E27FC236}">
                  <a16:creationId xmlns:a16="http://schemas.microsoft.com/office/drawing/2014/main" id="{F5F407D0-DFD3-7E0A-B24B-CC7FFF533F43}"/>
                </a:ext>
              </a:extLst>
            </p:cNvPr>
            <p:cNvSpPr/>
            <p:nvPr/>
          </p:nvSpPr>
          <p:spPr>
            <a:xfrm rot="16200000">
              <a:off x="9101476" y="1924136"/>
              <a:ext cx="205539" cy="190500"/>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cxnSp>
          <p:nvCxnSpPr>
            <p:cNvPr id="175" name="Straight Arrow Connector 174">
              <a:extLst>
                <a:ext uri="{FF2B5EF4-FFF2-40B4-BE49-F238E27FC236}">
                  <a16:creationId xmlns:a16="http://schemas.microsoft.com/office/drawing/2014/main" id="{90D9C743-7788-8549-BF5A-106A06BD7D75}"/>
                </a:ext>
              </a:extLst>
            </p:cNvPr>
            <p:cNvCxnSpPr>
              <a:cxnSpLocks/>
            </p:cNvCxnSpPr>
            <p:nvPr/>
          </p:nvCxnSpPr>
          <p:spPr>
            <a:xfrm>
              <a:off x="8627208" y="3831850"/>
              <a:ext cx="540885" cy="248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76" name="Oval 175">
              <a:extLst>
                <a:ext uri="{FF2B5EF4-FFF2-40B4-BE49-F238E27FC236}">
                  <a16:creationId xmlns:a16="http://schemas.microsoft.com/office/drawing/2014/main" id="{95034C7F-6387-D041-1149-34C315D26CEE}"/>
                </a:ext>
              </a:extLst>
            </p:cNvPr>
            <p:cNvSpPr/>
            <p:nvPr/>
          </p:nvSpPr>
          <p:spPr>
            <a:xfrm rot="16200000">
              <a:off x="9233188" y="3751229"/>
              <a:ext cx="205539" cy="190500"/>
            </a:xfrm>
            <a:prstGeom prst="ellipse">
              <a:avLst/>
            </a:prstGeom>
            <a:solidFill>
              <a:srgbClr val="73080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cxnSp>
          <p:nvCxnSpPr>
            <p:cNvPr id="177" name="Straight Arrow Connector 176">
              <a:extLst>
                <a:ext uri="{FF2B5EF4-FFF2-40B4-BE49-F238E27FC236}">
                  <a16:creationId xmlns:a16="http://schemas.microsoft.com/office/drawing/2014/main" id="{5EBCA062-509A-A1D2-C198-2F2230EC2665}"/>
                </a:ext>
              </a:extLst>
            </p:cNvPr>
            <p:cNvCxnSpPr>
              <a:cxnSpLocks/>
            </p:cNvCxnSpPr>
            <p:nvPr/>
          </p:nvCxnSpPr>
          <p:spPr>
            <a:xfrm>
              <a:off x="8622256" y="2425722"/>
              <a:ext cx="433654" cy="15356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79" name="Oval 178">
              <a:extLst>
                <a:ext uri="{FF2B5EF4-FFF2-40B4-BE49-F238E27FC236}">
                  <a16:creationId xmlns:a16="http://schemas.microsoft.com/office/drawing/2014/main" id="{4F0E3060-02C0-622D-E7E5-41E44DE431DE}"/>
                </a:ext>
              </a:extLst>
            </p:cNvPr>
            <p:cNvSpPr/>
            <p:nvPr/>
          </p:nvSpPr>
          <p:spPr>
            <a:xfrm rot="16200000">
              <a:off x="9096231" y="2488863"/>
              <a:ext cx="205539" cy="1905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cxnSp>
          <p:nvCxnSpPr>
            <p:cNvPr id="187" name="Straight Arrow Connector 186">
              <a:extLst>
                <a:ext uri="{FF2B5EF4-FFF2-40B4-BE49-F238E27FC236}">
                  <a16:creationId xmlns:a16="http://schemas.microsoft.com/office/drawing/2014/main" id="{328E47AE-B61E-DF57-6FA7-AD31E4D61430}"/>
                </a:ext>
              </a:extLst>
            </p:cNvPr>
            <p:cNvCxnSpPr>
              <a:cxnSpLocks/>
            </p:cNvCxnSpPr>
            <p:nvPr/>
          </p:nvCxnSpPr>
          <p:spPr>
            <a:xfrm>
              <a:off x="9561567" y="3831310"/>
              <a:ext cx="540885" cy="248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88" name="Oval 187">
              <a:extLst>
                <a:ext uri="{FF2B5EF4-FFF2-40B4-BE49-F238E27FC236}">
                  <a16:creationId xmlns:a16="http://schemas.microsoft.com/office/drawing/2014/main" id="{5771C15F-65FC-A007-4944-1977A8E3B058}"/>
                </a:ext>
              </a:extLst>
            </p:cNvPr>
            <p:cNvSpPr/>
            <p:nvPr/>
          </p:nvSpPr>
          <p:spPr>
            <a:xfrm rot="16200000">
              <a:off x="10167547" y="3750689"/>
              <a:ext cx="205539" cy="190500"/>
            </a:xfrm>
            <a:prstGeom prst="ellipse">
              <a:avLst/>
            </a:prstGeom>
            <a:solidFill>
              <a:srgbClr val="73080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cxnSp>
          <p:nvCxnSpPr>
            <p:cNvPr id="189" name="Straight Arrow Connector 188">
              <a:extLst>
                <a:ext uri="{FF2B5EF4-FFF2-40B4-BE49-F238E27FC236}">
                  <a16:creationId xmlns:a16="http://schemas.microsoft.com/office/drawing/2014/main" id="{6A4BAC27-4677-F1AA-7328-02F4FA888B5B}"/>
                </a:ext>
              </a:extLst>
            </p:cNvPr>
            <p:cNvCxnSpPr>
              <a:cxnSpLocks/>
            </p:cNvCxnSpPr>
            <p:nvPr/>
          </p:nvCxnSpPr>
          <p:spPr>
            <a:xfrm>
              <a:off x="9548886" y="3948525"/>
              <a:ext cx="426816" cy="23810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90" name="Oval 189">
              <a:extLst>
                <a:ext uri="{FF2B5EF4-FFF2-40B4-BE49-F238E27FC236}">
                  <a16:creationId xmlns:a16="http://schemas.microsoft.com/office/drawing/2014/main" id="{0910D8A5-A5AF-FDA9-29CD-B2840E410CA2}"/>
                </a:ext>
              </a:extLst>
            </p:cNvPr>
            <p:cNvSpPr/>
            <p:nvPr/>
          </p:nvSpPr>
          <p:spPr>
            <a:xfrm rot="16200000">
              <a:off x="10027917" y="4138864"/>
              <a:ext cx="205539" cy="190500"/>
            </a:xfrm>
            <a:prstGeom prst="ellipse">
              <a:avLst/>
            </a:prstGeom>
            <a:solidFill>
              <a:srgbClr val="73080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cxnSp>
          <p:nvCxnSpPr>
            <p:cNvPr id="191" name="Straight Arrow Connector 190">
              <a:extLst>
                <a:ext uri="{FF2B5EF4-FFF2-40B4-BE49-F238E27FC236}">
                  <a16:creationId xmlns:a16="http://schemas.microsoft.com/office/drawing/2014/main" id="{860DD5D1-6A71-A6D6-6660-28C967466A3A}"/>
                </a:ext>
              </a:extLst>
            </p:cNvPr>
            <p:cNvCxnSpPr>
              <a:cxnSpLocks/>
            </p:cNvCxnSpPr>
            <p:nvPr/>
          </p:nvCxnSpPr>
          <p:spPr>
            <a:xfrm rot="16200000">
              <a:off x="9624373" y="3359886"/>
              <a:ext cx="275737" cy="44251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92" name="Oval 191">
              <a:extLst>
                <a:ext uri="{FF2B5EF4-FFF2-40B4-BE49-F238E27FC236}">
                  <a16:creationId xmlns:a16="http://schemas.microsoft.com/office/drawing/2014/main" id="{A3B4DCC0-E374-7EDE-EAB1-18C43C0ABCB1}"/>
                </a:ext>
              </a:extLst>
            </p:cNvPr>
            <p:cNvSpPr/>
            <p:nvPr/>
          </p:nvSpPr>
          <p:spPr>
            <a:xfrm rot="16200000">
              <a:off x="10031534" y="3288676"/>
              <a:ext cx="205539" cy="190500"/>
            </a:xfrm>
            <a:prstGeom prst="ellipse">
              <a:avLst/>
            </a:prstGeom>
            <a:solidFill>
              <a:srgbClr val="73080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cxnSp>
          <p:nvCxnSpPr>
            <p:cNvPr id="200" name="Straight Arrow Connector 199">
              <a:extLst>
                <a:ext uri="{FF2B5EF4-FFF2-40B4-BE49-F238E27FC236}">
                  <a16:creationId xmlns:a16="http://schemas.microsoft.com/office/drawing/2014/main" id="{87AAD0B6-3A58-9587-C5BC-6E63A916433D}"/>
                </a:ext>
              </a:extLst>
            </p:cNvPr>
            <p:cNvCxnSpPr>
              <a:cxnSpLocks/>
            </p:cNvCxnSpPr>
            <p:nvPr/>
          </p:nvCxnSpPr>
          <p:spPr>
            <a:xfrm rot="16200000">
              <a:off x="9424133" y="2924703"/>
              <a:ext cx="275737" cy="44251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01" name="Oval 200">
              <a:extLst>
                <a:ext uri="{FF2B5EF4-FFF2-40B4-BE49-F238E27FC236}">
                  <a16:creationId xmlns:a16="http://schemas.microsoft.com/office/drawing/2014/main" id="{30C41D28-94C1-225C-125B-2E13848DB554}"/>
                </a:ext>
              </a:extLst>
            </p:cNvPr>
            <p:cNvSpPr/>
            <p:nvPr/>
          </p:nvSpPr>
          <p:spPr>
            <a:xfrm rot="16200000">
              <a:off x="9831294" y="2853493"/>
              <a:ext cx="205539" cy="190500"/>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206" name="TextBox 205">
              <a:extLst>
                <a:ext uri="{FF2B5EF4-FFF2-40B4-BE49-F238E27FC236}">
                  <a16:creationId xmlns:a16="http://schemas.microsoft.com/office/drawing/2014/main" id="{DAFE5707-75A0-6B07-2A52-416053AE3998}"/>
                </a:ext>
              </a:extLst>
            </p:cNvPr>
            <p:cNvSpPr txBox="1"/>
            <p:nvPr/>
          </p:nvSpPr>
          <p:spPr>
            <a:xfrm>
              <a:off x="9354743" y="2361251"/>
              <a:ext cx="126204" cy="400110"/>
            </a:xfrm>
            <a:prstGeom prst="rect">
              <a:avLst/>
            </a:prstGeom>
            <a:noFill/>
            <a:ln>
              <a:noFill/>
            </a:ln>
          </p:spPr>
          <p:txBody>
            <a:bodyPr wrap="square" rtlCol="0">
              <a:spAutoFit/>
            </a:bodyPr>
            <a:lstStyle/>
            <a:p>
              <a:pPr algn="ctr"/>
              <a:r>
                <a:rPr lang="en-US" sz="2000" dirty="0"/>
                <a:t>†</a:t>
              </a:r>
            </a:p>
          </p:txBody>
        </p:sp>
        <p:cxnSp>
          <p:nvCxnSpPr>
            <p:cNvPr id="207" name="Straight Arrow Connector 206">
              <a:extLst>
                <a:ext uri="{FF2B5EF4-FFF2-40B4-BE49-F238E27FC236}">
                  <a16:creationId xmlns:a16="http://schemas.microsoft.com/office/drawing/2014/main" id="{79A2112D-390F-B45B-B068-49172549DB0D}"/>
                </a:ext>
              </a:extLst>
            </p:cNvPr>
            <p:cNvCxnSpPr>
              <a:cxnSpLocks/>
            </p:cNvCxnSpPr>
            <p:nvPr/>
          </p:nvCxnSpPr>
          <p:spPr>
            <a:xfrm flipV="1">
              <a:off x="9392838" y="1765082"/>
              <a:ext cx="390420" cy="17954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08" name="Straight Arrow Connector 207">
              <a:extLst>
                <a:ext uri="{FF2B5EF4-FFF2-40B4-BE49-F238E27FC236}">
                  <a16:creationId xmlns:a16="http://schemas.microsoft.com/office/drawing/2014/main" id="{410C5F03-8DAF-E3B2-520D-0E5C891A0B2B}"/>
                </a:ext>
              </a:extLst>
            </p:cNvPr>
            <p:cNvCxnSpPr>
              <a:cxnSpLocks/>
            </p:cNvCxnSpPr>
            <p:nvPr/>
          </p:nvCxnSpPr>
          <p:spPr>
            <a:xfrm>
              <a:off x="9392838" y="2059364"/>
              <a:ext cx="383025" cy="14546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09" name="Oval 208">
              <a:extLst>
                <a:ext uri="{FF2B5EF4-FFF2-40B4-BE49-F238E27FC236}">
                  <a16:creationId xmlns:a16="http://schemas.microsoft.com/office/drawing/2014/main" id="{662AD3C9-CB81-D32F-C2DD-B3D35C7F7688}"/>
                </a:ext>
              </a:extLst>
            </p:cNvPr>
            <p:cNvSpPr/>
            <p:nvPr/>
          </p:nvSpPr>
          <p:spPr>
            <a:xfrm rot="16200000">
              <a:off x="9831295" y="1609587"/>
              <a:ext cx="205539" cy="190500"/>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211" name="Oval 210">
              <a:extLst>
                <a:ext uri="{FF2B5EF4-FFF2-40B4-BE49-F238E27FC236}">
                  <a16:creationId xmlns:a16="http://schemas.microsoft.com/office/drawing/2014/main" id="{D1031FF9-7E61-613B-59EF-4CC899DB4344}"/>
                </a:ext>
              </a:extLst>
            </p:cNvPr>
            <p:cNvSpPr/>
            <p:nvPr/>
          </p:nvSpPr>
          <p:spPr>
            <a:xfrm rot="16200000">
              <a:off x="9831295" y="2155636"/>
              <a:ext cx="205539" cy="190500"/>
            </a:xfrm>
            <a:prstGeom prst="ellipse">
              <a:avLst/>
            </a:prstGeom>
            <a:solidFill>
              <a:srgbClr val="73080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grpSp>
          <p:nvGrpSpPr>
            <p:cNvPr id="215" name="Group 214">
              <a:extLst>
                <a:ext uri="{FF2B5EF4-FFF2-40B4-BE49-F238E27FC236}">
                  <a16:creationId xmlns:a16="http://schemas.microsoft.com/office/drawing/2014/main" id="{EEA83CA1-0AC1-17B2-201A-6DE4E1D80C09}"/>
                </a:ext>
              </a:extLst>
            </p:cNvPr>
            <p:cNvGrpSpPr/>
            <p:nvPr/>
          </p:nvGrpSpPr>
          <p:grpSpPr>
            <a:xfrm>
              <a:off x="1238086" y="1247004"/>
              <a:ext cx="14547593" cy="4943731"/>
              <a:chOff x="1238086" y="1247004"/>
              <a:chExt cx="14547593" cy="4943731"/>
            </a:xfrm>
          </p:grpSpPr>
          <p:grpSp>
            <p:nvGrpSpPr>
              <p:cNvPr id="106" name="Group 105">
                <a:extLst>
                  <a:ext uri="{FF2B5EF4-FFF2-40B4-BE49-F238E27FC236}">
                    <a16:creationId xmlns:a16="http://schemas.microsoft.com/office/drawing/2014/main" id="{67FC4C23-BB79-276B-3E7E-EB3ADEFA41FF}"/>
                  </a:ext>
                </a:extLst>
              </p:cNvPr>
              <p:cNvGrpSpPr/>
              <p:nvPr/>
            </p:nvGrpSpPr>
            <p:grpSpPr>
              <a:xfrm>
                <a:off x="1842394" y="1885167"/>
                <a:ext cx="7311566" cy="4305568"/>
                <a:chOff x="2446934" y="2740383"/>
                <a:chExt cx="7311566" cy="4305568"/>
              </a:xfrm>
            </p:grpSpPr>
            <p:cxnSp>
              <p:nvCxnSpPr>
                <p:cNvPr id="107" name="Straight Connector 106">
                  <a:extLst>
                    <a:ext uri="{FF2B5EF4-FFF2-40B4-BE49-F238E27FC236}">
                      <a16:creationId xmlns:a16="http://schemas.microsoft.com/office/drawing/2014/main" id="{547853EB-63B5-32BD-F203-4D25AF96B194}"/>
                    </a:ext>
                  </a:extLst>
                </p:cNvPr>
                <p:cNvCxnSpPr>
                  <a:cxnSpLocks/>
                </p:cNvCxnSpPr>
                <p:nvPr/>
              </p:nvCxnSpPr>
              <p:spPr>
                <a:xfrm>
                  <a:off x="4184703" y="2740383"/>
                  <a:ext cx="0" cy="3046911"/>
                </a:xfrm>
                <a:prstGeom prst="line">
                  <a:avLst/>
                </a:prstGeom>
                <a:ln>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108" name="Straight Arrow Connector 107">
                  <a:extLst>
                    <a:ext uri="{FF2B5EF4-FFF2-40B4-BE49-F238E27FC236}">
                      <a16:creationId xmlns:a16="http://schemas.microsoft.com/office/drawing/2014/main" id="{B767572C-2DF1-248C-4159-C3BD1E29EB54}"/>
                    </a:ext>
                  </a:extLst>
                </p:cNvPr>
                <p:cNvCxnSpPr>
                  <a:cxnSpLocks/>
                </p:cNvCxnSpPr>
                <p:nvPr/>
              </p:nvCxnSpPr>
              <p:spPr>
                <a:xfrm flipV="1">
                  <a:off x="3848326" y="3735980"/>
                  <a:ext cx="670250" cy="402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09" name="Oval 108">
                  <a:extLst>
                    <a:ext uri="{FF2B5EF4-FFF2-40B4-BE49-F238E27FC236}">
                      <a16:creationId xmlns:a16="http://schemas.microsoft.com/office/drawing/2014/main" id="{A390BFC6-F8AF-A0D9-FBB7-0E4522218BEE}"/>
                    </a:ext>
                  </a:extLst>
                </p:cNvPr>
                <p:cNvSpPr/>
                <p:nvPr/>
              </p:nvSpPr>
              <p:spPr>
                <a:xfrm rot="16200000">
                  <a:off x="3358925" y="3418532"/>
                  <a:ext cx="205539" cy="190500"/>
                </a:xfrm>
                <a:prstGeom prst="ellipse">
                  <a:avLst/>
                </a:prstGeom>
                <a:solidFill>
                  <a:schemeClr val="bg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110" name="Oval 109">
                  <a:extLst>
                    <a:ext uri="{FF2B5EF4-FFF2-40B4-BE49-F238E27FC236}">
                      <a16:creationId xmlns:a16="http://schemas.microsoft.com/office/drawing/2014/main" id="{A1F0329F-4EAE-116D-5C6B-A0DE97CF2EAA}"/>
                    </a:ext>
                  </a:extLst>
                </p:cNvPr>
                <p:cNvSpPr/>
                <p:nvPr/>
              </p:nvSpPr>
              <p:spPr>
                <a:xfrm rot="16200000">
                  <a:off x="4629399" y="3623731"/>
                  <a:ext cx="205539" cy="190500"/>
                </a:xfrm>
                <a:prstGeom prst="ellipse">
                  <a:avLst/>
                </a:prstGeom>
                <a:solidFill>
                  <a:schemeClr val="bg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cxnSp>
              <p:nvCxnSpPr>
                <p:cNvPr id="111" name="Straight Arrow Connector 110">
                  <a:extLst>
                    <a:ext uri="{FF2B5EF4-FFF2-40B4-BE49-F238E27FC236}">
                      <a16:creationId xmlns:a16="http://schemas.microsoft.com/office/drawing/2014/main" id="{7B54396E-3B97-AB79-B69C-D2BD02A1F19D}"/>
                    </a:ext>
                  </a:extLst>
                </p:cNvPr>
                <p:cNvCxnSpPr>
                  <a:cxnSpLocks/>
                </p:cNvCxnSpPr>
                <p:nvPr/>
              </p:nvCxnSpPr>
              <p:spPr>
                <a:xfrm rot="16200000">
                  <a:off x="5191665" y="3457246"/>
                  <a:ext cx="4621" cy="49642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12" name="Oval 111">
                  <a:extLst>
                    <a:ext uri="{FF2B5EF4-FFF2-40B4-BE49-F238E27FC236}">
                      <a16:creationId xmlns:a16="http://schemas.microsoft.com/office/drawing/2014/main" id="{57B0214E-7A57-2B29-0D93-428B11919086}"/>
                    </a:ext>
                  </a:extLst>
                </p:cNvPr>
                <p:cNvSpPr/>
                <p:nvPr/>
              </p:nvSpPr>
              <p:spPr>
                <a:xfrm rot="16200000">
                  <a:off x="5560333" y="3609355"/>
                  <a:ext cx="205539" cy="190500"/>
                </a:xfrm>
                <a:prstGeom prst="ellipse">
                  <a:avLst/>
                </a:prstGeom>
                <a:solidFill>
                  <a:schemeClr val="tx1">
                    <a:lumMod val="50000"/>
                    <a:lumOff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cxnSp>
              <p:nvCxnSpPr>
                <p:cNvPr id="113" name="Straight Arrow Connector 112">
                  <a:extLst>
                    <a:ext uri="{FF2B5EF4-FFF2-40B4-BE49-F238E27FC236}">
                      <a16:creationId xmlns:a16="http://schemas.microsoft.com/office/drawing/2014/main" id="{53A37E4A-CA27-E046-22CF-6AFA99D03093}"/>
                    </a:ext>
                  </a:extLst>
                </p:cNvPr>
                <p:cNvCxnSpPr>
                  <a:cxnSpLocks/>
                </p:cNvCxnSpPr>
                <p:nvPr/>
              </p:nvCxnSpPr>
              <p:spPr>
                <a:xfrm rot="16200000" flipH="1">
                  <a:off x="5974460" y="3757373"/>
                  <a:ext cx="275737" cy="44251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14" name="Straight Arrow Connector 113">
                  <a:extLst>
                    <a:ext uri="{FF2B5EF4-FFF2-40B4-BE49-F238E27FC236}">
                      <a16:creationId xmlns:a16="http://schemas.microsoft.com/office/drawing/2014/main" id="{511FF752-73D9-F895-C4ED-AF71AA4719BE}"/>
                    </a:ext>
                  </a:extLst>
                </p:cNvPr>
                <p:cNvCxnSpPr>
                  <a:cxnSpLocks/>
                </p:cNvCxnSpPr>
                <p:nvPr/>
              </p:nvCxnSpPr>
              <p:spPr>
                <a:xfrm rot="16200000">
                  <a:off x="5974459" y="3211034"/>
                  <a:ext cx="275737" cy="44251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15" name="Oval 114">
                  <a:extLst>
                    <a:ext uri="{FF2B5EF4-FFF2-40B4-BE49-F238E27FC236}">
                      <a16:creationId xmlns:a16="http://schemas.microsoft.com/office/drawing/2014/main" id="{8AA20FC3-493E-940C-259A-812572622B47}"/>
                    </a:ext>
                  </a:extLst>
                </p:cNvPr>
                <p:cNvSpPr/>
                <p:nvPr/>
              </p:nvSpPr>
              <p:spPr>
                <a:xfrm rot="16200000">
                  <a:off x="6401409" y="4119749"/>
                  <a:ext cx="205539" cy="190500"/>
                </a:xfrm>
                <a:prstGeom prst="ellipse">
                  <a:avLst/>
                </a:prstGeom>
                <a:solidFill>
                  <a:schemeClr val="tx1">
                    <a:lumMod val="50000"/>
                    <a:lumOff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116" name="Oval 115">
                  <a:extLst>
                    <a:ext uri="{FF2B5EF4-FFF2-40B4-BE49-F238E27FC236}">
                      <a16:creationId xmlns:a16="http://schemas.microsoft.com/office/drawing/2014/main" id="{62FEC8A2-8E1F-7C20-D50E-D7EDC3617E1F}"/>
                    </a:ext>
                  </a:extLst>
                </p:cNvPr>
                <p:cNvSpPr/>
                <p:nvPr/>
              </p:nvSpPr>
              <p:spPr>
                <a:xfrm rot="16200000">
                  <a:off x="6401408" y="3127712"/>
                  <a:ext cx="205539" cy="190500"/>
                </a:xfrm>
                <a:prstGeom prst="ellipse">
                  <a:avLst/>
                </a:prstGeom>
                <a:solidFill>
                  <a:schemeClr val="tx1">
                    <a:lumMod val="50000"/>
                    <a:lumOff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cxnSp>
              <p:nvCxnSpPr>
                <p:cNvPr id="117" name="Straight Arrow Connector 116">
                  <a:extLst>
                    <a:ext uri="{FF2B5EF4-FFF2-40B4-BE49-F238E27FC236}">
                      <a16:creationId xmlns:a16="http://schemas.microsoft.com/office/drawing/2014/main" id="{8E85F423-90FE-923E-71A6-F29293D6DE80}"/>
                    </a:ext>
                  </a:extLst>
                </p:cNvPr>
                <p:cNvCxnSpPr>
                  <a:cxnSpLocks/>
                </p:cNvCxnSpPr>
                <p:nvPr/>
              </p:nvCxnSpPr>
              <p:spPr>
                <a:xfrm rot="16200000">
                  <a:off x="6949297" y="3967641"/>
                  <a:ext cx="4621" cy="49642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18" name="Oval 117">
                  <a:extLst>
                    <a:ext uri="{FF2B5EF4-FFF2-40B4-BE49-F238E27FC236}">
                      <a16:creationId xmlns:a16="http://schemas.microsoft.com/office/drawing/2014/main" id="{BEA73DE7-1FA5-10D9-26BF-D394BF5EC172}"/>
                    </a:ext>
                  </a:extLst>
                </p:cNvPr>
                <p:cNvSpPr/>
                <p:nvPr/>
              </p:nvSpPr>
              <p:spPr>
                <a:xfrm rot="16200000">
                  <a:off x="7317965" y="4119750"/>
                  <a:ext cx="205539" cy="19050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solidFill>
                      <a:schemeClr val="tx1"/>
                    </a:solidFill>
                  </a:endParaRPr>
                </a:p>
              </p:txBody>
            </p:sp>
            <p:cxnSp>
              <p:nvCxnSpPr>
                <p:cNvPr id="119" name="Straight Arrow Connector 118">
                  <a:extLst>
                    <a:ext uri="{FF2B5EF4-FFF2-40B4-BE49-F238E27FC236}">
                      <a16:creationId xmlns:a16="http://schemas.microsoft.com/office/drawing/2014/main" id="{4CDD9716-20E7-4FBE-687F-5B02661D63DF}"/>
                    </a:ext>
                  </a:extLst>
                </p:cNvPr>
                <p:cNvCxnSpPr>
                  <a:cxnSpLocks/>
                </p:cNvCxnSpPr>
                <p:nvPr/>
              </p:nvCxnSpPr>
              <p:spPr>
                <a:xfrm rot="16200000" flipH="1">
                  <a:off x="7724903" y="4318090"/>
                  <a:ext cx="275737" cy="44251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20" name="Straight Arrow Connector 119">
                  <a:extLst>
                    <a:ext uri="{FF2B5EF4-FFF2-40B4-BE49-F238E27FC236}">
                      <a16:creationId xmlns:a16="http://schemas.microsoft.com/office/drawing/2014/main" id="{D9CDD8D6-4956-1BEA-F71A-DB1288E47751}"/>
                    </a:ext>
                  </a:extLst>
                </p:cNvPr>
                <p:cNvCxnSpPr>
                  <a:cxnSpLocks/>
                </p:cNvCxnSpPr>
                <p:nvPr/>
              </p:nvCxnSpPr>
              <p:spPr>
                <a:xfrm rot="16200000">
                  <a:off x="7724902" y="3642355"/>
                  <a:ext cx="275737" cy="44251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21" name="Straight Arrow Connector 120">
                  <a:extLst>
                    <a:ext uri="{FF2B5EF4-FFF2-40B4-BE49-F238E27FC236}">
                      <a16:creationId xmlns:a16="http://schemas.microsoft.com/office/drawing/2014/main" id="{35CEF616-DC19-165E-6DA1-08A2043CFAD3}"/>
                    </a:ext>
                  </a:extLst>
                </p:cNvPr>
                <p:cNvCxnSpPr>
                  <a:cxnSpLocks/>
                </p:cNvCxnSpPr>
                <p:nvPr/>
              </p:nvCxnSpPr>
              <p:spPr>
                <a:xfrm rot="16200000">
                  <a:off x="6942108" y="2946849"/>
                  <a:ext cx="4621" cy="49642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22" name="Oval 121">
                  <a:extLst>
                    <a:ext uri="{FF2B5EF4-FFF2-40B4-BE49-F238E27FC236}">
                      <a16:creationId xmlns:a16="http://schemas.microsoft.com/office/drawing/2014/main" id="{B7D1A13B-BE5A-90C8-36D2-50A3564DFA40}"/>
                    </a:ext>
                  </a:extLst>
                </p:cNvPr>
                <p:cNvSpPr/>
                <p:nvPr/>
              </p:nvSpPr>
              <p:spPr>
                <a:xfrm rot="16200000">
                  <a:off x="7310776" y="3098958"/>
                  <a:ext cx="205539" cy="190500"/>
                </a:xfrm>
                <a:prstGeom prst="ellipse">
                  <a:avLst/>
                </a:prstGeom>
                <a:solidFill>
                  <a:schemeClr val="tx1">
                    <a:lumMod val="50000"/>
                    <a:lumOff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123" name="Oval 122">
                  <a:extLst>
                    <a:ext uri="{FF2B5EF4-FFF2-40B4-BE49-F238E27FC236}">
                      <a16:creationId xmlns:a16="http://schemas.microsoft.com/office/drawing/2014/main" id="{E70AA289-EAA0-76E8-C8C4-27695CD0C5AE}"/>
                    </a:ext>
                  </a:extLst>
                </p:cNvPr>
                <p:cNvSpPr/>
                <p:nvPr/>
              </p:nvSpPr>
              <p:spPr>
                <a:xfrm rot="16200000">
                  <a:off x="8146925" y="4606445"/>
                  <a:ext cx="205539" cy="1905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cxnSp>
              <p:nvCxnSpPr>
                <p:cNvPr id="125" name="Straight Arrow Connector 124">
                  <a:extLst>
                    <a:ext uri="{FF2B5EF4-FFF2-40B4-BE49-F238E27FC236}">
                      <a16:creationId xmlns:a16="http://schemas.microsoft.com/office/drawing/2014/main" id="{DB2B1A8A-4784-ADB5-944F-11D95C43C9F8}"/>
                    </a:ext>
                  </a:extLst>
                </p:cNvPr>
                <p:cNvCxnSpPr>
                  <a:cxnSpLocks/>
                </p:cNvCxnSpPr>
                <p:nvPr/>
              </p:nvCxnSpPr>
              <p:spPr>
                <a:xfrm flipV="1">
                  <a:off x="8430212" y="4712935"/>
                  <a:ext cx="477136" cy="252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27" name="Oval 126">
                  <a:extLst>
                    <a:ext uri="{FF2B5EF4-FFF2-40B4-BE49-F238E27FC236}">
                      <a16:creationId xmlns:a16="http://schemas.microsoft.com/office/drawing/2014/main" id="{D89106AD-99F0-BEA7-3D25-F5ADA1A2DC37}"/>
                    </a:ext>
                  </a:extLst>
                </p:cNvPr>
                <p:cNvSpPr/>
                <p:nvPr/>
              </p:nvSpPr>
              <p:spPr>
                <a:xfrm rot="16200000">
                  <a:off x="8955175" y="4605906"/>
                  <a:ext cx="205539" cy="190500"/>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128" name="Oval 127">
                  <a:extLst>
                    <a:ext uri="{FF2B5EF4-FFF2-40B4-BE49-F238E27FC236}">
                      <a16:creationId xmlns:a16="http://schemas.microsoft.com/office/drawing/2014/main" id="{CEB63060-5916-7D54-AC18-4EA3FF4E6DC9}"/>
                    </a:ext>
                  </a:extLst>
                </p:cNvPr>
                <p:cNvSpPr/>
                <p:nvPr/>
              </p:nvSpPr>
              <p:spPr>
                <a:xfrm rot="16200000">
                  <a:off x="8139271" y="3506584"/>
                  <a:ext cx="205539" cy="1905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p>
              </p:txBody>
            </p:sp>
            <p:cxnSp>
              <p:nvCxnSpPr>
                <p:cNvPr id="129" name="Straight Arrow Connector 128">
                  <a:extLst>
                    <a:ext uri="{FF2B5EF4-FFF2-40B4-BE49-F238E27FC236}">
                      <a16:creationId xmlns:a16="http://schemas.microsoft.com/office/drawing/2014/main" id="{C721E705-6C7A-D900-894C-9125A2650F8B}"/>
                    </a:ext>
                  </a:extLst>
                </p:cNvPr>
                <p:cNvCxnSpPr>
                  <a:cxnSpLocks/>
                </p:cNvCxnSpPr>
                <p:nvPr/>
              </p:nvCxnSpPr>
              <p:spPr>
                <a:xfrm>
                  <a:off x="8442914" y="3666883"/>
                  <a:ext cx="444206" cy="15621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30" name="Straight Arrow Connector 129">
                  <a:extLst>
                    <a:ext uri="{FF2B5EF4-FFF2-40B4-BE49-F238E27FC236}">
                      <a16:creationId xmlns:a16="http://schemas.microsoft.com/office/drawing/2014/main" id="{FD535AA8-A946-010F-1A05-9D5E88F27802}"/>
                    </a:ext>
                  </a:extLst>
                </p:cNvPr>
                <p:cNvCxnSpPr>
                  <a:cxnSpLocks/>
                </p:cNvCxnSpPr>
                <p:nvPr/>
              </p:nvCxnSpPr>
              <p:spPr>
                <a:xfrm flipV="1">
                  <a:off x="8443598" y="3293164"/>
                  <a:ext cx="417620" cy="22864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31" name="Oval 130">
                  <a:extLst>
                    <a:ext uri="{FF2B5EF4-FFF2-40B4-BE49-F238E27FC236}">
                      <a16:creationId xmlns:a16="http://schemas.microsoft.com/office/drawing/2014/main" id="{E888EAB1-430F-2920-1613-50854B9B258F}"/>
                    </a:ext>
                  </a:extLst>
                </p:cNvPr>
                <p:cNvSpPr/>
                <p:nvPr/>
              </p:nvSpPr>
              <p:spPr>
                <a:xfrm rot="16200000">
                  <a:off x="8937035" y="3750140"/>
                  <a:ext cx="205539" cy="1905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132" name="Oval 131">
                  <a:extLst>
                    <a:ext uri="{FF2B5EF4-FFF2-40B4-BE49-F238E27FC236}">
                      <a16:creationId xmlns:a16="http://schemas.microsoft.com/office/drawing/2014/main" id="{96646942-01A2-2116-E917-6D326A4652E7}"/>
                    </a:ext>
                  </a:extLst>
                </p:cNvPr>
                <p:cNvSpPr/>
                <p:nvPr/>
              </p:nvSpPr>
              <p:spPr>
                <a:xfrm rot="16200000">
                  <a:off x="8925548" y="3175931"/>
                  <a:ext cx="205539" cy="1905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133" name="TextBox 132">
                  <a:extLst>
                    <a:ext uri="{FF2B5EF4-FFF2-40B4-BE49-F238E27FC236}">
                      <a16:creationId xmlns:a16="http://schemas.microsoft.com/office/drawing/2014/main" id="{3E06C445-5EE5-982B-1D4B-6E0D6D9FE7EB}"/>
                    </a:ext>
                  </a:extLst>
                </p:cNvPr>
                <p:cNvSpPr txBox="1"/>
                <p:nvPr/>
              </p:nvSpPr>
              <p:spPr>
                <a:xfrm>
                  <a:off x="7589645" y="2999232"/>
                  <a:ext cx="126204" cy="400110"/>
                </a:xfrm>
                <a:prstGeom prst="rect">
                  <a:avLst/>
                </a:prstGeom>
                <a:noFill/>
                <a:ln>
                  <a:noFill/>
                </a:ln>
              </p:spPr>
              <p:txBody>
                <a:bodyPr wrap="square" rtlCol="0">
                  <a:spAutoFit/>
                </a:bodyPr>
                <a:lstStyle/>
                <a:p>
                  <a:pPr algn="ctr"/>
                  <a:r>
                    <a:rPr lang="en-US" sz="2000" dirty="0"/>
                    <a:t>†</a:t>
                  </a:r>
                </a:p>
              </p:txBody>
            </p:sp>
            <p:cxnSp>
              <p:nvCxnSpPr>
                <p:cNvPr id="134" name="Straight Connector 133">
                  <a:extLst>
                    <a:ext uri="{FF2B5EF4-FFF2-40B4-BE49-F238E27FC236}">
                      <a16:creationId xmlns:a16="http://schemas.microsoft.com/office/drawing/2014/main" id="{856F4B32-8AE8-17DD-3378-BCDDB1E82441}"/>
                    </a:ext>
                  </a:extLst>
                </p:cNvPr>
                <p:cNvCxnSpPr>
                  <a:cxnSpLocks/>
                </p:cNvCxnSpPr>
                <p:nvPr/>
              </p:nvCxnSpPr>
              <p:spPr>
                <a:xfrm>
                  <a:off x="7826868" y="2740383"/>
                  <a:ext cx="0" cy="3044952"/>
                </a:xfrm>
                <a:prstGeom prst="line">
                  <a:avLst/>
                </a:prstGeom>
                <a:ln>
                  <a:solidFill>
                    <a:schemeClr val="tx1"/>
                  </a:solidFill>
                  <a:prstDash val="dash"/>
                </a:ln>
              </p:spPr>
              <p:style>
                <a:lnRef idx="2">
                  <a:schemeClr val="accent1"/>
                </a:lnRef>
                <a:fillRef idx="0">
                  <a:schemeClr val="accent1"/>
                </a:fillRef>
                <a:effectRef idx="1">
                  <a:schemeClr val="accent1"/>
                </a:effectRef>
                <a:fontRef idx="minor">
                  <a:schemeClr val="tx1"/>
                </a:fontRef>
              </p:style>
            </p:cxnSp>
            <p:sp>
              <p:nvSpPr>
                <p:cNvPr id="135" name="TextBox 134">
                  <a:extLst>
                    <a:ext uri="{FF2B5EF4-FFF2-40B4-BE49-F238E27FC236}">
                      <a16:creationId xmlns:a16="http://schemas.microsoft.com/office/drawing/2014/main" id="{5AB3D564-D6BE-DED0-8E0D-AEC723C4F688}"/>
                    </a:ext>
                  </a:extLst>
                </p:cNvPr>
                <p:cNvSpPr txBox="1"/>
                <p:nvPr/>
              </p:nvSpPr>
              <p:spPr>
                <a:xfrm>
                  <a:off x="3395544" y="5792685"/>
                  <a:ext cx="1574982" cy="523220"/>
                </a:xfrm>
                <a:prstGeom prst="rect">
                  <a:avLst/>
                </a:prstGeom>
                <a:noFill/>
                <a:ln>
                  <a:noFill/>
                </a:ln>
              </p:spPr>
              <p:txBody>
                <a:bodyPr wrap="square" rtlCol="0">
                  <a:spAutoFit/>
                </a:bodyPr>
                <a:lstStyle/>
                <a:p>
                  <a:pPr algn="ctr"/>
                  <a:r>
                    <a:rPr lang="en-US" sz="1400" b="1" dirty="0"/>
                    <a:t>Introduction </a:t>
                  </a:r>
                </a:p>
                <a:p>
                  <a:pPr algn="ctr"/>
                  <a:r>
                    <a:rPr lang="en-US" sz="1400" b="1" dirty="0"/>
                    <a:t>(from reservoir)</a:t>
                  </a:r>
                </a:p>
              </p:txBody>
            </p:sp>
            <p:sp>
              <p:nvSpPr>
                <p:cNvPr id="137" name="Oval 136">
                  <a:extLst>
                    <a:ext uri="{FF2B5EF4-FFF2-40B4-BE49-F238E27FC236}">
                      <a16:creationId xmlns:a16="http://schemas.microsoft.com/office/drawing/2014/main" id="{FF15BF4F-481B-3187-1C2B-9013AE67DED5}"/>
                    </a:ext>
                  </a:extLst>
                </p:cNvPr>
                <p:cNvSpPr/>
                <p:nvPr/>
              </p:nvSpPr>
              <p:spPr>
                <a:xfrm rot="16200000">
                  <a:off x="2439414" y="3738069"/>
                  <a:ext cx="205539" cy="190500"/>
                </a:xfrm>
                <a:prstGeom prst="ellipse">
                  <a:avLst/>
                </a:prstGeom>
                <a:solidFill>
                  <a:schemeClr val="bg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138" name="Oval 137">
                  <a:extLst>
                    <a:ext uri="{FF2B5EF4-FFF2-40B4-BE49-F238E27FC236}">
                      <a16:creationId xmlns:a16="http://schemas.microsoft.com/office/drawing/2014/main" id="{80F4F73C-4AB8-2EF2-CDD1-39E4CD09695D}"/>
                    </a:ext>
                  </a:extLst>
                </p:cNvPr>
                <p:cNvSpPr/>
                <p:nvPr/>
              </p:nvSpPr>
              <p:spPr>
                <a:xfrm rot="16200000">
                  <a:off x="2555163" y="4291130"/>
                  <a:ext cx="205539" cy="190500"/>
                </a:xfrm>
                <a:prstGeom prst="ellipse">
                  <a:avLst/>
                </a:prstGeom>
                <a:solidFill>
                  <a:schemeClr val="bg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139" name="Oval 138">
                  <a:extLst>
                    <a:ext uri="{FF2B5EF4-FFF2-40B4-BE49-F238E27FC236}">
                      <a16:creationId xmlns:a16="http://schemas.microsoft.com/office/drawing/2014/main" id="{6674CD5A-85B1-A96D-E85D-7614DE52E6A0}"/>
                    </a:ext>
                  </a:extLst>
                </p:cNvPr>
                <p:cNvSpPr/>
                <p:nvPr/>
              </p:nvSpPr>
              <p:spPr>
                <a:xfrm rot="16200000">
                  <a:off x="3329867" y="4236050"/>
                  <a:ext cx="205539" cy="190500"/>
                </a:xfrm>
                <a:prstGeom prst="ellipse">
                  <a:avLst/>
                </a:prstGeom>
                <a:solidFill>
                  <a:schemeClr val="bg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143" name="Arc 142">
                  <a:extLst>
                    <a:ext uri="{FF2B5EF4-FFF2-40B4-BE49-F238E27FC236}">
                      <a16:creationId xmlns:a16="http://schemas.microsoft.com/office/drawing/2014/main" id="{4F3251BE-6E2D-9AB2-8258-B300B6D88E94}"/>
                    </a:ext>
                  </a:extLst>
                </p:cNvPr>
                <p:cNvSpPr/>
                <p:nvPr/>
              </p:nvSpPr>
              <p:spPr>
                <a:xfrm rot="18967714">
                  <a:off x="3424584" y="5498985"/>
                  <a:ext cx="1572016" cy="1546965"/>
                </a:xfrm>
                <a:prstGeom prst="arc">
                  <a:avLst/>
                </a:prstGeom>
                <a:ln>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44" name="Arc 143">
                  <a:extLst>
                    <a:ext uri="{FF2B5EF4-FFF2-40B4-BE49-F238E27FC236}">
                      <a16:creationId xmlns:a16="http://schemas.microsoft.com/office/drawing/2014/main" id="{39E14055-3B41-4F4F-3D48-F62EAA04D45E}"/>
                    </a:ext>
                  </a:extLst>
                </p:cNvPr>
                <p:cNvSpPr/>
                <p:nvPr/>
              </p:nvSpPr>
              <p:spPr>
                <a:xfrm rot="18967714">
                  <a:off x="6998425" y="5498986"/>
                  <a:ext cx="1572016" cy="1546965"/>
                </a:xfrm>
                <a:prstGeom prst="arc">
                  <a:avLst/>
                </a:prstGeom>
                <a:ln>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146" name="Straight Connector 145">
                  <a:extLst>
                    <a:ext uri="{FF2B5EF4-FFF2-40B4-BE49-F238E27FC236}">
                      <a16:creationId xmlns:a16="http://schemas.microsoft.com/office/drawing/2014/main" id="{18AC724A-2105-C7FA-127F-ADD4E7B6977A}"/>
                    </a:ext>
                  </a:extLst>
                </p:cNvPr>
                <p:cNvCxnSpPr>
                  <a:cxnSpLocks/>
                </p:cNvCxnSpPr>
                <p:nvPr/>
              </p:nvCxnSpPr>
              <p:spPr>
                <a:xfrm>
                  <a:off x="4134599" y="6432385"/>
                  <a:ext cx="369226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7" name="Straight Connector 146">
                  <a:extLst>
                    <a:ext uri="{FF2B5EF4-FFF2-40B4-BE49-F238E27FC236}">
                      <a16:creationId xmlns:a16="http://schemas.microsoft.com/office/drawing/2014/main" id="{732BE42D-AF1E-AA7F-E29E-790BCF2FBF47}"/>
                    </a:ext>
                  </a:extLst>
                </p:cNvPr>
                <p:cNvCxnSpPr>
                  <a:cxnSpLocks/>
                </p:cNvCxnSpPr>
                <p:nvPr/>
              </p:nvCxnSpPr>
              <p:spPr>
                <a:xfrm>
                  <a:off x="7826868" y="6350966"/>
                  <a:ext cx="0" cy="16283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8" name="Straight Connector 147">
                  <a:extLst>
                    <a:ext uri="{FF2B5EF4-FFF2-40B4-BE49-F238E27FC236}">
                      <a16:creationId xmlns:a16="http://schemas.microsoft.com/office/drawing/2014/main" id="{5307CD68-6FCF-CA86-D36D-91A9E79FA1E0}"/>
                    </a:ext>
                  </a:extLst>
                </p:cNvPr>
                <p:cNvCxnSpPr>
                  <a:cxnSpLocks/>
                </p:cNvCxnSpPr>
                <p:nvPr/>
              </p:nvCxnSpPr>
              <p:spPr>
                <a:xfrm>
                  <a:off x="4134599" y="6603574"/>
                  <a:ext cx="4616111" cy="0"/>
                </a:xfrm>
                <a:prstGeom prst="line">
                  <a:avLst/>
                </a:prstGeom>
                <a:ln>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149" name="TextBox 148">
                  <a:extLst>
                    <a:ext uri="{FF2B5EF4-FFF2-40B4-BE49-F238E27FC236}">
                      <a16:creationId xmlns:a16="http://schemas.microsoft.com/office/drawing/2014/main" id="{3876EB1D-A29E-6C10-5865-92ED16B2BD2E}"/>
                    </a:ext>
                  </a:extLst>
                </p:cNvPr>
                <p:cNvSpPr txBox="1"/>
                <p:nvPr/>
              </p:nvSpPr>
              <p:spPr>
                <a:xfrm>
                  <a:off x="7820982" y="6300922"/>
                  <a:ext cx="1009579" cy="261610"/>
                </a:xfrm>
                <a:prstGeom prst="rect">
                  <a:avLst/>
                </a:prstGeom>
                <a:noFill/>
                <a:ln>
                  <a:noFill/>
                </a:ln>
              </p:spPr>
              <p:txBody>
                <a:bodyPr wrap="square" rtlCol="0">
                  <a:spAutoFit/>
                </a:bodyPr>
                <a:lstStyle/>
                <a:p>
                  <a:pPr algn="ctr"/>
                  <a:r>
                    <a:rPr lang="en-US" sz="1100" b="1" dirty="0"/>
                    <a:t>Extinction</a:t>
                  </a:r>
                </a:p>
              </p:txBody>
            </p:sp>
            <p:sp>
              <p:nvSpPr>
                <p:cNvPr id="150" name="TextBox 149">
                  <a:extLst>
                    <a:ext uri="{FF2B5EF4-FFF2-40B4-BE49-F238E27FC236}">
                      <a16:creationId xmlns:a16="http://schemas.microsoft.com/office/drawing/2014/main" id="{2105312A-2811-6FA3-9C4B-15595A7956AD}"/>
                    </a:ext>
                  </a:extLst>
                </p:cNvPr>
                <p:cNvSpPr txBox="1"/>
                <p:nvPr/>
              </p:nvSpPr>
              <p:spPr>
                <a:xfrm>
                  <a:off x="8748921" y="6451212"/>
                  <a:ext cx="1009579" cy="261610"/>
                </a:xfrm>
                <a:prstGeom prst="rect">
                  <a:avLst/>
                </a:prstGeom>
                <a:solidFill>
                  <a:schemeClr val="bg1"/>
                </a:solidFill>
                <a:ln>
                  <a:noFill/>
                </a:ln>
              </p:spPr>
              <p:txBody>
                <a:bodyPr wrap="square" rtlCol="0">
                  <a:spAutoFit/>
                </a:bodyPr>
                <a:lstStyle/>
                <a:p>
                  <a:pPr algn="ctr"/>
                  <a:r>
                    <a:rPr lang="en-US" sz="1100" b="1" dirty="0"/>
                    <a:t>Emergence</a:t>
                  </a:r>
                </a:p>
              </p:txBody>
            </p:sp>
            <p:sp>
              <p:nvSpPr>
                <p:cNvPr id="151" name="TextBox 150">
                  <a:extLst>
                    <a:ext uri="{FF2B5EF4-FFF2-40B4-BE49-F238E27FC236}">
                      <a16:creationId xmlns:a16="http://schemas.microsoft.com/office/drawing/2014/main" id="{140B8080-6EC5-8543-A468-F358343D18C5}"/>
                    </a:ext>
                  </a:extLst>
                </p:cNvPr>
                <p:cNvSpPr txBox="1"/>
                <p:nvPr/>
              </p:nvSpPr>
              <p:spPr>
                <a:xfrm>
                  <a:off x="6938841" y="5789424"/>
                  <a:ext cx="1776053" cy="523220"/>
                </a:xfrm>
                <a:prstGeom prst="rect">
                  <a:avLst/>
                </a:prstGeom>
                <a:noFill/>
                <a:ln>
                  <a:noFill/>
                </a:ln>
              </p:spPr>
              <p:txBody>
                <a:bodyPr wrap="square" rtlCol="0">
                  <a:spAutoFit/>
                </a:bodyPr>
                <a:lstStyle/>
                <a:p>
                  <a:pPr algn="ctr"/>
                  <a:r>
                    <a:rPr lang="en-US" sz="1400" b="1" dirty="0"/>
                    <a:t>Incipient epidemic (R &gt; 1)</a:t>
                  </a:r>
                </a:p>
              </p:txBody>
            </p:sp>
            <p:sp>
              <p:nvSpPr>
                <p:cNvPr id="153" name="TextBox 152">
                  <a:extLst>
                    <a:ext uri="{FF2B5EF4-FFF2-40B4-BE49-F238E27FC236}">
                      <a16:creationId xmlns:a16="http://schemas.microsoft.com/office/drawing/2014/main" id="{A9F78D6C-3B49-29A5-CE07-4EEE3C163F0E}"/>
                    </a:ext>
                  </a:extLst>
                </p:cNvPr>
                <p:cNvSpPr txBox="1"/>
                <p:nvPr/>
              </p:nvSpPr>
              <p:spPr>
                <a:xfrm>
                  <a:off x="4924545" y="5486584"/>
                  <a:ext cx="2114496" cy="415498"/>
                </a:xfrm>
                <a:prstGeom prst="rect">
                  <a:avLst/>
                </a:prstGeom>
                <a:noFill/>
                <a:ln>
                  <a:noFill/>
                </a:ln>
              </p:spPr>
              <p:txBody>
                <a:bodyPr wrap="square" rtlCol="0">
                  <a:spAutoFit/>
                </a:bodyPr>
                <a:lstStyle/>
                <a:p>
                  <a:pPr algn="ctr"/>
                  <a:r>
                    <a:rPr lang="en-US" sz="1050" b="1" dirty="0"/>
                    <a:t>Adaptation in stuttering chains of transmission, R</a:t>
                  </a:r>
                  <a:r>
                    <a:rPr lang="en-US" sz="1050" b="1" baseline="-25000" dirty="0"/>
                    <a:t>0</a:t>
                  </a:r>
                  <a:r>
                    <a:rPr lang="en-US" sz="1050" b="1" dirty="0"/>
                    <a:t> increasing</a:t>
                  </a:r>
                </a:p>
              </p:txBody>
            </p:sp>
            <p:cxnSp>
              <p:nvCxnSpPr>
                <p:cNvPr id="154" name="Straight Connector 153">
                  <a:extLst>
                    <a:ext uri="{FF2B5EF4-FFF2-40B4-BE49-F238E27FC236}">
                      <a16:creationId xmlns:a16="http://schemas.microsoft.com/office/drawing/2014/main" id="{43596572-EDB5-F70A-FE44-8645FCB5779B}"/>
                    </a:ext>
                  </a:extLst>
                </p:cNvPr>
                <p:cNvCxnSpPr>
                  <a:cxnSpLocks/>
                </p:cNvCxnSpPr>
                <p:nvPr/>
              </p:nvCxnSpPr>
              <p:spPr>
                <a:xfrm>
                  <a:off x="5258164" y="5972203"/>
                  <a:ext cx="1265813" cy="0"/>
                </a:xfrm>
                <a:prstGeom prst="line">
                  <a:avLst/>
                </a:prstGeom>
                <a:ln w="76200">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grpSp>
          <p:sp>
            <p:nvSpPr>
              <p:cNvPr id="160" name="TextBox 159">
                <a:extLst>
                  <a:ext uri="{FF2B5EF4-FFF2-40B4-BE49-F238E27FC236}">
                    <a16:creationId xmlns:a16="http://schemas.microsoft.com/office/drawing/2014/main" id="{020E1E56-676C-FA37-8080-5D93CBB60251}"/>
                  </a:ext>
                </a:extLst>
              </p:cNvPr>
              <p:cNvSpPr txBox="1"/>
              <p:nvPr/>
            </p:nvSpPr>
            <p:spPr>
              <a:xfrm>
                <a:off x="1238086" y="1248793"/>
                <a:ext cx="2309863" cy="584775"/>
              </a:xfrm>
              <a:prstGeom prst="rect">
                <a:avLst/>
              </a:prstGeom>
              <a:noFill/>
              <a:ln>
                <a:noFill/>
              </a:ln>
            </p:spPr>
            <p:txBody>
              <a:bodyPr wrap="none" rtlCol="0">
                <a:spAutoFit/>
              </a:bodyPr>
              <a:lstStyle/>
              <a:p>
                <a:pPr algn="ctr"/>
                <a:r>
                  <a:rPr lang="en-US" sz="1600" b="1" dirty="0"/>
                  <a:t>Endemic circulation in </a:t>
                </a:r>
              </a:p>
              <a:p>
                <a:pPr algn="ctr"/>
                <a:r>
                  <a:rPr lang="en-US" sz="1600" b="1" dirty="0"/>
                  <a:t>animal reservoir </a:t>
                </a:r>
              </a:p>
            </p:txBody>
          </p:sp>
          <p:sp>
            <p:nvSpPr>
              <p:cNvPr id="161" name="TextBox 160">
                <a:extLst>
                  <a:ext uri="{FF2B5EF4-FFF2-40B4-BE49-F238E27FC236}">
                    <a16:creationId xmlns:a16="http://schemas.microsoft.com/office/drawing/2014/main" id="{96955136-28CE-4DCC-B296-ED358254BFC0}"/>
                  </a:ext>
                </a:extLst>
              </p:cNvPr>
              <p:cNvSpPr txBox="1"/>
              <p:nvPr/>
            </p:nvSpPr>
            <p:spPr>
              <a:xfrm>
                <a:off x="3691790" y="1247004"/>
                <a:ext cx="3389966" cy="584775"/>
              </a:xfrm>
              <a:prstGeom prst="rect">
                <a:avLst/>
              </a:prstGeom>
              <a:noFill/>
              <a:ln>
                <a:noFill/>
              </a:ln>
            </p:spPr>
            <p:txBody>
              <a:bodyPr wrap="none" rtlCol="0">
                <a:spAutoFit/>
              </a:bodyPr>
              <a:lstStyle/>
              <a:p>
                <a:pPr algn="ctr"/>
                <a:r>
                  <a:rPr lang="en-US" sz="1600" b="1" dirty="0"/>
                  <a:t>Stuttering transmission in humans</a:t>
                </a:r>
              </a:p>
              <a:p>
                <a:pPr algn="ctr"/>
                <a:r>
                  <a:rPr lang="en-US" sz="1600" b="1" dirty="0"/>
                  <a:t>R &lt; 1 </a:t>
                </a:r>
              </a:p>
            </p:txBody>
          </p:sp>
          <p:sp>
            <p:nvSpPr>
              <p:cNvPr id="162" name="TextBox 161">
                <a:extLst>
                  <a:ext uri="{FF2B5EF4-FFF2-40B4-BE49-F238E27FC236}">
                    <a16:creationId xmlns:a16="http://schemas.microsoft.com/office/drawing/2014/main" id="{FDE279AB-D3D0-DE5B-D5B5-F2FE74947854}"/>
                  </a:ext>
                </a:extLst>
              </p:cNvPr>
              <p:cNvSpPr txBox="1"/>
              <p:nvPr/>
            </p:nvSpPr>
            <p:spPr>
              <a:xfrm>
                <a:off x="7315504" y="1251030"/>
                <a:ext cx="3576492" cy="584775"/>
              </a:xfrm>
              <a:prstGeom prst="rect">
                <a:avLst/>
              </a:prstGeom>
              <a:noFill/>
              <a:ln>
                <a:noFill/>
              </a:ln>
            </p:spPr>
            <p:txBody>
              <a:bodyPr wrap="none" rtlCol="0">
                <a:spAutoFit/>
              </a:bodyPr>
              <a:lstStyle/>
              <a:p>
                <a:pPr algn="ctr"/>
                <a:r>
                  <a:rPr lang="en-US" sz="1600" b="1" dirty="0"/>
                  <a:t>Sustainable transmission in humans</a:t>
                </a:r>
              </a:p>
              <a:p>
                <a:pPr algn="ctr"/>
                <a:r>
                  <a:rPr lang="en-US" sz="1600" b="1" dirty="0"/>
                  <a:t>R &gt; 1 </a:t>
                </a:r>
              </a:p>
            </p:txBody>
          </p:sp>
          <p:sp>
            <p:nvSpPr>
              <p:cNvPr id="163" name="TextBox 162">
                <a:extLst>
                  <a:ext uri="{FF2B5EF4-FFF2-40B4-BE49-F238E27FC236}">
                    <a16:creationId xmlns:a16="http://schemas.microsoft.com/office/drawing/2014/main" id="{E5368BB6-AC58-CDE0-A470-85ED24849CBE}"/>
                  </a:ext>
                </a:extLst>
              </p:cNvPr>
              <p:cNvSpPr txBox="1"/>
              <p:nvPr/>
            </p:nvSpPr>
            <p:spPr>
              <a:xfrm>
                <a:off x="7391275" y="4629727"/>
                <a:ext cx="3113629" cy="415498"/>
              </a:xfrm>
              <a:prstGeom prst="rect">
                <a:avLst/>
              </a:prstGeom>
              <a:noFill/>
              <a:ln>
                <a:noFill/>
              </a:ln>
            </p:spPr>
            <p:txBody>
              <a:bodyPr wrap="square" rtlCol="0">
                <a:spAutoFit/>
              </a:bodyPr>
              <a:lstStyle/>
              <a:p>
                <a:pPr algn="ctr"/>
                <a:r>
                  <a:rPr lang="en-US" sz="1050" b="1" dirty="0"/>
                  <a:t>Further evolution to high </a:t>
                </a:r>
              </a:p>
              <a:p>
                <a:pPr algn="ctr"/>
                <a:r>
                  <a:rPr lang="en-US" sz="1050" b="1" dirty="0"/>
                  <a:t>transmissibility, R</a:t>
                </a:r>
                <a:r>
                  <a:rPr lang="en-US" sz="1050" b="1" baseline="-25000" dirty="0"/>
                  <a:t>0</a:t>
                </a:r>
                <a:r>
                  <a:rPr lang="en-US" sz="1050" b="1" dirty="0"/>
                  <a:t> increasing</a:t>
                </a:r>
              </a:p>
            </p:txBody>
          </p:sp>
          <p:sp>
            <p:nvSpPr>
              <p:cNvPr id="186" name="TextBox 185">
                <a:extLst>
                  <a:ext uri="{FF2B5EF4-FFF2-40B4-BE49-F238E27FC236}">
                    <a16:creationId xmlns:a16="http://schemas.microsoft.com/office/drawing/2014/main" id="{36F8EAF0-FC6F-5DF8-794E-F77776E68F45}"/>
                  </a:ext>
                </a:extLst>
              </p:cNvPr>
              <p:cNvSpPr txBox="1"/>
              <p:nvPr/>
            </p:nvSpPr>
            <p:spPr>
              <a:xfrm>
                <a:off x="9688635" y="4963098"/>
                <a:ext cx="6097044" cy="307777"/>
              </a:xfrm>
              <a:prstGeom prst="rect">
                <a:avLst/>
              </a:prstGeom>
              <a:noFill/>
              <a:ln>
                <a:noFill/>
              </a:ln>
            </p:spPr>
            <p:txBody>
              <a:bodyPr wrap="square">
                <a:spAutoFit/>
              </a:bodyPr>
              <a:lstStyle/>
              <a:p>
                <a:r>
                  <a:rPr lang="en-US" sz="1400" b="1" dirty="0"/>
                  <a:t>(R &gt;&gt; 1)</a:t>
                </a:r>
                <a:endParaRPr lang="en-US" sz="1400" dirty="0"/>
              </a:p>
            </p:txBody>
          </p:sp>
          <p:cxnSp>
            <p:nvCxnSpPr>
              <p:cNvPr id="212" name="Straight Connector 211">
                <a:extLst>
                  <a:ext uri="{FF2B5EF4-FFF2-40B4-BE49-F238E27FC236}">
                    <a16:creationId xmlns:a16="http://schemas.microsoft.com/office/drawing/2014/main" id="{4696FF82-5FD3-A5FF-177E-6A370DA491AA}"/>
                  </a:ext>
                </a:extLst>
              </p:cNvPr>
              <p:cNvCxnSpPr>
                <a:cxnSpLocks/>
              </p:cNvCxnSpPr>
              <p:nvPr/>
            </p:nvCxnSpPr>
            <p:spPr>
              <a:xfrm>
                <a:off x="3523879" y="5903301"/>
                <a:ext cx="6024514" cy="0"/>
              </a:xfrm>
              <a:prstGeom prst="line">
                <a:avLst/>
              </a:prstGeom>
              <a:ln>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213" name="TextBox 212">
                <a:extLst>
                  <a:ext uri="{FF2B5EF4-FFF2-40B4-BE49-F238E27FC236}">
                    <a16:creationId xmlns:a16="http://schemas.microsoft.com/office/drawing/2014/main" id="{344B319D-3D37-3814-D0AD-D4FA237E6E09}"/>
                  </a:ext>
                </a:extLst>
              </p:cNvPr>
              <p:cNvSpPr txBox="1"/>
              <p:nvPr/>
            </p:nvSpPr>
            <p:spPr>
              <a:xfrm>
                <a:off x="9513048" y="5758135"/>
                <a:ext cx="1573547" cy="261610"/>
              </a:xfrm>
              <a:prstGeom prst="rect">
                <a:avLst/>
              </a:prstGeom>
              <a:noFill/>
              <a:ln>
                <a:noFill/>
              </a:ln>
            </p:spPr>
            <p:txBody>
              <a:bodyPr wrap="square" rtlCol="0">
                <a:spAutoFit/>
              </a:bodyPr>
              <a:lstStyle/>
              <a:p>
                <a:pPr algn="ctr"/>
                <a:r>
                  <a:rPr lang="en-US" sz="1100" b="1" dirty="0"/>
                  <a:t>Continued evolution</a:t>
                </a:r>
              </a:p>
            </p:txBody>
          </p:sp>
        </p:grpSp>
      </p:grpSp>
      <p:cxnSp>
        <p:nvCxnSpPr>
          <p:cNvPr id="224" name="Straight Arrow Connector 223">
            <a:extLst>
              <a:ext uri="{FF2B5EF4-FFF2-40B4-BE49-F238E27FC236}">
                <a16:creationId xmlns:a16="http://schemas.microsoft.com/office/drawing/2014/main" id="{AF2C7288-54B9-3F0C-90A0-0BC0D81396A3}"/>
              </a:ext>
            </a:extLst>
          </p:cNvPr>
          <p:cNvCxnSpPr>
            <a:cxnSpLocks/>
          </p:cNvCxnSpPr>
          <p:nvPr/>
        </p:nvCxnSpPr>
        <p:spPr>
          <a:xfrm flipV="1">
            <a:off x="8377084" y="2176925"/>
            <a:ext cx="417620" cy="22864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34" name="Straight Arrow Connector 233">
            <a:extLst>
              <a:ext uri="{FF2B5EF4-FFF2-40B4-BE49-F238E27FC236}">
                <a16:creationId xmlns:a16="http://schemas.microsoft.com/office/drawing/2014/main" id="{1AFCC05D-645E-29A3-395E-2CC646CE360F}"/>
              </a:ext>
            </a:extLst>
          </p:cNvPr>
          <p:cNvCxnSpPr>
            <a:cxnSpLocks/>
          </p:cNvCxnSpPr>
          <p:nvPr/>
        </p:nvCxnSpPr>
        <p:spPr>
          <a:xfrm rot="5400000" flipV="1">
            <a:off x="9163549" y="4283017"/>
            <a:ext cx="275737" cy="44251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35" name="Oval 234">
            <a:extLst>
              <a:ext uri="{FF2B5EF4-FFF2-40B4-BE49-F238E27FC236}">
                <a16:creationId xmlns:a16="http://schemas.microsoft.com/office/drawing/2014/main" id="{AC0CA690-66A5-3C7A-EA8F-DE95068B7E64}"/>
              </a:ext>
            </a:extLst>
          </p:cNvPr>
          <p:cNvSpPr/>
          <p:nvPr/>
        </p:nvSpPr>
        <p:spPr>
          <a:xfrm rot="16200000">
            <a:off x="9578105" y="4608798"/>
            <a:ext cx="205539" cy="190500"/>
          </a:xfrm>
          <a:prstGeom prst="ellipse">
            <a:avLst/>
          </a:prstGeom>
          <a:solidFill>
            <a:srgbClr val="73080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Tree>
    <p:extLst>
      <p:ext uri="{BB962C8B-B14F-4D97-AF65-F5344CB8AC3E}">
        <p14:creationId xmlns:p14="http://schemas.microsoft.com/office/powerpoint/2010/main" val="35931470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Group 31">
            <a:extLst>
              <a:ext uri="{FF2B5EF4-FFF2-40B4-BE49-F238E27FC236}">
                <a16:creationId xmlns:a16="http://schemas.microsoft.com/office/drawing/2014/main" id="{88871441-A74F-C24F-B317-1BB3CEACAD3A}"/>
              </a:ext>
            </a:extLst>
          </p:cNvPr>
          <p:cNvGrpSpPr/>
          <p:nvPr/>
        </p:nvGrpSpPr>
        <p:grpSpPr>
          <a:xfrm>
            <a:off x="1013848" y="1341224"/>
            <a:ext cx="8844419" cy="4013114"/>
            <a:chOff x="1013848" y="1341224"/>
            <a:chExt cx="8844419" cy="4013114"/>
          </a:xfrm>
        </p:grpSpPr>
        <p:pic>
          <p:nvPicPr>
            <p:cNvPr id="28" name="Content Placeholder 24" descr="A graph showing the growth of the year&#10;&#10;AI-generated content may be incorrect.">
              <a:extLst>
                <a:ext uri="{FF2B5EF4-FFF2-40B4-BE49-F238E27FC236}">
                  <a16:creationId xmlns:a16="http://schemas.microsoft.com/office/drawing/2014/main" id="{73343DC6-BFFD-64B6-3366-775891C322E8}"/>
                </a:ext>
              </a:extLst>
            </p:cNvPr>
            <p:cNvPicPr>
              <a:picLocks noChangeAspect="1"/>
            </p:cNvPicPr>
            <p:nvPr/>
          </p:nvPicPr>
          <p:blipFill>
            <a:blip r:embed="rId2"/>
            <a:srcRect r="15893"/>
            <a:stretch>
              <a:fillRect/>
            </a:stretch>
          </p:blipFill>
          <p:spPr>
            <a:xfrm>
              <a:off x="1013848" y="1341224"/>
              <a:ext cx="8844419" cy="4013114"/>
            </a:xfrm>
            <a:prstGeom prst="rect">
              <a:avLst/>
            </a:prstGeom>
          </p:spPr>
        </p:pic>
        <p:pic>
          <p:nvPicPr>
            <p:cNvPr id="29" name="Picture 28" descr="A graph of numbers and text&#10;&#10;AI-generated content may be incorrect.">
              <a:extLst>
                <a:ext uri="{FF2B5EF4-FFF2-40B4-BE49-F238E27FC236}">
                  <a16:creationId xmlns:a16="http://schemas.microsoft.com/office/drawing/2014/main" id="{0A0068A6-72ED-B99D-3C1B-A4291E32BE9E}"/>
                </a:ext>
              </a:extLst>
            </p:cNvPr>
            <p:cNvPicPr>
              <a:picLocks noChangeAspect="1"/>
            </p:cNvPicPr>
            <p:nvPr/>
          </p:nvPicPr>
          <p:blipFill>
            <a:blip r:embed="rId3"/>
            <a:stretch>
              <a:fillRect/>
            </a:stretch>
          </p:blipFill>
          <p:spPr>
            <a:xfrm>
              <a:off x="6803190" y="2173424"/>
              <a:ext cx="1797485" cy="1797485"/>
            </a:xfrm>
            <a:prstGeom prst="rect">
              <a:avLst/>
            </a:prstGeom>
          </p:spPr>
        </p:pic>
      </p:grpSp>
    </p:spTree>
    <p:extLst>
      <p:ext uri="{BB962C8B-B14F-4D97-AF65-F5344CB8AC3E}">
        <p14:creationId xmlns:p14="http://schemas.microsoft.com/office/powerpoint/2010/main" val="35036076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D37055BD-49D1-500E-905B-C74BDE9FBB42}"/>
              </a:ext>
            </a:extLst>
          </p:cNvPr>
          <p:cNvGrpSpPr/>
          <p:nvPr/>
        </p:nvGrpSpPr>
        <p:grpSpPr>
          <a:xfrm>
            <a:off x="963826" y="696585"/>
            <a:ext cx="9564131" cy="5668550"/>
            <a:chOff x="963826" y="696585"/>
            <a:chExt cx="9564131" cy="5668550"/>
          </a:xfrm>
        </p:grpSpPr>
        <p:pic>
          <p:nvPicPr>
            <p:cNvPr id="7" name="Picture 6" descr="A graph of a line graph&#10;&#10;AI-generated content may be incorrect.">
              <a:extLst>
                <a:ext uri="{FF2B5EF4-FFF2-40B4-BE49-F238E27FC236}">
                  <a16:creationId xmlns:a16="http://schemas.microsoft.com/office/drawing/2014/main" id="{4B64B6E3-9609-C918-0F8E-E75EC745C9F6}"/>
                </a:ext>
              </a:extLst>
            </p:cNvPr>
            <p:cNvPicPr>
              <a:picLocks noChangeAspect="1"/>
            </p:cNvPicPr>
            <p:nvPr/>
          </p:nvPicPr>
          <p:blipFill>
            <a:blip r:embed="rId3"/>
            <a:srcRect r="10209"/>
            <a:stretch>
              <a:fillRect/>
            </a:stretch>
          </p:blipFill>
          <p:spPr>
            <a:xfrm>
              <a:off x="963826" y="696585"/>
              <a:ext cx="9564131" cy="5668550"/>
            </a:xfrm>
            <a:prstGeom prst="rect">
              <a:avLst/>
            </a:prstGeom>
          </p:spPr>
        </p:pic>
        <p:pic>
          <p:nvPicPr>
            <p:cNvPr id="9" name="Picture 8" descr="A number of different colored lines&#10;&#10;AI-generated content may be incorrect.">
              <a:extLst>
                <a:ext uri="{FF2B5EF4-FFF2-40B4-BE49-F238E27FC236}">
                  <a16:creationId xmlns:a16="http://schemas.microsoft.com/office/drawing/2014/main" id="{2C0D9B71-61FF-8276-9348-7A709391914B}"/>
                </a:ext>
              </a:extLst>
            </p:cNvPr>
            <p:cNvPicPr>
              <a:picLocks noChangeAspect="1"/>
            </p:cNvPicPr>
            <p:nvPr/>
          </p:nvPicPr>
          <p:blipFill>
            <a:blip r:embed="rId4"/>
            <a:stretch>
              <a:fillRect/>
            </a:stretch>
          </p:blipFill>
          <p:spPr>
            <a:xfrm>
              <a:off x="8466781" y="2713337"/>
              <a:ext cx="1287983" cy="2167581"/>
            </a:xfrm>
            <a:prstGeom prst="rect">
              <a:avLst/>
            </a:prstGeom>
          </p:spPr>
        </p:pic>
      </p:grpSp>
    </p:spTree>
    <p:extLst>
      <p:ext uri="{BB962C8B-B14F-4D97-AF65-F5344CB8AC3E}">
        <p14:creationId xmlns:p14="http://schemas.microsoft.com/office/powerpoint/2010/main" val="22585688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CB723-59E2-502B-FEBC-CAA3426DE96E}"/>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753F629E-9BB3-E297-C4E5-85DEE9AE7492}"/>
              </a:ext>
            </a:extLst>
          </p:cNvPr>
          <p:cNvGrpSpPr/>
          <p:nvPr/>
        </p:nvGrpSpPr>
        <p:grpSpPr>
          <a:xfrm>
            <a:off x="1211778" y="829704"/>
            <a:ext cx="8797195" cy="5198591"/>
            <a:chOff x="1211778" y="829704"/>
            <a:chExt cx="8797195" cy="5198591"/>
          </a:xfrm>
        </p:grpSpPr>
        <p:pic>
          <p:nvPicPr>
            <p:cNvPr id="3" name="Picture 2" descr="A graph with green lines&#10;&#10;AI-generated content may be incorrect.">
              <a:extLst>
                <a:ext uri="{FF2B5EF4-FFF2-40B4-BE49-F238E27FC236}">
                  <a16:creationId xmlns:a16="http://schemas.microsoft.com/office/drawing/2014/main" id="{EF3A3BCB-58A6-B0E3-0239-FCCFFFBFB7E1}"/>
                </a:ext>
              </a:extLst>
            </p:cNvPr>
            <p:cNvPicPr>
              <a:picLocks noChangeAspect="1"/>
            </p:cNvPicPr>
            <p:nvPr/>
          </p:nvPicPr>
          <p:blipFill>
            <a:blip r:embed="rId3"/>
            <a:srcRect r="9942"/>
            <a:stretch>
              <a:fillRect/>
            </a:stretch>
          </p:blipFill>
          <p:spPr>
            <a:xfrm>
              <a:off x="1211778" y="829704"/>
              <a:ext cx="8797195" cy="5198591"/>
            </a:xfrm>
            <a:prstGeom prst="rect">
              <a:avLst/>
            </a:prstGeom>
          </p:spPr>
        </p:pic>
        <p:pic>
          <p:nvPicPr>
            <p:cNvPr id="5" name="Picture 4" descr="A number line with numbers&#10;&#10;AI-generated content may be incorrect.">
              <a:extLst>
                <a:ext uri="{FF2B5EF4-FFF2-40B4-BE49-F238E27FC236}">
                  <a16:creationId xmlns:a16="http://schemas.microsoft.com/office/drawing/2014/main" id="{E87F728D-4C69-965D-A40B-BB3EA76C4718}"/>
                </a:ext>
              </a:extLst>
            </p:cNvPr>
            <p:cNvPicPr>
              <a:picLocks noChangeAspect="1"/>
            </p:cNvPicPr>
            <p:nvPr/>
          </p:nvPicPr>
          <p:blipFill>
            <a:blip r:embed="rId4"/>
            <a:stretch>
              <a:fillRect/>
            </a:stretch>
          </p:blipFill>
          <p:spPr>
            <a:xfrm>
              <a:off x="7979890" y="1794476"/>
              <a:ext cx="1208048" cy="2641599"/>
            </a:xfrm>
            <a:prstGeom prst="rect">
              <a:avLst/>
            </a:prstGeom>
          </p:spPr>
        </p:pic>
      </p:grpSp>
    </p:spTree>
    <p:extLst>
      <p:ext uri="{BB962C8B-B14F-4D97-AF65-F5344CB8AC3E}">
        <p14:creationId xmlns:p14="http://schemas.microsoft.com/office/powerpoint/2010/main" val="16338330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3B2F6E34-FE9B-BA3E-0E44-C8C7778EEF18}"/>
              </a:ext>
            </a:extLst>
          </p:cNvPr>
          <p:cNvGrpSpPr>
            <a:grpSpLocks noChangeAspect="1"/>
          </p:cNvGrpSpPr>
          <p:nvPr/>
        </p:nvGrpSpPr>
        <p:grpSpPr>
          <a:xfrm>
            <a:off x="6096000" y="1737474"/>
            <a:ext cx="5802645" cy="3429000"/>
            <a:chOff x="1211778" y="829704"/>
            <a:chExt cx="8797195" cy="5198591"/>
          </a:xfrm>
        </p:grpSpPr>
        <p:pic>
          <p:nvPicPr>
            <p:cNvPr id="17" name="Picture 16" descr="A graph with green lines&#10;&#10;AI-generated content may be incorrect.">
              <a:extLst>
                <a:ext uri="{FF2B5EF4-FFF2-40B4-BE49-F238E27FC236}">
                  <a16:creationId xmlns:a16="http://schemas.microsoft.com/office/drawing/2014/main" id="{D9750E9E-9CD0-845A-9D57-88916E542469}"/>
                </a:ext>
              </a:extLst>
            </p:cNvPr>
            <p:cNvPicPr>
              <a:picLocks noChangeAspect="1"/>
            </p:cNvPicPr>
            <p:nvPr/>
          </p:nvPicPr>
          <p:blipFill>
            <a:blip r:embed="rId2"/>
            <a:srcRect r="9942"/>
            <a:stretch>
              <a:fillRect/>
            </a:stretch>
          </p:blipFill>
          <p:spPr>
            <a:xfrm>
              <a:off x="1211778" y="829704"/>
              <a:ext cx="8797195" cy="5198591"/>
            </a:xfrm>
            <a:prstGeom prst="rect">
              <a:avLst/>
            </a:prstGeom>
          </p:spPr>
        </p:pic>
        <p:pic>
          <p:nvPicPr>
            <p:cNvPr id="18" name="Picture 17" descr="A number line with numbers&#10;&#10;AI-generated content may be incorrect.">
              <a:extLst>
                <a:ext uri="{FF2B5EF4-FFF2-40B4-BE49-F238E27FC236}">
                  <a16:creationId xmlns:a16="http://schemas.microsoft.com/office/drawing/2014/main" id="{CC579D4B-6D13-6853-B99F-5B5EE9F9D429}"/>
                </a:ext>
              </a:extLst>
            </p:cNvPr>
            <p:cNvPicPr>
              <a:picLocks noChangeAspect="1"/>
            </p:cNvPicPr>
            <p:nvPr/>
          </p:nvPicPr>
          <p:blipFill>
            <a:blip r:embed="rId3"/>
            <a:stretch>
              <a:fillRect/>
            </a:stretch>
          </p:blipFill>
          <p:spPr>
            <a:xfrm>
              <a:off x="7979890" y="1794476"/>
              <a:ext cx="1208048" cy="2641599"/>
            </a:xfrm>
            <a:prstGeom prst="rect">
              <a:avLst/>
            </a:prstGeom>
          </p:spPr>
        </p:pic>
      </p:grpSp>
      <p:grpSp>
        <p:nvGrpSpPr>
          <p:cNvPr id="19" name="Group 18">
            <a:extLst>
              <a:ext uri="{FF2B5EF4-FFF2-40B4-BE49-F238E27FC236}">
                <a16:creationId xmlns:a16="http://schemas.microsoft.com/office/drawing/2014/main" id="{8A02DB61-A4C4-7A05-D7BA-DD988CFF76ED}"/>
              </a:ext>
            </a:extLst>
          </p:cNvPr>
          <p:cNvGrpSpPr>
            <a:grpSpLocks noChangeAspect="1"/>
          </p:cNvGrpSpPr>
          <p:nvPr/>
        </p:nvGrpSpPr>
        <p:grpSpPr>
          <a:xfrm>
            <a:off x="98855" y="1716240"/>
            <a:ext cx="5779630" cy="3425520"/>
            <a:chOff x="963826" y="696585"/>
            <a:chExt cx="9564131" cy="5668550"/>
          </a:xfrm>
        </p:grpSpPr>
        <p:pic>
          <p:nvPicPr>
            <p:cNvPr id="20" name="Picture 19" descr="A graph of a line graph&#10;&#10;AI-generated content may be incorrect.">
              <a:extLst>
                <a:ext uri="{FF2B5EF4-FFF2-40B4-BE49-F238E27FC236}">
                  <a16:creationId xmlns:a16="http://schemas.microsoft.com/office/drawing/2014/main" id="{B2BEE600-9675-BCA9-18D9-D269875A3AA3}"/>
                </a:ext>
              </a:extLst>
            </p:cNvPr>
            <p:cNvPicPr>
              <a:picLocks noChangeAspect="1"/>
            </p:cNvPicPr>
            <p:nvPr/>
          </p:nvPicPr>
          <p:blipFill>
            <a:blip r:embed="rId4"/>
            <a:srcRect r="10209"/>
            <a:stretch>
              <a:fillRect/>
            </a:stretch>
          </p:blipFill>
          <p:spPr>
            <a:xfrm>
              <a:off x="963826" y="696585"/>
              <a:ext cx="9564131" cy="5668550"/>
            </a:xfrm>
            <a:prstGeom prst="rect">
              <a:avLst/>
            </a:prstGeom>
          </p:spPr>
        </p:pic>
        <p:pic>
          <p:nvPicPr>
            <p:cNvPr id="21" name="Picture 20" descr="A number of different colored lines&#10;&#10;AI-generated content may be incorrect.">
              <a:extLst>
                <a:ext uri="{FF2B5EF4-FFF2-40B4-BE49-F238E27FC236}">
                  <a16:creationId xmlns:a16="http://schemas.microsoft.com/office/drawing/2014/main" id="{A60DD715-CACE-EF21-B7F7-CB9C0D9865CF}"/>
                </a:ext>
              </a:extLst>
            </p:cNvPr>
            <p:cNvPicPr>
              <a:picLocks noChangeAspect="1"/>
            </p:cNvPicPr>
            <p:nvPr/>
          </p:nvPicPr>
          <p:blipFill>
            <a:blip r:embed="rId5"/>
            <a:stretch>
              <a:fillRect/>
            </a:stretch>
          </p:blipFill>
          <p:spPr>
            <a:xfrm>
              <a:off x="8466781" y="2713337"/>
              <a:ext cx="1287983" cy="2167581"/>
            </a:xfrm>
            <a:prstGeom prst="rect">
              <a:avLst/>
            </a:prstGeom>
          </p:spPr>
        </p:pic>
      </p:grpSp>
      <p:sp>
        <p:nvSpPr>
          <p:cNvPr id="22" name="TextBox 21">
            <a:extLst>
              <a:ext uri="{FF2B5EF4-FFF2-40B4-BE49-F238E27FC236}">
                <a16:creationId xmlns:a16="http://schemas.microsoft.com/office/drawing/2014/main" id="{86612374-5672-2AFA-FDEC-A67678705303}"/>
              </a:ext>
            </a:extLst>
          </p:cNvPr>
          <p:cNvSpPr txBox="1"/>
          <p:nvPr/>
        </p:nvSpPr>
        <p:spPr>
          <a:xfrm>
            <a:off x="704335" y="1853513"/>
            <a:ext cx="375616" cy="338554"/>
          </a:xfrm>
          <a:prstGeom prst="rect">
            <a:avLst/>
          </a:prstGeom>
          <a:noFill/>
        </p:spPr>
        <p:txBody>
          <a:bodyPr wrap="none" rtlCol="0">
            <a:spAutoFit/>
          </a:bodyPr>
          <a:lstStyle/>
          <a:p>
            <a:r>
              <a:rPr lang="en-US" sz="1600" b="1" dirty="0"/>
              <a:t>A.</a:t>
            </a:r>
          </a:p>
        </p:txBody>
      </p:sp>
      <p:sp>
        <p:nvSpPr>
          <p:cNvPr id="23" name="TextBox 22">
            <a:extLst>
              <a:ext uri="{FF2B5EF4-FFF2-40B4-BE49-F238E27FC236}">
                <a16:creationId xmlns:a16="http://schemas.microsoft.com/office/drawing/2014/main" id="{B710FA47-0DA3-6584-09E5-952ED6B25340}"/>
              </a:ext>
            </a:extLst>
          </p:cNvPr>
          <p:cNvSpPr txBox="1"/>
          <p:nvPr/>
        </p:nvSpPr>
        <p:spPr>
          <a:xfrm>
            <a:off x="6705599" y="1853513"/>
            <a:ext cx="368114" cy="338554"/>
          </a:xfrm>
          <a:prstGeom prst="rect">
            <a:avLst/>
          </a:prstGeom>
          <a:noFill/>
        </p:spPr>
        <p:txBody>
          <a:bodyPr wrap="none" rtlCol="0">
            <a:spAutoFit/>
          </a:bodyPr>
          <a:lstStyle/>
          <a:p>
            <a:r>
              <a:rPr lang="en-US" sz="1600" b="1" dirty="0"/>
              <a:t>B.</a:t>
            </a:r>
          </a:p>
        </p:txBody>
      </p:sp>
    </p:spTree>
    <p:extLst>
      <p:ext uri="{BB962C8B-B14F-4D97-AF65-F5344CB8AC3E}">
        <p14:creationId xmlns:p14="http://schemas.microsoft.com/office/powerpoint/2010/main" val="13654560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Group 30">
            <a:extLst>
              <a:ext uri="{FF2B5EF4-FFF2-40B4-BE49-F238E27FC236}">
                <a16:creationId xmlns:a16="http://schemas.microsoft.com/office/drawing/2014/main" id="{1708C138-8907-A5D0-8FA3-F4F75A849704}"/>
              </a:ext>
            </a:extLst>
          </p:cNvPr>
          <p:cNvGrpSpPr/>
          <p:nvPr/>
        </p:nvGrpSpPr>
        <p:grpSpPr>
          <a:xfrm>
            <a:off x="928134" y="440875"/>
            <a:ext cx="10312482" cy="5661232"/>
            <a:chOff x="405079" y="247147"/>
            <a:chExt cx="10312482" cy="5661232"/>
          </a:xfrm>
        </p:grpSpPr>
        <p:grpSp>
          <p:nvGrpSpPr>
            <p:cNvPr id="14" name="Group 13">
              <a:extLst>
                <a:ext uri="{FF2B5EF4-FFF2-40B4-BE49-F238E27FC236}">
                  <a16:creationId xmlns:a16="http://schemas.microsoft.com/office/drawing/2014/main" id="{A108AEDB-FBF8-C43C-EF70-379E5AE260F7}"/>
                </a:ext>
              </a:extLst>
            </p:cNvPr>
            <p:cNvGrpSpPr/>
            <p:nvPr/>
          </p:nvGrpSpPr>
          <p:grpSpPr>
            <a:xfrm>
              <a:off x="1932822" y="949621"/>
              <a:ext cx="8784739" cy="4958757"/>
              <a:chOff x="1281894" y="510152"/>
              <a:chExt cx="8784739" cy="4958757"/>
            </a:xfrm>
          </p:grpSpPr>
          <p:pic>
            <p:nvPicPr>
              <p:cNvPr id="4" name="Picture 3" descr="A graph of a graph showing a red and blue line&#10;&#10;AI-generated content may be incorrect.">
                <a:extLst>
                  <a:ext uri="{FF2B5EF4-FFF2-40B4-BE49-F238E27FC236}">
                    <a16:creationId xmlns:a16="http://schemas.microsoft.com/office/drawing/2014/main" id="{03A3C7FE-92E1-A11B-7C6D-455B3CF8B760}"/>
                  </a:ext>
                </a:extLst>
              </p:cNvPr>
              <p:cNvPicPr>
                <a:picLocks noChangeAspect="1"/>
              </p:cNvPicPr>
              <p:nvPr/>
            </p:nvPicPr>
            <p:blipFill>
              <a:blip r:embed="rId3"/>
              <a:srcRect l="10174" b="9622"/>
              <a:stretch>
                <a:fillRect/>
              </a:stretch>
            </p:blipFill>
            <p:spPr>
              <a:xfrm>
                <a:off x="1728061" y="510152"/>
                <a:ext cx="3124605" cy="2256295"/>
              </a:xfrm>
              <a:prstGeom prst="rect">
                <a:avLst/>
              </a:prstGeom>
            </p:spPr>
          </p:pic>
          <p:pic>
            <p:nvPicPr>
              <p:cNvPr id="5" name="Picture 4" descr="A graph showing different colors of the same color&#10;&#10;AI-generated content may be incorrect.">
                <a:extLst>
                  <a:ext uri="{FF2B5EF4-FFF2-40B4-BE49-F238E27FC236}">
                    <a16:creationId xmlns:a16="http://schemas.microsoft.com/office/drawing/2014/main" id="{52B920E4-3AD8-03FA-1B4A-4288213C4A64}"/>
                  </a:ext>
                </a:extLst>
              </p:cNvPr>
              <p:cNvPicPr>
                <a:picLocks noChangeAspect="1"/>
              </p:cNvPicPr>
              <p:nvPr/>
            </p:nvPicPr>
            <p:blipFill>
              <a:blip r:embed="rId4"/>
              <a:stretch>
                <a:fillRect/>
              </a:stretch>
            </p:blipFill>
            <p:spPr>
              <a:xfrm>
                <a:off x="4781226" y="658678"/>
                <a:ext cx="2988589" cy="2115518"/>
              </a:xfrm>
              <a:prstGeom prst="rect">
                <a:avLst/>
              </a:prstGeom>
            </p:spPr>
          </p:pic>
          <p:pic>
            <p:nvPicPr>
              <p:cNvPr id="7" name="Picture 6" descr="A red blue and white graph&#10;&#10;AI-generated content may be incorrect.">
                <a:extLst>
                  <a:ext uri="{FF2B5EF4-FFF2-40B4-BE49-F238E27FC236}">
                    <a16:creationId xmlns:a16="http://schemas.microsoft.com/office/drawing/2014/main" id="{9676CD7D-2140-167E-2918-BF6B51D15B46}"/>
                  </a:ext>
                </a:extLst>
              </p:cNvPr>
              <p:cNvPicPr>
                <a:picLocks noChangeAspect="1"/>
              </p:cNvPicPr>
              <p:nvPr/>
            </p:nvPicPr>
            <p:blipFill>
              <a:blip r:embed="rId5"/>
              <a:srcRect b="2723"/>
              <a:stretch>
                <a:fillRect/>
              </a:stretch>
            </p:blipFill>
            <p:spPr>
              <a:xfrm>
                <a:off x="1743559" y="2750949"/>
                <a:ext cx="3109107" cy="2312322"/>
              </a:xfrm>
              <a:prstGeom prst="rect">
                <a:avLst/>
              </a:prstGeom>
            </p:spPr>
          </p:pic>
          <p:pic>
            <p:nvPicPr>
              <p:cNvPr id="6" name="Picture 5" descr="A red and blue gradient with black lines&#10;&#10;AI-generated content may be incorrect.">
                <a:extLst>
                  <a:ext uri="{FF2B5EF4-FFF2-40B4-BE49-F238E27FC236}">
                    <a16:creationId xmlns:a16="http://schemas.microsoft.com/office/drawing/2014/main" id="{E1C333DF-02A5-108C-FBF0-FB0136DA4548}"/>
                  </a:ext>
                </a:extLst>
              </p:cNvPr>
              <p:cNvPicPr>
                <a:picLocks noChangeAspect="1"/>
              </p:cNvPicPr>
              <p:nvPr/>
            </p:nvPicPr>
            <p:blipFill>
              <a:blip r:embed="rId6"/>
              <a:srcRect t="3389"/>
              <a:stretch>
                <a:fillRect/>
              </a:stretch>
            </p:blipFill>
            <p:spPr>
              <a:xfrm>
                <a:off x="4789976" y="2785285"/>
                <a:ext cx="2979840" cy="2312321"/>
              </a:xfrm>
              <a:prstGeom prst="rect">
                <a:avLst/>
              </a:prstGeom>
            </p:spPr>
          </p:pic>
          <p:sp>
            <p:nvSpPr>
              <p:cNvPr id="9" name="TextBox 8">
                <a:extLst>
                  <a:ext uri="{FF2B5EF4-FFF2-40B4-BE49-F238E27FC236}">
                    <a16:creationId xmlns:a16="http://schemas.microsoft.com/office/drawing/2014/main" id="{A95EE285-7830-78C7-0B56-5627172E19D7}"/>
                  </a:ext>
                </a:extLst>
              </p:cNvPr>
              <p:cNvSpPr txBox="1"/>
              <p:nvPr/>
            </p:nvSpPr>
            <p:spPr>
              <a:xfrm>
                <a:off x="3104087" y="5007244"/>
                <a:ext cx="3633174" cy="461665"/>
              </a:xfrm>
              <a:prstGeom prst="rect">
                <a:avLst/>
              </a:prstGeom>
              <a:noFill/>
            </p:spPr>
            <p:txBody>
              <a:bodyPr wrap="none" rtlCol="0">
                <a:spAutoFit/>
              </a:bodyPr>
              <a:lstStyle/>
              <a:p>
                <a:r>
                  <a:rPr lang="en-US" sz="2400" dirty="0"/>
                  <a:t>R</a:t>
                </a:r>
                <a:r>
                  <a:rPr lang="en-US" sz="2400" baseline="-25000" dirty="0"/>
                  <a:t>e</a:t>
                </a:r>
                <a:r>
                  <a:rPr lang="en-US" sz="2400" dirty="0"/>
                  <a:t> of introduced pathogen</a:t>
                </a:r>
              </a:p>
            </p:txBody>
          </p:sp>
          <p:sp>
            <p:nvSpPr>
              <p:cNvPr id="10" name="TextBox 9">
                <a:extLst>
                  <a:ext uri="{FF2B5EF4-FFF2-40B4-BE49-F238E27FC236}">
                    <a16:creationId xmlns:a16="http://schemas.microsoft.com/office/drawing/2014/main" id="{E72D797F-F0EE-0206-D9AF-BCEB1B885F9F}"/>
                  </a:ext>
                </a:extLst>
              </p:cNvPr>
              <p:cNvSpPr txBox="1"/>
              <p:nvPr/>
            </p:nvSpPr>
            <p:spPr>
              <a:xfrm rot="16200000">
                <a:off x="-126504" y="2520117"/>
                <a:ext cx="3278462" cy="461665"/>
              </a:xfrm>
              <a:prstGeom prst="rect">
                <a:avLst/>
              </a:prstGeom>
              <a:noFill/>
            </p:spPr>
            <p:txBody>
              <a:bodyPr wrap="none" rtlCol="0">
                <a:spAutoFit/>
              </a:bodyPr>
              <a:lstStyle/>
              <a:p>
                <a:r>
                  <a:rPr lang="en-US" sz="2400" dirty="0"/>
                  <a:t>Log spillover rate, year</a:t>
                </a:r>
                <a:r>
                  <a:rPr lang="en-US" sz="2400" baseline="30000" dirty="0"/>
                  <a:t>-1</a:t>
                </a:r>
                <a:endParaRPr lang="en-US" sz="2400" dirty="0"/>
              </a:p>
            </p:txBody>
          </p:sp>
          <p:pic>
            <p:nvPicPr>
              <p:cNvPr id="13" name="Picture 12" descr="A red and blue gradient with black numbers&#10;&#10;AI-generated content may be incorrect.">
                <a:extLst>
                  <a:ext uri="{FF2B5EF4-FFF2-40B4-BE49-F238E27FC236}">
                    <a16:creationId xmlns:a16="http://schemas.microsoft.com/office/drawing/2014/main" id="{F06BB0F8-81A5-D254-FADC-63D89F76B7EE}"/>
                  </a:ext>
                </a:extLst>
              </p:cNvPr>
              <p:cNvPicPr>
                <a:picLocks noChangeAspect="1"/>
              </p:cNvPicPr>
              <p:nvPr/>
            </p:nvPicPr>
            <p:blipFill>
              <a:blip r:embed="rId7"/>
              <a:stretch>
                <a:fillRect/>
              </a:stretch>
            </p:blipFill>
            <p:spPr>
              <a:xfrm>
                <a:off x="7890332" y="2390613"/>
                <a:ext cx="1190893" cy="1648929"/>
              </a:xfrm>
              <a:prstGeom prst="rect">
                <a:avLst/>
              </a:prstGeom>
            </p:spPr>
          </p:pic>
          <p:sp>
            <p:nvSpPr>
              <p:cNvPr id="11" name="TextBox 10">
                <a:extLst>
                  <a:ext uri="{FF2B5EF4-FFF2-40B4-BE49-F238E27FC236}">
                    <a16:creationId xmlns:a16="http://schemas.microsoft.com/office/drawing/2014/main" id="{78947352-D9BD-04FC-A612-89AFE8C28012}"/>
                  </a:ext>
                </a:extLst>
              </p:cNvPr>
              <p:cNvSpPr txBox="1"/>
              <p:nvPr/>
            </p:nvSpPr>
            <p:spPr>
              <a:xfrm>
                <a:off x="7890332" y="2048401"/>
                <a:ext cx="2176301" cy="400110"/>
              </a:xfrm>
              <a:prstGeom prst="rect">
                <a:avLst/>
              </a:prstGeom>
              <a:noFill/>
            </p:spPr>
            <p:txBody>
              <a:bodyPr wrap="none" rtlCol="0">
                <a:spAutoFit/>
              </a:bodyPr>
              <a:lstStyle/>
              <a:p>
                <a:r>
                  <a:rPr lang="en-US" sz="2000" dirty="0"/>
                  <a:t>Log P(Emergence)</a:t>
                </a:r>
              </a:p>
            </p:txBody>
          </p:sp>
        </p:grpSp>
        <p:grpSp>
          <p:nvGrpSpPr>
            <p:cNvPr id="19" name="Group 18">
              <a:extLst>
                <a:ext uri="{FF2B5EF4-FFF2-40B4-BE49-F238E27FC236}">
                  <a16:creationId xmlns:a16="http://schemas.microsoft.com/office/drawing/2014/main" id="{03DA7B27-CCA8-15D2-32D1-5F479CE4B9EB}"/>
                </a:ext>
              </a:extLst>
            </p:cNvPr>
            <p:cNvGrpSpPr/>
            <p:nvPr/>
          </p:nvGrpSpPr>
          <p:grpSpPr>
            <a:xfrm>
              <a:off x="764384" y="460833"/>
              <a:ext cx="1245431" cy="5447546"/>
              <a:chOff x="64342" y="1011331"/>
              <a:chExt cx="1245431" cy="5447546"/>
            </a:xfrm>
          </p:grpSpPr>
          <p:cxnSp>
            <p:nvCxnSpPr>
              <p:cNvPr id="20" name="Straight Arrow Connector 19">
                <a:extLst>
                  <a:ext uri="{FF2B5EF4-FFF2-40B4-BE49-F238E27FC236}">
                    <a16:creationId xmlns:a16="http://schemas.microsoft.com/office/drawing/2014/main" id="{FCE2A20C-5D46-82FC-388C-118EA7A2D79D}"/>
                  </a:ext>
                </a:extLst>
              </p:cNvPr>
              <p:cNvCxnSpPr>
                <a:cxnSpLocks/>
              </p:cNvCxnSpPr>
              <p:nvPr/>
            </p:nvCxnSpPr>
            <p:spPr>
              <a:xfrm>
                <a:off x="633675" y="1338473"/>
                <a:ext cx="0" cy="5031639"/>
              </a:xfrm>
              <a:prstGeom prst="straightConnector1">
                <a:avLst/>
              </a:prstGeom>
              <a:ln w="50800">
                <a:solidFill>
                  <a:srgbClr val="000000"/>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6ACEEC50-6CED-5BDB-9DDF-2FA52C313B46}"/>
                  </a:ext>
                </a:extLst>
              </p:cNvPr>
              <p:cNvSpPr txBox="1"/>
              <p:nvPr/>
            </p:nvSpPr>
            <p:spPr>
              <a:xfrm rot="16200000">
                <a:off x="-2428598" y="3504271"/>
                <a:ext cx="5447546" cy="461665"/>
              </a:xfrm>
              <a:prstGeom prst="rect">
                <a:avLst/>
              </a:prstGeom>
              <a:noFill/>
            </p:spPr>
            <p:txBody>
              <a:bodyPr wrap="square" rtlCol="0">
                <a:spAutoFit/>
              </a:bodyPr>
              <a:lstStyle/>
              <a:p>
                <a:r>
                  <a:rPr lang="en-US" sz="2400" dirty="0"/>
                  <a:t>Beneficial mutation rate (infection</a:t>
                </a:r>
                <a:r>
                  <a:rPr lang="en-US" sz="2400" baseline="30000" dirty="0"/>
                  <a:t>-1</a:t>
                </a:r>
                <a:r>
                  <a:rPr lang="en-US" sz="2400" dirty="0"/>
                  <a:t>), 𝝁</a:t>
                </a:r>
              </a:p>
            </p:txBody>
          </p:sp>
          <p:sp>
            <p:nvSpPr>
              <p:cNvPr id="22" name="TextBox 21">
                <a:extLst>
                  <a:ext uri="{FF2B5EF4-FFF2-40B4-BE49-F238E27FC236}">
                    <a16:creationId xmlns:a16="http://schemas.microsoft.com/office/drawing/2014/main" id="{9F9704C2-9CB1-8628-F330-F196797E5ABE}"/>
                  </a:ext>
                </a:extLst>
              </p:cNvPr>
              <p:cNvSpPr txBox="1"/>
              <p:nvPr/>
            </p:nvSpPr>
            <p:spPr>
              <a:xfrm>
                <a:off x="615352" y="2648271"/>
                <a:ext cx="694421" cy="461665"/>
              </a:xfrm>
              <a:prstGeom prst="rect">
                <a:avLst/>
              </a:prstGeom>
              <a:noFill/>
            </p:spPr>
            <p:txBody>
              <a:bodyPr wrap="none" rtlCol="0">
                <a:spAutoFit/>
              </a:bodyPr>
              <a:lstStyle/>
              <a:p>
                <a:r>
                  <a:rPr lang="en-US" sz="2400" dirty="0"/>
                  <a:t>10</a:t>
                </a:r>
                <a:r>
                  <a:rPr lang="en-US" sz="2400" baseline="30000" dirty="0"/>
                  <a:t>-4</a:t>
                </a:r>
                <a:endParaRPr lang="en-US" sz="2400" dirty="0"/>
              </a:p>
            </p:txBody>
          </p:sp>
          <p:sp>
            <p:nvSpPr>
              <p:cNvPr id="23" name="TextBox 22">
                <a:extLst>
                  <a:ext uri="{FF2B5EF4-FFF2-40B4-BE49-F238E27FC236}">
                    <a16:creationId xmlns:a16="http://schemas.microsoft.com/office/drawing/2014/main" id="{88768F2B-9D89-5A53-9F8B-7996915E188F}"/>
                  </a:ext>
                </a:extLst>
              </p:cNvPr>
              <p:cNvSpPr txBox="1"/>
              <p:nvPr/>
            </p:nvSpPr>
            <p:spPr>
              <a:xfrm>
                <a:off x="615352" y="4805924"/>
                <a:ext cx="694421" cy="461665"/>
              </a:xfrm>
              <a:prstGeom prst="rect">
                <a:avLst/>
              </a:prstGeom>
              <a:noFill/>
            </p:spPr>
            <p:txBody>
              <a:bodyPr wrap="none" rtlCol="0">
                <a:spAutoFit/>
              </a:bodyPr>
              <a:lstStyle/>
              <a:p>
                <a:r>
                  <a:rPr lang="en-US" sz="2400" dirty="0"/>
                  <a:t>10</a:t>
                </a:r>
                <a:r>
                  <a:rPr lang="en-US" sz="2400" baseline="30000" dirty="0"/>
                  <a:t>-3</a:t>
                </a:r>
                <a:endParaRPr lang="en-US" sz="2400" dirty="0"/>
              </a:p>
            </p:txBody>
          </p:sp>
        </p:grpSp>
        <p:grpSp>
          <p:nvGrpSpPr>
            <p:cNvPr id="24" name="Group 23">
              <a:extLst>
                <a:ext uri="{FF2B5EF4-FFF2-40B4-BE49-F238E27FC236}">
                  <a16:creationId xmlns:a16="http://schemas.microsoft.com/office/drawing/2014/main" id="{95AF7D1D-F11A-E048-7B77-55B8B7322135}"/>
                </a:ext>
              </a:extLst>
            </p:cNvPr>
            <p:cNvGrpSpPr/>
            <p:nvPr/>
          </p:nvGrpSpPr>
          <p:grpSpPr>
            <a:xfrm>
              <a:off x="405079" y="692509"/>
              <a:ext cx="9854666" cy="477417"/>
              <a:chOff x="1542098" y="935612"/>
              <a:chExt cx="9854666" cy="477417"/>
            </a:xfrm>
          </p:grpSpPr>
          <p:sp>
            <p:nvSpPr>
              <p:cNvPr id="25" name="TextBox 24">
                <a:extLst>
                  <a:ext uri="{FF2B5EF4-FFF2-40B4-BE49-F238E27FC236}">
                    <a16:creationId xmlns:a16="http://schemas.microsoft.com/office/drawing/2014/main" id="{377A20C6-E4EB-9601-614F-88CFB0B62E00}"/>
                  </a:ext>
                </a:extLst>
              </p:cNvPr>
              <p:cNvSpPr txBox="1"/>
              <p:nvPr/>
            </p:nvSpPr>
            <p:spPr>
              <a:xfrm>
                <a:off x="1542098" y="951364"/>
                <a:ext cx="9854666" cy="461665"/>
              </a:xfrm>
              <a:prstGeom prst="rect">
                <a:avLst/>
              </a:prstGeom>
              <a:noFill/>
            </p:spPr>
            <p:txBody>
              <a:bodyPr wrap="square" rtlCol="0">
                <a:spAutoFit/>
              </a:bodyPr>
              <a:lstStyle/>
              <a:p>
                <a:pPr algn="ctr"/>
                <a:r>
                  <a:rPr lang="en-US" sz="2400" dirty="0"/>
                  <a:t>0.05                    	               0.1           </a:t>
                </a:r>
              </a:p>
            </p:txBody>
          </p:sp>
          <p:cxnSp>
            <p:nvCxnSpPr>
              <p:cNvPr id="26" name="Straight Arrow Connector 25">
                <a:extLst>
                  <a:ext uri="{FF2B5EF4-FFF2-40B4-BE49-F238E27FC236}">
                    <a16:creationId xmlns:a16="http://schemas.microsoft.com/office/drawing/2014/main" id="{7F3F68C5-300E-308F-6637-308B4AE80149}"/>
                  </a:ext>
                </a:extLst>
              </p:cNvPr>
              <p:cNvCxnSpPr>
                <a:cxnSpLocks/>
              </p:cNvCxnSpPr>
              <p:nvPr/>
            </p:nvCxnSpPr>
            <p:spPr>
              <a:xfrm flipV="1">
                <a:off x="3145688" y="935612"/>
                <a:ext cx="6913218" cy="16303"/>
              </a:xfrm>
              <a:prstGeom prst="straightConnector1">
                <a:avLst/>
              </a:prstGeom>
              <a:ln w="50800">
                <a:solidFill>
                  <a:srgbClr val="000000"/>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grpSp>
        <p:sp>
          <p:nvSpPr>
            <p:cNvPr id="29" name="TextBox 28">
              <a:extLst>
                <a:ext uri="{FF2B5EF4-FFF2-40B4-BE49-F238E27FC236}">
                  <a16:creationId xmlns:a16="http://schemas.microsoft.com/office/drawing/2014/main" id="{9332B48A-40EB-DFA4-B971-D5A590E4395A}"/>
                </a:ext>
              </a:extLst>
            </p:cNvPr>
            <p:cNvSpPr txBox="1"/>
            <p:nvPr/>
          </p:nvSpPr>
          <p:spPr>
            <a:xfrm>
              <a:off x="2224003" y="247147"/>
              <a:ext cx="6098582" cy="461665"/>
            </a:xfrm>
            <a:prstGeom prst="rect">
              <a:avLst/>
            </a:prstGeom>
            <a:noFill/>
          </p:spPr>
          <p:txBody>
            <a:bodyPr wrap="square">
              <a:spAutoFit/>
            </a:bodyPr>
            <a:lstStyle/>
            <a:p>
              <a:pPr algn="ctr"/>
              <a:r>
                <a:rPr lang="en-US" sz="2400" dirty="0"/>
                <a:t>Increase in fitness with mutation, 𝛔 </a:t>
              </a:r>
            </a:p>
          </p:txBody>
        </p:sp>
      </p:grpSp>
    </p:spTree>
    <p:extLst>
      <p:ext uri="{BB962C8B-B14F-4D97-AF65-F5344CB8AC3E}">
        <p14:creationId xmlns:p14="http://schemas.microsoft.com/office/powerpoint/2010/main" val="20505362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Group 28">
            <a:extLst>
              <a:ext uri="{FF2B5EF4-FFF2-40B4-BE49-F238E27FC236}">
                <a16:creationId xmlns:a16="http://schemas.microsoft.com/office/drawing/2014/main" id="{C94BEB4F-9799-B601-B90D-BEE413204F78}"/>
              </a:ext>
            </a:extLst>
          </p:cNvPr>
          <p:cNvGrpSpPr/>
          <p:nvPr/>
        </p:nvGrpSpPr>
        <p:grpSpPr>
          <a:xfrm>
            <a:off x="2354372" y="2088931"/>
            <a:ext cx="7627827" cy="2680137"/>
            <a:chOff x="2354372" y="2088931"/>
            <a:chExt cx="7627827" cy="2680137"/>
          </a:xfrm>
        </p:grpSpPr>
        <p:pic>
          <p:nvPicPr>
            <p:cNvPr id="22" name="Picture 21">
              <a:extLst>
                <a:ext uri="{FF2B5EF4-FFF2-40B4-BE49-F238E27FC236}">
                  <a16:creationId xmlns:a16="http://schemas.microsoft.com/office/drawing/2014/main" id="{5EC122F4-69F4-F40C-D0D6-8674E130E46E}"/>
                </a:ext>
              </a:extLst>
            </p:cNvPr>
            <p:cNvPicPr>
              <a:picLocks noChangeAspect="1"/>
            </p:cNvPicPr>
            <p:nvPr/>
          </p:nvPicPr>
          <p:blipFill>
            <a:blip r:embed="rId2"/>
            <a:srcRect l="4160"/>
            <a:stretch>
              <a:fillRect/>
            </a:stretch>
          </p:blipFill>
          <p:spPr>
            <a:xfrm>
              <a:off x="2533134" y="2088931"/>
              <a:ext cx="7449065" cy="2680137"/>
            </a:xfrm>
            <a:prstGeom prst="rect">
              <a:avLst/>
            </a:prstGeom>
          </p:spPr>
        </p:pic>
        <p:sp>
          <p:nvSpPr>
            <p:cNvPr id="23" name="TextBox 22">
              <a:extLst>
                <a:ext uri="{FF2B5EF4-FFF2-40B4-BE49-F238E27FC236}">
                  <a16:creationId xmlns:a16="http://schemas.microsoft.com/office/drawing/2014/main" id="{AA7F1A41-BD61-9DEF-3571-9ABF780EB3B7}"/>
                </a:ext>
              </a:extLst>
            </p:cNvPr>
            <p:cNvSpPr txBox="1"/>
            <p:nvPr/>
          </p:nvSpPr>
          <p:spPr>
            <a:xfrm>
              <a:off x="2354372" y="4164234"/>
              <a:ext cx="635964" cy="461665"/>
            </a:xfrm>
            <a:prstGeom prst="rect">
              <a:avLst/>
            </a:prstGeom>
            <a:noFill/>
          </p:spPr>
          <p:txBody>
            <a:bodyPr wrap="square" rtlCol="0">
              <a:spAutoFit/>
            </a:bodyPr>
            <a:lstStyle/>
            <a:p>
              <a:r>
                <a:rPr lang="en-US" sz="2400" dirty="0"/>
                <a:t>0</a:t>
              </a:r>
            </a:p>
          </p:txBody>
        </p:sp>
        <p:cxnSp>
          <p:nvCxnSpPr>
            <p:cNvPr id="26" name="Straight Connector 25">
              <a:extLst>
                <a:ext uri="{FF2B5EF4-FFF2-40B4-BE49-F238E27FC236}">
                  <a16:creationId xmlns:a16="http://schemas.microsoft.com/office/drawing/2014/main" id="{4BA46A37-B183-B57A-C9D5-5C52813940AA}"/>
                </a:ext>
              </a:extLst>
            </p:cNvPr>
            <p:cNvCxnSpPr>
              <a:cxnSpLocks/>
            </p:cNvCxnSpPr>
            <p:nvPr/>
          </p:nvCxnSpPr>
          <p:spPr>
            <a:xfrm>
              <a:off x="2520787" y="3842957"/>
              <a:ext cx="0" cy="234778"/>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3723242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0504B2E2-E5DD-FC10-4D90-74F200587597}"/>
              </a:ext>
            </a:extLst>
          </p:cNvPr>
          <p:cNvGrpSpPr/>
          <p:nvPr/>
        </p:nvGrpSpPr>
        <p:grpSpPr>
          <a:xfrm>
            <a:off x="1365405" y="586191"/>
            <a:ext cx="9854666" cy="830997"/>
            <a:chOff x="1859817" y="642921"/>
            <a:chExt cx="9854666" cy="830997"/>
          </a:xfrm>
        </p:grpSpPr>
        <p:sp>
          <p:nvSpPr>
            <p:cNvPr id="7" name="TextBox 6">
              <a:extLst>
                <a:ext uri="{FF2B5EF4-FFF2-40B4-BE49-F238E27FC236}">
                  <a16:creationId xmlns:a16="http://schemas.microsoft.com/office/drawing/2014/main" id="{8DB9E76D-6852-2395-67DE-8D3937ACB1E0}"/>
                </a:ext>
              </a:extLst>
            </p:cNvPr>
            <p:cNvSpPr txBox="1"/>
            <p:nvPr/>
          </p:nvSpPr>
          <p:spPr>
            <a:xfrm>
              <a:off x="1859817" y="642921"/>
              <a:ext cx="9854666" cy="830997"/>
            </a:xfrm>
            <a:prstGeom prst="rect">
              <a:avLst/>
            </a:prstGeom>
            <a:solidFill>
              <a:schemeClr val="bg1"/>
            </a:solidFill>
          </p:spPr>
          <p:txBody>
            <a:bodyPr wrap="square" rtlCol="0">
              <a:spAutoFit/>
            </a:bodyPr>
            <a:lstStyle/>
            <a:p>
              <a:pPr algn="ctr"/>
              <a:r>
                <a:rPr lang="en-US" sz="2400"/>
                <a:t>Increase in fitness with mutation </a:t>
              </a:r>
            </a:p>
            <a:p>
              <a:pPr algn="ctr"/>
              <a:r>
                <a:rPr lang="en-US" sz="2400"/>
                <a:t>    0.05             		                             0.1           </a:t>
              </a:r>
            </a:p>
          </p:txBody>
        </p:sp>
        <p:cxnSp>
          <p:nvCxnSpPr>
            <p:cNvPr id="10" name="Straight Arrow Connector 9">
              <a:extLst>
                <a:ext uri="{FF2B5EF4-FFF2-40B4-BE49-F238E27FC236}">
                  <a16:creationId xmlns:a16="http://schemas.microsoft.com/office/drawing/2014/main" id="{73F9B165-AB2C-5E00-409A-21DF9E871996}"/>
                </a:ext>
              </a:extLst>
            </p:cNvPr>
            <p:cNvCxnSpPr>
              <a:cxnSpLocks/>
            </p:cNvCxnSpPr>
            <p:nvPr/>
          </p:nvCxnSpPr>
          <p:spPr>
            <a:xfrm>
              <a:off x="2339894" y="1054670"/>
              <a:ext cx="9374589" cy="1"/>
            </a:xfrm>
            <a:prstGeom prst="straightConnector1">
              <a:avLst/>
            </a:prstGeom>
            <a:ln w="50800">
              <a:solidFill>
                <a:srgbClr val="000000"/>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grpSp>
      <p:grpSp>
        <p:nvGrpSpPr>
          <p:cNvPr id="39" name="Group 38">
            <a:extLst>
              <a:ext uri="{FF2B5EF4-FFF2-40B4-BE49-F238E27FC236}">
                <a16:creationId xmlns:a16="http://schemas.microsoft.com/office/drawing/2014/main" id="{46F2763F-0F2F-B3C7-321F-E68762863ED6}"/>
              </a:ext>
            </a:extLst>
          </p:cNvPr>
          <p:cNvGrpSpPr/>
          <p:nvPr/>
        </p:nvGrpSpPr>
        <p:grpSpPr>
          <a:xfrm>
            <a:off x="337796" y="908804"/>
            <a:ext cx="1252239" cy="5447546"/>
            <a:chOff x="57534" y="1116675"/>
            <a:chExt cx="1252239" cy="5447546"/>
          </a:xfrm>
        </p:grpSpPr>
        <p:cxnSp>
          <p:nvCxnSpPr>
            <p:cNvPr id="11" name="Straight Arrow Connector 10">
              <a:extLst>
                <a:ext uri="{FF2B5EF4-FFF2-40B4-BE49-F238E27FC236}">
                  <a16:creationId xmlns:a16="http://schemas.microsoft.com/office/drawing/2014/main" id="{88D7AE3D-7CD9-60D5-8B5C-28F2C5E3562B}"/>
                </a:ext>
              </a:extLst>
            </p:cNvPr>
            <p:cNvCxnSpPr>
              <a:cxnSpLocks/>
            </p:cNvCxnSpPr>
            <p:nvPr/>
          </p:nvCxnSpPr>
          <p:spPr>
            <a:xfrm>
              <a:off x="633675" y="1822178"/>
              <a:ext cx="0" cy="4487036"/>
            </a:xfrm>
            <a:prstGeom prst="straightConnector1">
              <a:avLst/>
            </a:prstGeom>
            <a:ln w="50800">
              <a:solidFill>
                <a:srgbClr val="000000"/>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8D87CDCE-F77C-55D9-008A-AFF7F11F36B9}"/>
                </a:ext>
              </a:extLst>
            </p:cNvPr>
            <p:cNvSpPr txBox="1"/>
            <p:nvPr/>
          </p:nvSpPr>
          <p:spPr>
            <a:xfrm rot="16200000">
              <a:off x="-2435406" y="3609615"/>
              <a:ext cx="5447546" cy="461665"/>
            </a:xfrm>
            <a:prstGeom prst="rect">
              <a:avLst/>
            </a:prstGeom>
            <a:noFill/>
          </p:spPr>
          <p:txBody>
            <a:bodyPr wrap="square" rtlCol="0">
              <a:spAutoFit/>
            </a:bodyPr>
            <a:lstStyle/>
            <a:p>
              <a:r>
                <a:rPr lang="en-US" sz="2400" dirty="0"/>
                <a:t>Beneficial mutation rate (per infection)</a:t>
              </a:r>
            </a:p>
          </p:txBody>
        </p:sp>
        <p:sp>
          <p:nvSpPr>
            <p:cNvPr id="17" name="TextBox 16">
              <a:extLst>
                <a:ext uri="{FF2B5EF4-FFF2-40B4-BE49-F238E27FC236}">
                  <a16:creationId xmlns:a16="http://schemas.microsoft.com/office/drawing/2014/main" id="{18508C3D-3181-58E7-36EA-275E2A08433E}"/>
                </a:ext>
              </a:extLst>
            </p:cNvPr>
            <p:cNvSpPr txBox="1"/>
            <p:nvPr/>
          </p:nvSpPr>
          <p:spPr>
            <a:xfrm>
              <a:off x="615352" y="2579700"/>
              <a:ext cx="694421" cy="461665"/>
            </a:xfrm>
            <a:prstGeom prst="rect">
              <a:avLst/>
            </a:prstGeom>
            <a:noFill/>
          </p:spPr>
          <p:txBody>
            <a:bodyPr wrap="none" rtlCol="0">
              <a:spAutoFit/>
            </a:bodyPr>
            <a:lstStyle/>
            <a:p>
              <a:r>
                <a:rPr lang="en-US" sz="2400"/>
                <a:t>10</a:t>
              </a:r>
              <a:r>
                <a:rPr lang="en-US" sz="2400" baseline="30000"/>
                <a:t>-4</a:t>
              </a:r>
              <a:endParaRPr lang="en-US" sz="2400"/>
            </a:p>
          </p:txBody>
        </p:sp>
        <p:sp>
          <p:nvSpPr>
            <p:cNvPr id="18" name="TextBox 17">
              <a:extLst>
                <a:ext uri="{FF2B5EF4-FFF2-40B4-BE49-F238E27FC236}">
                  <a16:creationId xmlns:a16="http://schemas.microsoft.com/office/drawing/2014/main" id="{43F835CC-ACDE-6CB3-726C-754B889B399B}"/>
                </a:ext>
              </a:extLst>
            </p:cNvPr>
            <p:cNvSpPr txBox="1"/>
            <p:nvPr/>
          </p:nvSpPr>
          <p:spPr>
            <a:xfrm>
              <a:off x="601260" y="4967300"/>
              <a:ext cx="694421" cy="461665"/>
            </a:xfrm>
            <a:prstGeom prst="rect">
              <a:avLst/>
            </a:prstGeom>
            <a:noFill/>
          </p:spPr>
          <p:txBody>
            <a:bodyPr wrap="none" rtlCol="0">
              <a:spAutoFit/>
            </a:bodyPr>
            <a:lstStyle/>
            <a:p>
              <a:r>
                <a:rPr lang="en-US" sz="2400"/>
                <a:t>10</a:t>
              </a:r>
              <a:r>
                <a:rPr lang="en-US" sz="2400" baseline="30000"/>
                <a:t>-3</a:t>
              </a:r>
              <a:endParaRPr lang="en-US" sz="2400"/>
            </a:p>
          </p:txBody>
        </p:sp>
      </p:grpSp>
      <p:pic>
        <p:nvPicPr>
          <p:cNvPr id="20" name="Picture 19" descr="A red and blue gradient with black text&#10;&#10;AI-generated content may be incorrect.">
            <a:extLst>
              <a:ext uri="{FF2B5EF4-FFF2-40B4-BE49-F238E27FC236}">
                <a16:creationId xmlns:a16="http://schemas.microsoft.com/office/drawing/2014/main" id="{0F219ADF-424E-D53C-53FE-E7CAA7D1276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28875" y="2016349"/>
            <a:ext cx="1827016" cy="3471331"/>
          </a:xfrm>
          <a:prstGeom prst="rect">
            <a:avLst/>
          </a:prstGeom>
        </p:spPr>
      </p:pic>
      <p:sp>
        <p:nvSpPr>
          <p:cNvPr id="23" name="Slide Number Placeholder 22">
            <a:extLst>
              <a:ext uri="{FF2B5EF4-FFF2-40B4-BE49-F238E27FC236}">
                <a16:creationId xmlns:a16="http://schemas.microsoft.com/office/drawing/2014/main" id="{24948E29-F900-417C-7DD6-52C31D43E3F3}"/>
              </a:ext>
            </a:extLst>
          </p:cNvPr>
          <p:cNvSpPr>
            <a:spLocks noGrp="1"/>
          </p:cNvSpPr>
          <p:nvPr>
            <p:ph type="sldNum" sz="quarter" idx="12"/>
          </p:nvPr>
        </p:nvSpPr>
        <p:spPr/>
        <p:txBody>
          <a:bodyPr/>
          <a:lstStyle/>
          <a:p>
            <a:fld id="{330EA680-D336-4FF7-8B7A-9848BB0A1C32}" type="slidenum">
              <a:rPr lang="en-US" smtClean="0"/>
              <a:t>8</a:t>
            </a:fld>
            <a:endParaRPr lang="en-US"/>
          </a:p>
        </p:txBody>
      </p:sp>
      <p:pic>
        <p:nvPicPr>
          <p:cNvPr id="43" name="Picture 42" descr="A red white and blue graph&#10;&#10;AI-generated content may be incorrect.">
            <a:extLst>
              <a:ext uri="{FF2B5EF4-FFF2-40B4-BE49-F238E27FC236}">
                <a16:creationId xmlns:a16="http://schemas.microsoft.com/office/drawing/2014/main" id="{400011CE-B5AC-AF3D-4236-A86ADDDDE9B1}"/>
              </a:ext>
            </a:extLst>
          </p:cNvPr>
          <p:cNvPicPr>
            <a:picLocks/>
          </p:cNvPicPr>
          <p:nvPr/>
        </p:nvPicPr>
        <p:blipFill>
          <a:blip r:embed="rId4">
            <a:extLst>
              <a:ext uri="{28A0092B-C50C-407E-A947-70E740481C1C}">
                <a14:useLocalDpi xmlns:a14="http://schemas.microsoft.com/office/drawing/2010/main" val="0"/>
              </a:ext>
            </a:extLst>
          </a:blip>
          <a:srcRect l="3865"/>
          <a:stretch>
            <a:fillRect/>
          </a:stretch>
        </p:blipFill>
        <p:spPr>
          <a:xfrm>
            <a:off x="2601182" y="1295332"/>
            <a:ext cx="3769176" cy="2456683"/>
          </a:xfrm>
          <a:prstGeom prst="rect">
            <a:avLst/>
          </a:prstGeom>
        </p:spPr>
      </p:pic>
      <p:pic>
        <p:nvPicPr>
          <p:cNvPr id="47" name="Picture 46" descr="A red blue and purple gradient&#10;&#10;AI-generated content may be incorrect.">
            <a:extLst>
              <a:ext uri="{FF2B5EF4-FFF2-40B4-BE49-F238E27FC236}">
                <a16:creationId xmlns:a16="http://schemas.microsoft.com/office/drawing/2014/main" id="{CF68C38B-191E-D0F8-F828-9B1ECC6DFA6B}"/>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6393333" y="1300115"/>
            <a:ext cx="3769176" cy="2456683"/>
          </a:xfrm>
          <a:prstGeom prst="rect">
            <a:avLst/>
          </a:prstGeom>
        </p:spPr>
      </p:pic>
      <p:pic>
        <p:nvPicPr>
          <p:cNvPr id="49" name="Picture 48" descr="A red and blue graph&#10;&#10;AI-generated content may be incorrect.">
            <a:extLst>
              <a:ext uri="{FF2B5EF4-FFF2-40B4-BE49-F238E27FC236}">
                <a16:creationId xmlns:a16="http://schemas.microsoft.com/office/drawing/2014/main" id="{9ECF890F-AA4F-0C3E-A110-A56E3105F227}"/>
              </a:ext>
            </a:extLst>
          </p:cNvPr>
          <p:cNvPicPr>
            <a:picLocks/>
          </p:cNvPicPr>
          <p:nvPr/>
        </p:nvPicPr>
        <p:blipFill>
          <a:blip r:embed="rId6">
            <a:extLst>
              <a:ext uri="{28A0092B-C50C-407E-A947-70E740481C1C}">
                <a14:useLocalDpi xmlns:a14="http://schemas.microsoft.com/office/drawing/2010/main" val="0"/>
              </a:ext>
            </a:extLst>
          </a:blip>
          <a:srcRect b="6638"/>
          <a:stretch>
            <a:fillRect/>
          </a:stretch>
        </p:blipFill>
        <p:spPr>
          <a:xfrm>
            <a:off x="6393333" y="3795263"/>
            <a:ext cx="3769176" cy="2456683"/>
          </a:xfrm>
          <a:prstGeom prst="rect">
            <a:avLst/>
          </a:prstGeom>
        </p:spPr>
      </p:pic>
      <p:sp>
        <p:nvSpPr>
          <p:cNvPr id="55" name="TextBox 54">
            <a:extLst>
              <a:ext uri="{FF2B5EF4-FFF2-40B4-BE49-F238E27FC236}">
                <a16:creationId xmlns:a16="http://schemas.microsoft.com/office/drawing/2014/main" id="{B14FA43F-1186-F538-1E34-F7A73618A5EF}"/>
              </a:ext>
            </a:extLst>
          </p:cNvPr>
          <p:cNvSpPr txBox="1"/>
          <p:nvPr/>
        </p:nvSpPr>
        <p:spPr>
          <a:xfrm>
            <a:off x="7095678" y="6171684"/>
            <a:ext cx="3877985" cy="369332"/>
          </a:xfrm>
          <a:prstGeom prst="rect">
            <a:avLst/>
          </a:prstGeom>
          <a:noFill/>
        </p:spPr>
        <p:txBody>
          <a:bodyPr wrap="none" rtlCol="0">
            <a:spAutoFit/>
          </a:bodyPr>
          <a:lstStyle/>
          <a:p>
            <a:r>
              <a:rPr lang="en-US"/>
              <a:t>0.8	       0.9	               1.0	</a:t>
            </a:r>
          </a:p>
        </p:txBody>
      </p:sp>
      <p:sp>
        <p:nvSpPr>
          <p:cNvPr id="2" name="Title 1">
            <a:extLst>
              <a:ext uri="{FF2B5EF4-FFF2-40B4-BE49-F238E27FC236}">
                <a16:creationId xmlns:a16="http://schemas.microsoft.com/office/drawing/2014/main" id="{F00938CC-DDFA-C8DC-DF0E-DB0F5BF947E0}"/>
              </a:ext>
            </a:extLst>
          </p:cNvPr>
          <p:cNvSpPr>
            <a:spLocks noGrp="1"/>
          </p:cNvSpPr>
          <p:nvPr>
            <p:ph type="title"/>
          </p:nvPr>
        </p:nvSpPr>
        <p:spPr>
          <a:xfrm>
            <a:off x="399858" y="-247632"/>
            <a:ext cx="11166231" cy="1325563"/>
          </a:xfrm>
        </p:spPr>
        <p:txBody>
          <a:bodyPr>
            <a:normAutofit/>
          </a:bodyPr>
          <a:lstStyle/>
          <a:p>
            <a:r>
              <a:rPr lang="en-US" sz="3600" b="1"/>
              <a:t>Reducing Re can be a more effective prevention strategy. </a:t>
            </a:r>
          </a:p>
        </p:txBody>
      </p:sp>
      <p:grpSp>
        <p:nvGrpSpPr>
          <p:cNvPr id="3" name="Group 2">
            <a:extLst>
              <a:ext uri="{FF2B5EF4-FFF2-40B4-BE49-F238E27FC236}">
                <a16:creationId xmlns:a16="http://schemas.microsoft.com/office/drawing/2014/main" id="{EC1DECCB-79EB-70A9-A82D-EBB094F022A3}"/>
              </a:ext>
            </a:extLst>
          </p:cNvPr>
          <p:cNvGrpSpPr/>
          <p:nvPr/>
        </p:nvGrpSpPr>
        <p:grpSpPr>
          <a:xfrm>
            <a:off x="1834417" y="1938634"/>
            <a:ext cx="6705570" cy="4919366"/>
            <a:chOff x="1834417" y="1938634"/>
            <a:chExt cx="6705570" cy="4919366"/>
          </a:xfrm>
        </p:grpSpPr>
        <p:pic>
          <p:nvPicPr>
            <p:cNvPr id="51" name="Picture 50" descr="A graph of red blue and white&#10;&#10;AI-generated content may be incorrect.">
              <a:extLst>
                <a:ext uri="{FF2B5EF4-FFF2-40B4-BE49-F238E27FC236}">
                  <a16:creationId xmlns:a16="http://schemas.microsoft.com/office/drawing/2014/main" id="{6273D348-0700-FA80-B720-08F18293B205}"/>
                </a:ext>
              </a:extLst>
            </p:cNvPr>
            <p:cNvPicPr>
              <a:picLocks/>
            </p:cNvPicPr>
            <p:nvPr/>
          </p:nvPicPr>
          <p:blipFill>
            <a:blip r:embed="rId7">
              <a:extLst>
                <a:ext uri="{28A0092B-C50C-407E-A947-70E740481C1C}">
                  <a14:useLocalDpi xmlns:a14="http://schemas.microsoft.com/office/drawing/2010/main" val="0"/>
                </a:ext>
              </a:extLst>
            </a:blip>
            <a:srcRect l="3861" b="6608"/>
            <a:stretch>
              <a:fillRect/>
            </a:stretch>
          </p:blipFill>
          <p:spPr>
            <a:xfrm>
              <a:off x="2601181" y="3795263"/>
              <a:ext cx="3769176" cy="2456683"/>
            </a:xfrm>
            <a:prstGeom prst="rect">
              <a:avLst/>
            </a:prstGeom>
          </p:spPr>
        </p:pic>
        <p:sp>
          <p:nvSpPr>
            <p:cNvPr id="52" name="TextBox 51">
              <a:extLst>
                <a:ext uri="{FF2B5EF4-FFF2-40B4-BE49-F238E27FC236}">
                  <a16:creationId xmlns:a16="http://schemas.microsoft.com/office/drawing/2014/main" id="{092828F7-BBC5-B394-F689-DBF56D6DCA13}"/>
                </a:ext>
              </a:extLst>
            </p:cNvPr>
            <p:cNvSpPr txBox="1"/>
            <p:nvPr/>
          </p:nvSpPr>
          <p:spPr>
            <a:xfrm>
              <a:off x="4926049" y="6396335"/>
              <a:ext cx="3613938" cy="461665"/>
            </a:xfrm>
            <a:prstGeom prst="rect">
              <a:avLst/>
            </a:prstGeom>
            <a:solidFill>
              <a:schemeClr val="bg1"/>
            </a:solidFill>
          </p:spPr>
          <p:txBody>
            <a:bodyPr wrap="none" rtlCol="0">
              <a:spAutoFit/>
            </a:bodyPr>
            <a:lstStyle/>
            <a:p>
              <a:pPr algn="ctr"/>
              <a:r>
                <a:rPr lang="en-US" sz="2400" i="1" dirty="0"/>
                <a:t>R</a:t>
              </a:r>
              <a:r>
                <a:rPr lang="en-US" sz="2400" i="1" baseline="-25000" dirty="0"/>
                <a:t>e </a:t>
              </a:r>
              <a:r>
                <a:rPr lang="en-US" sz="2400" dirty="0"/>
                <a:t>of introduced pathogen</a:t>
              </a:r>
            </a:p>
          </p:txBody>
        </p:sp>
        <p:sp>
          <p:nvSpPr>
            <p:cNvPr id="54" name="TextBox 53">
              <a:extLst>
                <a:ext uri="{FF2B5EF4-FFF2-40B4-BE49-F238E27FC236}">
                  <a16:creationId xmlns:a16="http://schemas.microsoft.com/office/drawing/2014/main" id="{55C5FC1D-4812-7FD2-8570-38671E0F3BDF}"/>
                </a:ext>
              </a:extLst>
            </p:cNvPr>
            <p:cNvSpPr txBox="1"/>
            <p:nvPr/>
          </p:nvSpPr>
          <p:spPr>
            <a:xfrm>
              <a:off x="3326502" y="6171684"/>
              <a:ext cx="3877985" cy="369332"/>
            </a:xfrm>
            <a:prstGeom prst="rect">
              <a:avLst/>
            </a:prstGeom>
            <a:noFill/>
          </p:spPr>
          <p:txBody>
            <a:bodyPr wrap="none" rtlCol="0">
              <a:spAutoFit/>
            </a:bodyPr>
            <a:lstStyle/>
            <a:p>
              <a:r>
                <a:rPr lang="en-US"/>
                <a:t>0.8	       0.9	               1.0	</a:t>
              </a:r>
            </a:p>
          </p:txBody>
        </p:sp>
        <p:sp>
          <p:nvSpPr>
            <p:cNvPr id="56" name="TextBox 55">
              <a:extLst>
                <a:ext uri="{FF2B5EF4-FFF2-40B4-BE49-F238E27FC236}">
                  <a16:creationId xmlns:a16="http://schemas.microsoft.com/office/drawing/2014/main" id="{9FCD9FFC-C405-F46E-1E45-AD1441CCA096}"/>
                </a:ext>
              </a:extLst>
            </p:cNvPr>
            <p:cNvSpPr txBox="1"/>
            <p:nvPr/>
          </p:nvSpPr>
          <p:spPr>
            <a:xfrm rot="16200000">
              <a:off x="287520" y="3485531"/>
              <a:ext cx="3555460" cy="461665"/>
            </a:xfrm>
            <a:prstGeom prst="rect">
              <a:avLst/>
            </a:prstGeom>
            <a:solidFill>
              <a:schemeClr val="bg1"/>
            </a:solidFill>
          </p:spPr>
          <p:txBody>
            <a:bodyPr wrap="none" rtlCol="0">
              <a:spAutoFit/>
            </a:bodyPr>
            <a:lstStyle/>
            <a:p>
              <a:pPr algn="ctr"/>
              <a:r>
                <a:rPr lang="en-US" sz="2400" dirty="0"/>
                <a:t>Log10 Spillover rate year</a:t>
              </a:r>
              <a:r>
                <a:rPr lang="en-US" sz="2400" baseline="30000" dirty="0"/>
                <a:t>-1</a:t>
              </a:r>
              <a:endParaRPr lang="en-US" sz="2400" dirty="0"/>
            </a:p>
          </p:txBody>
        </p:sp>
        <p:sp>
          <p:nvSpPr>
            <p:cNvPr id="57" name="TextBox 56">
              <a:extLst>
                <a:ext uri="{FF2B5EF4-FFF2-40B4-BE49-F238E27FC236}">
                  <a16:creationId xmlns:a16="http://schemas.microsoft.com/office/drawing/2014/main" id="{889FA474-CEC4-7590-5659-CD3099FBA994}"/>
                </a:ext>
              </a:extLst>
            </p:cNvPr>
            <p:cNvSpPr txBox="1"/>
            <p:nvPr/>
          </p:nvSpPr>
          <p:spPr>
            <a:xfrm>
              <a:off x="2300795" y="3795263"/>
              <a:ext cx="549692" cy="2769989"/>
            </a:xfrm>
            <a:prstGeom prst="rect">
              <a:avLst/>
            </a:prstGeom>
            <a:noFill/>
          </p:spPr>
          <p:txBody>
            <a:bodyPr wrap="square" rtlCol="0">
              <a:spAutoFit/>
            </a:bodyPr>
            <a:lstStyle/>
            <a:p>
              <a:r>
                <a:rPr lang="en-US"/>
                <a:t>5</a:t>
              </a:r>
              <a:endParaRPr lang="en-US" sz="1400"/>
            </a:p>
            <a:p>
              <a:endParaRPr lang="en-US" sz="1400"/>
            </a:p>
            <a:p>
              <a:endParaRPr lang="en-US" sz="1400"/>
            </a:p>
            <a:p>
              <a:r>
                <a:rPr lang="en-US"/>
                <a:t>4</a:t>
              </a:r>
            </a:p>
            <a:p>
              <a:endParaRPr lang="en-US" sz="1400"/>
            </a:p>
            <a:p>
              <a:endParaRPr lang="en-US" sz="1400"/>
            </a:p>
            <a:p>
              <a:r>
                <a:rPr lang="en-US"/>
                <a:t>3</a:t>
              </a:r>
            </a:p>
            <a:p>
              <a:endParaRPr lang="en-US" sz="1400"/>
            </a:p>
            <a:p>
              <a:endParaRPr lang="en-US" sz="1400"/>
            </a:p>
            <a:p>
              <a:r>
                <a:rPr lang="en-US"/>
                <a:t>2	</a:t>
              </a:r>
            </a:p>
          </p:txBody>
        </p:sp>
      </p:grpSp>
      <p:sp>
        <p:nvSpPr>
          <p:cNvPr id="58" name="TextBox 57">
            <a:extLst>
              <a:ext uri="{FF2B5EF4-FFF2-40B4-BE49-F238E27FC236}">
                <a16:creationId xmlns:a16="http://schemas.microsoft.com/office/drawing/2014/main" id="{F9A7AACF-D800-BB5A-4DE3-88E3B0AA6AFA}"/>
              </a:ext>
            </a:extLst>
          </p:cNvPr>
          <p:cNvSpPr txBox="1"/>
          <p:nvPr/>
        </p:nvSpPr>
        <p:spPr>
          <a:xfrm>
            <a:off x="2300795" y="1250245"/>
            <a:ext cx="549692" cy="2769989"/>
          </a:xfrm>
          <a:prstGeom prst="rect">
            <a:avLst/>
          </a:prstGeom>
          <a:noFill/>
        </p:spPr>
        <p:txBody>
          <a:bodyPr wrap="square" rtlCol="0">
            <a:spAutoFit/>
          </a:bodyPr>
          <a:lstStyle/>
          <a:p>
            <a:r>
              <a:rPr lang="en-US"/>
              <a:t>5</a:t>
            </a:r>
            <a:endParaRPr lang="en-US" sz="1400"/>
          </a:p>
          <a:p>
            <a:endParaRPr lang="en-US" sz="1400"/>
          </a:p>
          <a:p>
            <a:endParaRPr lang="en-US" sz="1400"/>
          </a:p>
          <a:p>
            <a:r>
              <a:rPr lang="en-US"/>
              <a:t>4</a:t>
            </a:r>
          </a:p>
          <a:p>
            <a:endParaRPr lang="en-US" sz="1400"/>
          </a:p>
          <a:p>
            <a:endParaRPr lang="en-US" sz="1400"/>
          </a:p>
          <a:p>
            <a:r>
              <a:rPr lang="en-US"/>
              <a:t>3</a:t>
            </a:r>
          </a:p>
          <a:p>
            <a:endParaRPr lang="en-US" sz="1400"/>
          </a:p>
          <a:p>
            <a:endParaRPr lang="en-US" sz="1400"/>
          </a:p>
          <a:p>
            <a:r>
              <a:rPr lang="en-US"/>
              <a:t>2	</a:t>
            </a:r>
          </a:p>
        </p:txBody>
      </p:sp>
    </p:spTree>
    <p:extLst>
      <p:ext uri="{BB962C8B-B14F-4D97-AF65-F5344CB8AC3E}">
        <p14:creationId xmlns:p14="http://schemas.microsoft.com/office/powerpoint/2010/main" val="18867104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393</TotalTime>
  <Words>270</Words>
  <Application>Microsoft Macintosh PowerPoint</Application>
  <PresentationFormat>Widescreen</PresentationFormat>
  <Paragraphs>76</Paragraphs>
  <Slides>8</Slides>
  <Notes>4</Notes>
  <HiddenSlides>1</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Reducing Re can be a more effective prevention strategy.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Hirst, Cora</dc:creator>
  <cp:lastModifiedBy>Hirst, Cora</cp:lastModifiedBy>
  <cp:revision>54</cp:revision>
  <dcterms:created xsi:type="dcterms:W3CDTF">2025-10-21T13:38:03Z</dcterms:created>
  <dcterms:modified xsi:type="dcterms:W3CDTF">2025-10-21T21:19:20Z</dcterms:modified>
</cp:coreProperties>
</file>