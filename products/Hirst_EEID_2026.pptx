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396" r:id="rId3"/>
    <p:sldId id="399" r:id="rId4"/>
    <p:sldId id="397" r:id="rId5"/>
    <p:sldId id="3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2"/>
    <p:restoredTop sz="94658"/>
  </p:normalViewPr>
  <p:slideViewPr>
    <p:cSldViewPr snapToGrid="0">
      <p:cViewPr>
        <p:scale>
          <a:sx n="65" d="100"/>
          <a:sy n="65" d="100"/>
        </p:scale>
        <p:origin x="156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AF00F-4F53-EB44-9261-67EF04057C5F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B1ED6-F56D-944E-827A-A3C434AAB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9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F04177E-8D52-821B-03A9-09F3DB8DD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ED2A396-BF0B-3448-BB76-B878210E74A2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87B5C76-CC80-CECA-7F09-978A27311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253CEBA-64B4-7897-AE2F-53CF3684D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I’ll be talking about some work I’m finishing up regarding the potential for evolution of subcritical diseases during stuttering chains of transmission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Small changes in R</a:t>
            </a:r>
            <a:r>
              <a:rPr lang="en-US" sz="1200" baseline="-25000" dirty="0"/>
              <a:t>e </a:t>
            </a:r>
            <a:r>
              <a:rPr lang="en-US" sz="1200" dirty="0"/>
              <a:t>lead to large changes in large changes in 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B1ED6-F56D-944E-827A-A3C434AAB8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D024-CCB9-563F-2997-990DE47BC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5F8E1-D671-6080-9B19-409674AFE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D1C0-1E5E-713D-B2D9-5C94D141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A7A0-8281-6028-6A94-5461D06D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2223E-79D9-0412-D495-25B02B5C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C835-B0CA-3F5D-AB78-CACADD61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A766E-98B1-C65A-73BB-AC374CAE4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737B1-7E59-5E3D-C5BE-C896A5B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A9BE-93D5-90A1-900E-10433FB0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DA14-3A76-B63D-8C08-51215F8E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35CB3-15A7-94C6-2E81-F9B42F1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A4611-AE09-36B6-C144-8910BD5B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B309-8A85-5F21-B547-2083C5AD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48BA7-306D-EBA8-0EB4-B11BDC7A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99E4-0A27-51EF-2BD8-8EB179E6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38C6-B106-B893-12BD-FEB3D067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1D929-3141-D225-1B2E-9A5E742EA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96AD7-2595-942E-1FEA-AC5509423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0EFA2-5524-9DD7-8CB0-6AF0474A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8DFE5-FE0D-ED22-9852-DE6978B7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8D893-6DA7-EBBD-E731-377F225E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9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C1B2-B7F4-8278-D7AF-80B6AFD3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11F2-93FA-BBC4-2C82-BC07DE7F2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7DE54-45B0-B6B5-3C3B-6A88B715D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3153F-3532-245D-FA4B-8EF66417E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692BB-0570-FEEC-2E9D-8CC256F16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E1145-A50B-1732-63F3-A0B82CA2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AB741-CA38-6C1E-2613-B9B985BD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2F6C2-A423-6886-46A2-41451F51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222E-B5A6-E2A6-3563-F5F4DAFC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F412D-2F71-AE5B-5A93-85C60546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8C839-1454-3C6B-B0C7-D67047FB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FE4D4-35A0-E004-23D9-93F7DBAF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7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7A4B7-88A5-B6D3-C744-E984F815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20C7F-0C4E-CA60-518A-F71628AB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89F5E-9A02-1F8D-C9C2-92398F30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0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57B9-9059-AC6B-A6F0-B2B60310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309F-E96D-336F-4B93-EC2CFC76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84394-8057-08CB-C4AD-B962B53C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13F8F-BA84-0D49-2F9E-DD71EC43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6B351-8396-091D-68BF-3A8B8450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0EF7E-3B82-4BE1-3EE0-60B2573F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0A6F-FD2D-BBA0-9A24-A3DCBBCE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6728C-7885-BC8A-A640-111DA4F07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2DCEC-7209-DABB-0C5B-40853EB67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65EB4-A05F-D0A8-1484-FBF22AD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F0DD4-8651-B888-F375-104B9E91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84B0F-E54B-CFF4-7D03-FEBE8BE2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41F6-66D5-90BF-627F-9B36A625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75EA0-0380-E458-3252-166C320B4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3C06E-2D45-10EC-D7F6-4CB70E7C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435F8-6B99-7E7B-1539-B5308C7D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6EE0-A7D5-C66D-B510-B03845C6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34A7B-5D6C-D5EB-D4E4-DCBF26202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3A0B3-CBAD-313A-BC1B-08565F535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A411-AEA5-6A0F-A2C6-C76C0B51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A4E2-A5D5-8F26-BB5F-ADD9C5FA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D8482-5938-D7F1-B474-A352428C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8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DB4D6-0204-2E4D-C5AB-3DBFDF1A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C41B5-B26B-8A6D-F07D-BF573023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15C04-BECC-237B-82BF-ABD5C9EE7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E591-E217-ED1A-ABCE-C5D671809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1311-C2CC-DA3E-06C6-C84D21F1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8661D60-0E28-5E39-6A99-C35C47DE8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87867" y="2269184"/>
            <a:ext cx="8301662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dirty="0"/>
              <a:t>Modeling Disease Re-emergence Post-Eradication:</a:t>
            </a:r>
            <a:br>
              <a:rPr lang="en-US" sz="3200" b="1" dirty="0"/>
            </a:br>
            <a:r>
              <a:rPr lang="en-US" sz="3200" b="1" dirty="0"/>
              <a:t>application to mpox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5CE38-1B07-D5C7-C1BB-8A9F8797D09D}"/>
              </a:ext>
            </a:extLst>
          </p:cNvPr>
          <p:cNvSpPr txBox="1"/>
          <p:nvPr/>
        </p:nvSpPr>
        <p:spPr>
          <a:xfrm>
            <a:off x="2487595" y="3861396"/>
            <a:ext cx="7291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Population Biology, Ecology, and Evolution, Emory University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EEID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EBA6-D291-A75F-5C98-27188EF8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36FA87-4053-340A-F871-D3AA8507F6C8}"/>
              </a:ext>
            </a:extLst>
          </p:cNvPr>
          <p:cNvGrpSpPr/>
          <p:nvPr/>
        </p:nvGrpSpPr>
        <p:grpSpPr>
          <a:xfrm>
            <a:off x="91441" y="454254"/>
            <a:ext cx="1896425" cy="3205578"/>
            <a:chOff x="5965460" y="1969325"/>
            <a:chExt cx="1896425" cy="32055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443216C-3207-568D-F1A4-18A16DB8C210}"/>
                </a:ext>
              </a:extLst>
            </p:cNvPr>
            <p:cNvGrpSpPr/>
            <p:nvPr/>
          </p:nvGrpSpPr>
          <p:grpSpPr>
            <a:xfrm>
              <a:off x="5965460" y="1969325"/>
              <a:ext cx="1896425" cy="3205578"/>
              <a:chOff x="7592291" y="2798487"/>
              <a:chExt cx="2269024" cy="389198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3364C4C-89B8-A25C-A615-B2EAF668C4CE}"/>
                  </a:ext>
                </a:extLst>
              </p:cNvPr>
              <p:cNvGrpSpPr/>
              <p:nvPr/>
            </p:nvGrpSpPr>
            <p:grpSpPr>
              <a:xfrm>
                <a:off x="7592291" y="2798487"/>
                <a:ext cx="2269024" cy="3891980"/>
                <a:chOff x="7459635" y="2136439"/>
                <a:chExt cx="2401680" cy="455402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0A35FFFB-F3F8-5198-E0F1-81D8C2FD6660}"/>
                    </a:ext>
                  </a:extLst>
                </p:cNvPr>
                <p:cNvSpPr/>
                <p:nvPr/>
              </p:nvSpPr>
              <p:spPr>
                <a:xfrm>
                  <a:off x="9067544" y="2136439"/>
                  <a:ext cx="205540" cy="1905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31B2997B-4575-A6C2-6FE7-D03C308E8C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64981" y="2445282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D35AAD51-8FF8-C559-B73F-0A6B1686DC13}"/>
                    </a:ext>
                  </a:extLst>
                </p:cNvPr>
                <p:cNvSpPr/>
                <p:nvPr/>
              </p:nvSpPr>
              <p:spPr>
                <a:xfrm>
                  <a:off x="9065377" y="3067373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FD0E96B0-D30E-43BD-D631-7E8D5EDC05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56253" y="3390593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879D31-73BB-3AAB-5BCD-C7B86C230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2592" y="3390592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A9B7E39-935D-F108-248C-F139F9E71E58}"/>
                    </a:ext>
                  </a:extLst>
                </p:cNvPr>
                <p:cNvSpPr/>
                <p:nvPr/>
              </p:nvSpPr>
              <p:spPr>
                <a:xfrm>
                  <a:off x="8554982" y="3908449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1115416-A9A9-77ED-BEFE-22B94006F716}"/>
                    </a:ext>
                  </a:extLst>
                </p:cNvPr>
                <p:cNvSpPr/>
                <p:nvPr/>
              </p:nvSpPr>
              <p:spPr>
                <a:xfrm>
                  <a:off x="9547019" y="3908448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96CF192-985F-7327-A0E4-764505AD4E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54585" y="4202914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1870540-D3DC-CD6F-7B85-9EB86677DB78}"/>
                    </a:ext>
                  </a:extLst>
                </p:cNvPr>
                <p:cNvSpPr/>
                <p:nvPr/>
              </p:nvSpPr>
              <p:spPr>
                <a:xfrm>
                  <a:off x="8554981" y="4825005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8595C043-6670-8A0D-34D3-B9D91E3AF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5536" y="5141036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5AB5A46F-4CD0-0EDA-4873-A00852B41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71271" y="5141035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A6217482-35EE-D0E8-1988-1C95A597FE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75377" y="4195725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5056CD7-ABD4-10C2-5927-12D8711F50A5}"/>
                    </a:ext>
                  </a:extLst>
                </p:cNvPr>
                <p:cNvSpPr/>
                <p:nvPr/>
              </p:nvSpPr>
              <p:spPr>
                <a:xfrm>
                  <a:off x="9575773" y="4817816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665B9BC-0CB5-0A3F-4772-18570EE39852}"/>
                    </a:ext>
                  </a:extLst>
                </p:cNvPr>
                <p:cNvSpPr/>
                <p:nvPr/>
              </p:nvSpPr>
              <p:spPr>
                <a:xfrm>
                  <a:off x="7970030" y="5658891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4D778DDE-CABB-1C58-306C-3130E40E5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60906" y="5982111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9D443C05-21B1-B5C3-0829-1F65553646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84667" y="5970821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0A8227A-5B3A-1A0F-96CD-3EA8ECF57AAC}"/>
                    </a:ext>
                  </a:extLst>
                </p:cNvPr>
                <p:cNvSpPr/>
                <p:nvPr/>
              </p:nvSpPr>
              <p:spPr>
                <a:xfrm>
                  <a:off x="7459635" y="649996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6B2643AB-FFE1-412B-24B7-A6EEE446AE95}"/>
                    </a:ext>
                  </a:extLst>
                </p:cNvPr>
                <p:cNvSpPr/>
                <p:nvPr/>
              </p:nvSpPr>
              <p:spPr>
                <a:xfrm>
                  <a:off x="9174134" y="5658892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1EDACBD3-5822-247C-4AD2-37CF07FE3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13132" y="5974449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D9B6BE0D-9448-8B8C-916F-0C7757A4F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8869" y="5961219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71A05AB7-0CFA-5516-E9B1-9F62351D0E56}"/>
                    </a:ext>
                  </a:extLst>
                </p:cNvPr>
                <p:cNvSpPr/>
                <p:nvPr/>
              </p:nvSpPr>
              <p:spPr>
                <a:xfrm>
                  <a:off x="8756253" y="649949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859C18A-6106-9894-12C5-39235C5C796A}"/>
                    </a:ext>
                  </a:extLst>
                </p:cNvPr>
                <p:cNvSpPr/>
                <p:nvPr/>
              </p:nvSpPr>
              <p:spPr>
                <a:xfrm>
                  <a:off x="9655776" y="649996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DC375B-3981-EDC6-DC1C-B272E06F6F89}"/>
                  </a:ext>
                </a:extLst>
              </p:cNvPr>
              <p:cNvSpPr/>
              <p:nvPr/>
            </p:nvSpPr>
            <p:spPr>
              <a:xfrm>
                <a:off x="8472593" y="6527661"/>
                <a:ext cx="194186" cy="16280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C3E478-B2BA-A533-D64F-7C62A439F3CF}"/>
                </a:ext>
              </a:extLst>
            </p:cNvPr>
            <p:cNvSpPr txBox="1"/>
            <p:nvPr/>
          </p:nvSpPr>
          <p:spPr>
            <a:xfrm>
              <a:off x="7733746" y="3955547"/>
              <a:ext cx="45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†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EE4E80B-E564-AA7D-A670-67C0EFFA75B6}"/>
              </a:ext>
            </a:extLst>
          </p:cNvPr>
          <p:cNvSpPr txBox="1"/>
          <p:nvPr/>
        </p:nvSpPr>
        <p:spPr>
          <a:xfrm>
            <a:off x="562686" y="3780394"/>
            <a:ext cx="1307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Emergence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D05BF-D9A4-CEE3-3DE8-227545770585}"/>
              </a:ext>
            </a:extLst>
          </p:cNvPr>
          <p:cNvSpPr txBox="1"/>
          <p:nvPr/>
        </p:nvSpPr>
        <p:spPr>
          <a:xfrm>
            <a:off x="478191" y="64839"/>
            <a:ext cx="193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mutations away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B74CBA-9974-E9A3-13CC-4EDB0E7634AF}"/>
              </a:ext>
            </a:extLst>
          </p:cNvPr>
          <p:cNvGrpSpPr/>
          <p:nvPr/>
        </p:nvGrpSpPr>
        <p:grpSpPr>
          <a:xfrm>
            <a:off x="10195872" y="1972490"/>
            <a:ext cx="1833829" cy="3983822"/>
            <a:chOff x="8908238" y="1884443"/>
            <a:chExt cx="1833829" cy="369805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FAE8EE-F932-95D9-3679-4440790FBF88}"/>
                </a:ext>
              </a:extLst>
            </p:cNvPr>
            <p:cNvGrpSpPr/>
            <p:nvPr/>
          </p:nvGrpSpPr>
          <p:grpSpPr>
            <a:xfrm>
              <a:off x="8908238" y="1884443"/>
              <a:ext cx="1833829" cy="3698055"/>
              <a:chOff x="9585592" y="2331306"/>
              <a:chExt cx="1627650" cy="3809323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8D524BB-0D98-8DEA-C6BD-DCC476D9E593}"/>
                  </a:ext>
                </a:extLst>
              </p:cNvPr>
              <p:cNvGrpSpPr/>
              <p:nvPr/>
            </p:nvGrpSpPr>
            <p:grpSpPr>
              <a:xfrm>
                <a:off x="9626306" y="2331306"/>
                <a:ext cx="1094696" cy="3285061"/>
                <a:chOff x="8581157" y="1139095"/>
                <a:chExt cx="1615278" cy="5195999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8B1773-E97A-5D9B-626E-7FE51CCA7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51632" y="1539507"/>
                  <a:ext cx="6161" cy="49643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B31BA47-E560-DD9E-EF48-AB6B772887ED}"/>
                    </a:ext>
                  </a:extLst>
                </p:cNvPr>
                <p:cNvSpPr/>
                <p:nvPr/>
              </p:nvSpPr>
              <p:spPr>
                <a:xfrm>
                  <a:off x="9053733" y="1139095"/>
                  <a:ext cx="205539" cy="190500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F5E9870-BF0F-ED5E-F799-CAD5AC13BB05}"/>
                    </a:ext>
                  </a:extLst>
                </p:cNvPr>
                <p:cNvSpPr/>
                <p:nvPr/>
              </p:nvSpPr>
              <p:spPr>
                <a:xfrm>
                  <a:off x="9070860" y="2316085"/>
                  <a:ext cx="205539" cy="19050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05B5FB75-53E6-DBAC-82D6-2B3C2A2B5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4839" y="2624928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1D61DBC-F4C6-78AE-2AE8-46434E5E661E}"/>
                    </a:ext>
                  </a:extLst>
                </p:cNvPr>
                <p:cNvSpPr/>
                <p:nvPr/>
              </p:nvSpPr>
              <p:spPr>
                <a:xfrm>
                  <a:off x="9084388" y="3275444"/>
                  <a:ext cx="205539" cy="190501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C8DEE849-D2DE-3628-F969-CF541D2E5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22353" y="3598664"/>
                  <a:ext cx="328648" cy="6097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55989D57-2A5C-E0D2-0273-933E2A138C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1603" y="3598664"/>
                  <a:ext cx="336784" cy="6097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DE1BF06-662A-2FF4-4016-04F4C53A44E0}"/>
                    </a:ext>
                  </a:extLst>
                </p:cNvPr>
                <p:cNvSpPr/>
                <p:nvPr/>
              </p:nvSpPr>
              <p:spPr>
                <a:xfrm>
                  <a:off x="8581158" y="4377936"/>
                  <a:ext cx="205539" cy="190501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59A1913-8A6A-566B-F163-F614A9F84DA7}"/>
                    </a:ext>
                  </a:extLst>
                </p:cNvPr>
                <p:cNvSpPr/>
                <p:nvPr/>
              </p:nvSpPr>
              <p:spPr>
                <a:xfrm>
                  <a:off x="9573195" y="4377934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A1D805A1-CEFD-26E0-5193-943FF876B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0761" y="4672400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4486530-B71C-F47F-8342-178AB18801BE}"/>
                    </a:ext>
                  </a:extLst>
                </p:cNvPr>
                <p:cNvSpPr/>
                <p:nvPr/>
              </p:nvSpPr>
              <p:spPr>
                <a:xfrm>
                  <a:off x="8581157" y="5294492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0B326F03-0090-8245-3172-5AE362DFD0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4965" y="5626736"/>
                  <a:ext cx="275738" cy="4425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740F7957-EC03-D594-D5EF-10FDAD4D93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698" y="5626736"/>
                  <a:ext cx="275737" cy="4425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762A3628-AC84-B6FF-1685-04C9FD02FD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01554" y="4665212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5DD8B40-D84E-4A21-72DA-41FD7B99E3CF}"/>
                    </a:ext>
                  </a:extLst>
                </p:cNvPr>
                <p:cNvSpPr/>
                <p:nvPr/>
              </p:nvSpPr>
              <p:spPr>
                <a:xfrm>
                  <a:off x="9601950" y="5287303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2276277-79E7-1907-B24A-CA5FCCD1085C}"/>
                    </a:ext>
                  </a:extLst>
                </p:cNvPr>
                <p:cNvSpPr/>
                <p:nvPr/>
              </p:nvSpPr>
              <p:spPr>
                <a:xfrm>
                  <a:off x="9019453" y="6144593"/>
                  <a:ext cx="205539" cy="190501"/>
                </a:xfrm>
                <a:prstGeom prst="ellipse">
                  <a:avLst/>
                </a:prstGeom>
                <a:solidFill>
                  <a:srgbClr val="0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32BDE6B-6A5E-A74D-F7FB-A1355FAB0695}"/>
                  </a:ext>
                </a:extLst>
              </p:cNvPr>
              <p:cNvSpPr/>
              <p:nvPr/>
            </p:nvSpPr>
            <p:spPr>
              <a:xfrm>
                <a:off x="10738170" y="5501018"/>
                <a:ext cx="139297" cy="120440"/>
              </a:xfrm>
              <a:prstGeom prst="ellipse">
                <a:avLst/>
              </a:prstGeom>
              <a:solidFill>
                <a:srgbClr val="0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E558FF1-2B94-C6B7-CD77-4F498E3AA2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21996" y="5692786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708B9E9-D092-65E3-1E84-920B95ECB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6955" y="5685648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6D953FC-1369-E4DF-929D-F420CF4209A0}"/>
                  </a:ext>
                </a:extLst>
              </p:cNvPr>
              <p:cNvSpPr/>
              <p:nvPr/>
            </p:nvSpPr>
            <p:spPr>
              <a:xfrm>
                <a:off x="9585592" y="6020189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4153122-9881-215F-AEF3-B89EDD2EAF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70646" y="5687942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33256C4-78E6-4859-ECAF-C3B268869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6282" y="5679577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82397D1-0F4F-2B01-1C5E-E111A04ABC17}"/>
                  </a:ext>
                </a:extLst>
              </p:cNvPr>
              <p:cNvSpPr/>
              <p:nvPr/>
            </p:nvSpPr>
            <p:spPr>
              <a:xfrm>
                <a:off x="10464327" y="6019892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7238825-0011-C530-2C67-C22B51A3A83D}"/>
                  </a:ext>
                </a:extLst>
              </p:cNvPr>
              <p:cNvSpPr/>
              <p:nvPr/>
            </p:nvSpPr>
            <p:spPr>
              <a:xfrm>
                <a:off x="11073945" y="6020189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C44E564-F3E9-9910-EE19-83E58DEDF1D4}"/>
                  </a:ext>
                </a:extLst>
              </p:cNvPr>
              <p:cNvSpPr/>
              <p:nvPr/>
            </p:nvSpPr>
            <p:spPr>
              <a:xfrm>
                <a:off x="10217063" y="6020189"/>
                <a:ext cx="139296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186E4B0-4D8F-5B34-A838-FE590519569F}"/>
                </a:ext>
              </a:extLst>
            </p:cNvPr>
            <p:cNvSpPr txBox="1"/>
            <p:nvPr/>
          </p:nvSpPr>
          <p:spPr>
            <a:xfrm>
              <a:off x="8971633" y="4512398"/>
              <a:ext cx="45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†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3EFBD8E-6B64-80A6-E749-44BD0F7CB1B8}"/>
              </a:ext>
            </a:extLst>
          </p:cNvPr>
          <p:cNvSpPr txBox="1"/>
          <p:nvPr/>
        </p:nvSpPr>
        <p:spPr>
          <a:xfrm>
            <a:off x="10303574" y="6063116"/>
            <a:ext cx="156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Emergence</a:t>
            </a:r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0B082F08-C047-215D-91CE-1E1F3E8D7446}"/>
              </a:ext>
            </a:extLst>
          </p:cNvPr>
          <p:cNvSpPr txBox="1"/>
          <p:nvPr/>
        </p:nvSpPr>
        <p:spPr>
          <a:xfrm>
            <a:off x="9735631" y="1515167"/>
            <a:ext cx="193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mutations away</a:t>
            </a:r>
          </a:p>
        </p:txBody>
      </p:sp>
      <p:sp>
        <p:nvSpPr>
          <p:cNvPr id="5121" name="TextBox 5120">
            <a:extLst>
              <a:ext uri="{FF2B5EF4-FFF2-40B4-BE49-F238E27FC236}">
                <a16:creationId xmlns:a16="http://schemas.microsoft.com/office/drawing/2014/main" id="{E67DDE33-1BA5-D9C4-A6F3-73B36B2CD77E}"/>
              </a:ext>
            </a:extLst>
          </p:cNvPr>
          <p:cNvSpPr txBox="1"/>
          <p:nvPr/>
        </p:nvSpPr>
        <p:spPr>
          <a:xfrm>
            <a:off x="0" y="5879032"/>
            <a:ext cx="568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Acknowledgements: Rustom Antia, Daniel Weissman </a:t>
            </a:r>
          </a:p>
        </p:txBody>
      </p:sp>
      <p:sp>
        <p:nvSpPr>
          <p:cNvPr id="5124" name="TextBox 5123">
            <a:extLst>
              <a:ext uri="{FF2B5EF4-FFF2-40B4-BE49-F238E27FC236}">
                <a16:creationId xmlns:a16="http://schemas.microsoft.com/office/drawing/2014/main" id="{E41E32D8-372E-95F1-0251-FC4FE2641F85}"/>
              </a:ext>
            </a:extLst>
          </p:cNvPr>
          <p:cNvSpPr txBox="1"/>
          <p:nvPr/>
        </p:nvSpPr>
        <p:spPr>
          <a:xfrm>
            <a:off x="0" y="6256024"/>
            <a:ext cx="1416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NIH Funding</a:t>
            </a:r>
          </a:p>
        </p:txBody>
      </p:sp>
      <p:sp>
        <p:nvSpPr>
          <p:cNvPr id="5125" name="TextBox 5124">
            <a:extLst>
              <a:ext uri="{FF2B5EF4-FFF2-40B4-BE49-F238E27FC236}">
                <a16:creationId xmlns:a16="http://schemas.microsoft.com/office/drawing/2014/main" id="{15C5A57A-DE3B-6058-FC5E-ABA90B526A63}"/>
              </a:ext>
            </a:extLst>
          </p:cNvPr>
          <p:cNvSpPr txBox="1"/>
          <p:nvPr/>
        </p:nvSpPr>
        <p:spPr>
          <a:xfrm>
            <a:off x="5278825" y="3335205"/>
            <a:ext cx="1936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Cora Hirst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gazine cover with a globe and a yellow ribbon&#10;&#10;AI-generated content may be incorrect.">
            <a:extLst>
              <a:ext uri="{FF2B5EF4-FFF2-40B4-BE49-F238E27FC236}">
                <a16:creationId xmlns:a16="http://schemas.microsoft.com/office/drawing/2014/main" id="{E9485C46-408D-BA0F-C414-67E8BFA9CA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24838" r="200" b="17384"/>
          <a:stretch>
            <a:fillRect/>
          </a:stretch>
        </p:blipFill>
        <p:spPr>
          <a:xfrm>
            <a:off x="168443" y="2819834"/>
            <a:ext cx="2853054" cy="236456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D6C365-93FB-A07C-13BD-EC73F838A1E2}"/>
              </a:ext>
            </a:extLst>
          </p:cNvPr>
          <p:cNvCxnSpPr>
            <a:cxnSpLocks/>
          </p:cNvCxnSpPr>
          <p:nvPr/>
        </p:nvCxnSpPr>
        <p:spPr>
          <a:xfrm>
            <a:off x="3225510" y="4065102"/>
            <a:ext cx="12214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D950B5-040E-4DE3-B1A0-17AA4BF3FE19}"/>
              </a:ext>
            </a:extLst>
          </p:cNvPr>
          <p:cNvGrpSpPr/>
          <p:nvPr/>
        </p:nvGrpSpPr>
        <p:grpSpPr>
          <a:xfrm>
            <a:off x="7788389" y="2700205"/>
            <a:ext cx="4403611" cy="3187400"/>
            <a:chOff x="7788387" y="2064104"/>
            <a:chExt cx="3040011" cy="235259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B4781C6-7409-DA60-4460-C235DBED16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8387" y="4039288"/>
              <a:ext cx="2606842" cy="40104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1B3BBFD-EFFF-6C7B-0830-B735C58A5CE0}"/>
                </a:ext>
              </a:extLst>
            </p:cNvPr>
            <p:cNvGrpSpPr/>
            <p:nvPr/>
          </p:nvGrpSpPr>
          <p:grpSpPr>
            <a:xfrm>
              <a:off x="7832559" y="2064104"/>
              <a:ext cx="2995839" cy="2352591"/>
              <a:chOff x="9312443" y="2183731"/>
              <a:chExt cx="2995839" cy="2352591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FFEA894-A414-ED2A-E1AC-83C3FB685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2443" y="2183731"/>
                <a:ext cx="0" cy="195513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8A85BEF-B701-E9D1-AE7F-86ADE88281DB}"/>
                  </a:ext>
                </a:extLst>
              </p:cNvPr>
              <p:cNvSpPr/>
              <p:nvPr/>
            </p:nvSpPr>
            <p:spPr>
              <a:xfrm>
                <a:off x="9336924" y="2885697"/>
                <a:ext cx="2199916" cy="1250781"/>
              </a:xfrm>
              <a:custGeom>
                <a:avLst/>
                <a:gdLst>
                  <a:gd name="csX0" fmla="*/ 5583 w 2050952"/>
                  <a:gd name="csY0" fmla="*/ 1094910 h 1094910"/>
                  <a:gd name="csX1" fmla="*/ 318404 w 2050952"/>
                  <a:gd name="csY1" fmla="*/ 108321 h 1094910"/>
                  <a:gd name="csX2" fmla="*/ 2050952 w 2050952"/>
                  <a:gd name="csY2" fmla="*/ 12068 h 1094910"/>
                  <a:gd name="csX0" fmla="*/ 766 w 2239318"/>
                  <a:gd name="csY0" fmla="*/ 1210820 h 1210820"/>
                  <a:gd name="csX1" fmla="*/ 506770 w 2239318"/>
                  <a:gd name="csY1" fmla="*/ 108321 h 1210820"/>
                  <a:gd name="csX2" fmla="*/ 2239318 w 2239318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64310"/>
                  <a:gd name="csY0" fmla="*/ 1210820 h 1210820"/>
                  <a:gd name="csX1" fmla="*/ 531762 w 2264310"/>
                  <a:gd name="csY1" fmla="*/ 108321 h 1210820"/>
                  <a:gd name="csX2" fmla="*/ 2264310 w 2264310"/>
                  <a:gd name="csY2" fmla="*/ 12068 h 1210820"/>
                  <a:gd name="csX0" fmla="*/ 0 w 2225673"/>
                  <a:gd name="csY0" fmla="*/ 1224916 h 1224916"/>
                  <a:gd name="csX1" fmla="*/ 531762 w 2225673"/>
                  <a:gd name="csY1" fmla="*/ 122417 h 1224916"/>
                  <a:gd name="csX2" fmla="*/ 2225673 w 2225673"/>
                  <a:gd name="csY2" fmla="*/ 407 h 1224916"/>
                  <a:gd name="csX0" fmla="*/ 0 w 2199916"/>
                  <a:gd name="csY0" fmla="*/ 1237388 h 1237388"/>
                  <a:gd name="csX1" fmla="*/ 531762 w 2199916"/>
                  <a:gd name="csY1" fmla="*/ 134889 h 1237388"/>
                  <a:gd name="csX2" fmla="*/ 2199916 w 2199916"/>
                  <a:gd name="csY2" fmla="*/ 0 h 1237388"/>
                  <a:gd name="csX0" fmla="*/ 0 w 2199916"/>
                  <a:gd name="csY0" fmla="*/ 1250781 h 1250781"/>
                  <a:gd name="csX1" fmla="*/ 531762 w 2199916"/>
                  <a:gd name="csY1" fmla="*/ 148282 h 1250781"/>
                  <a:gd name="csX2" fmla="*/ 2199916 w 2199916"/>
                  <a:gd name="csY2" fmla="*/ 13393 h 12507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199916" h="1250781">
                    <a:moveTo>
                      <a:pt x="0" y="1250781"/>
                    </a:moveTo>
                    <a:cubicBezTo>
                      <a:pt x="88994" y="847723"/>
                      <a:pt x="190867" y="328756"/>
                      <a:pt x="531762" y="148282"/>
                    </a:cubicBezTo>
                    <a:cubicBezTo>
                      <a:pt x="872657" y="-32192"/>
                      <a:pt x="1858174" y="-5190"/>
                      <a:pt x="2199916" y="13393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8B96479-70CB-DF57-4F35-4678411492CA}"/>
                  </a:ext>
                </a:extLst>
              </p:cNvPr>
              <p:cNvSpPr/>
              <p:nvPr/>
            </p:nvSpPr>
            <p:spPr>
              <a:xfrm flipV="1">
                <a:off x="9361404" y="2803608"/>
                <a:ext cx="2199916" cy="1250781"/>
              </a:xfrm>
              <a:custGeom>
                <a:avLst/>
                <a:gdLst>
                  <a:gd name="csX0" fmla="*/ 5583 w 2050952"/>
                  <a:gd name="csY0" fmla="*/ 1094910 h 1094910"/>
                  <a:gd name="csX1" fmla="*/ 318404 w 2050952"/>
                  <a:gd name="csY1" fmla="*/ 108321 h 1094910"/>
                  <a:gd name="csX2" fmla="*/ 2050952 w 2050952"/>
                  <a:gd name="csY2" fmla="*/ 12068 h 1094910"/>
                  <a:gd name="csX0" fmla="*/ 766 w 2239318"/>
                  <a:gd name="csY0" fmla="*/ 1210820 h 1210820"/>
                  <a:gd name="csX1" fmla="*/ 506770 w 2239318"/>
                  <a:gd name="csY1" fmla="*/ 108321 h 1210820"/>
                  <a:gd name="csX2" fmla="*/ 2239318 w 2239318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64310"/>
                  <a:gd name="csY0" fmla="*/ 1210820 h 1210820"/>
                  <a:gd name="csX1" fmla="*/ 531762 w 2264310"/>
                  <a:gd name="csY1" fmla="*/ 108321 h 1210820"/>
                  <a:gd name="csX2" fmla="*/ 2264310 w 2264310"/>
                  <a:gd name="csY2" fmla="*/ 12068 h 1210820"/>
                  <a:gd name="csX0" fmla="*/ 0 w 2225673"/>
                  <a:gd name="csY0" fmla="*/ 1224916 h 1224916"/>
                  <a:gd name="csX1" fmla="*/ 531762 w 2225673"/>
                  <a:gd name="csY1" fmla="*/ 122417 h 1224916"/>
                  <a:gd name="csX2" fmla="*/ 2225673 w 2225673"/>
                  <a:gd name="csY2" fmla="*/ 407 h 1224916"/>
                  <a:gd name="csX0" fmla="*/ 0 w 2199916"/>
                  <a:gd name="csY0" fmla="*/ 1237388 h 1237388"/>
                  <a:gd name="csX1" fmla="*/ 531762 w 2199916"/>
                  <a:gd name="csY1" fmla="*/ 134889 h 1237388"/>
                  <a:gd name="csX2" fmla="*/ 2199916 w 2199916"/>
                  <a:gd name="csY2" fmla="*/ 0 h 1237388"/>
                  <a:gd name="csX0" fmla="*/ 0 w 2199916"/>
                  <a:gd name="csY0" fmla="*/ 1250781 h 1250781"/>
                  <a:gd name="csX1" fmla="*/ 531762 w 2199916"/>
                  <a:gd name="csY1" fmla="*/ 148282 h 1250781"/>
                  <a:gd name="csX2" fmla="*/ 2199916 w 2199916"/>
                  <a:gd name="csY2" fmla="*/ 13393 h 12507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199916" h="1250781">
                    <a:moveTo>
                      <a:pt x="0" y="1250781"/>
                    </a:moveTo>
                    <a:cubicBezTo>
                      <a:pt x="88994" y="847723"/>
                      <a:pt x="190867" y="328756"/>
                      <a:pt x="531762" y="148282"/>
                    </a:cubicBezTo>
                    <a:cubicBezTo>
                      <a:pt x="872657" y="-32192"/>
                      <a:pt x="1858174" y="-5190"/>
                      <a:pt x="2199916" y="13393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EEF188-619E-5CC0-EA49-3F947851C5D4}"/>
                  </a:ext>
                </a:extLst>
              </p:cNvPr>
              <p:cNvSpPr txBox="1"/>
              <p:nvPr/>
            </p:nvSpPr>
            <p:spPr>
              <a:xfrm>
                <a:off x="9637811" y="4241004"/>
                <a:ext cx="1867762" cy="295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Time post eradication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948DCC-1D9D-A6F9-58DA-530272D19168}"/>
                  </a:ext>
                </a:extLst>
              </p:cNvPr>
              <p:cNvSpPr txBox="1"/>
              <p:nvPr/>
            </p:nvSpPr>
            <p:spPr>
              <a:xfrm>
                <a:off x="9637811" y="3428998"/>
                <a:ext cx="2670471" cy="386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Population Immunity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214D67-BD89-5A2B-9760-9D61D6576D70}"/>
                  </a:ext>
                </a:extLst>
              </p:cNvPr>
              <p:cNvSpPr txBox="1"/>
              <p:nvPr/>
            </p:nvSpPr>
            <p:spPr>
              <a:xfrm>
                <a:off x="10354894" y="2534468"/>
                <a:ext cx="1619465" cy="386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R</a:t>
                </a:r>
                <a:r>
                  <a:rPr lang="en-US" sz="2800" b="1" baseline="-25000" dirty="0">
                    <a:solidFill>
                      <a:srgbClr val="C00000"/>
                    </a:solidFill>
                  </a:rPr>
                  <a:t>e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 of mpox</a:t>
                </a: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9C0B9-8F33-21DC-2CF2-CE9BEFC50509}"/>
              </a:ext>
            </a:extLst>
          </p:cNvPr>
          <p:cNvCxnSpPr>
            <a:cxnSpLocks/>
          </p:cNvCxnSpPr>
          <p:nvPr/>
        </p:nvCxnSpPr>
        <p:spPr>
          <a:xfrm>
            <a:off x="6477558" y="4065102"/>
            <a:ext cx="12214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775CE3A5-72FD-D4D2-A635-0B21FFF8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2" y="683419"/>
            <a:ext cx="12622686" cy="1325563"/>
          </a:xfrm>
        </p:spPr>
        <p:txBody>
          <a:bodyPr/>
          <a:lstStyle/>
          <a:p>
            <a:r>
              <a:rPr lang="en-US" dirty="0"/>
              <a:t>How will waning immunity facilitate </a:t>
            </a:r>
            <a:br>
              <a:rPr lang="en-US" dirty="0"/>
            </a:br>
            <a:r>
              <a:rPr lang="en-US" dirty="0"/>
              <a:t>mpox emergence?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73FA18D-4F74-74AC-CD30-D4F1C7374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025" y="1789343"/>
            <a:ext cx="2101533" cy="394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0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B4C2-A07B-F7EA-E375-21799E70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91C68A5-2D98-55AC-7686-FCDF1A0F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8" y="1425074"/>
            <a:ext cx="11123204" cy="543292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D916B8C-A3E5-6764-5983-514928DA9D0F}"/>
              </a:ext>
            </a:extLst>
          </p:cNvPr>
          <p:cNvSpPr txBox="1">
            <a:spLocks/>
          </p:cNvSpPr>
          <p:nvPr/>
        </p:nvSpPr>
        <p:spPr>
          <a:xfrm>
            <a:off x="233653" y="160194"/>
            <a:ext cx="117131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We use a stochastic framework for emergence.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1FB3E-4752-DA96-F244-3709CBC7BF60}"/>
              </a:ext>
            </a:extLst>
          </p:cNvPr>
          <p:cNvSpPr/>
          <p:nvPr/>
        </p:nvSpPr>
        <p:spPr>
          <a:xfrm>
            <a:off x="3416968" y="1376949"/>
            <a:ext cx="8264697" cy="38447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8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5AC8-46BC-AE07-3507-A6A156899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Emergence depends more on transmission than spillover rate.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F7082BD-B304-2A5D-A10E-FC788E112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652" y="1752645"/>
            <a:ext cx="8464696" cy="47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3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ACFB-2185-E144-0D83-CE0833E6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b="1" dirty="0"/>
              <a:t>Prevention is </a:t>
            </a:r>
            <a:r>
              <a:rPr lang="en-US" b="1" i="1" dirty="0"/>
              <a:t>much </a:t>
            </a:r>
            <a:r>
              <a:rPr lang="en-US" b="1" dirty="0"/>
              <a:t>easier than eradication.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1CA8A7-AB8A-0B32-4CEC-A5F72EF33BCB}"/>
              </a:ext>
            </a:extLst>
          </p:cNvPr>
          <p:cNvGrpSpPr>
            <a:grpSpLocks noChangeAspect="1"/>
          </p:cNvGrpSpPr>
          <p:nvPr/>
        </p:nvGrpSpPr>
        <p:grpSpPr>
          <a:xfrm>
            <a:off x="1202648" y="1898602"/>
            <a:ext cx="10151152" cy="3434600"/>
            <a:chOff x="119318" y="2442346"/>
            <a:chExt cx="7809382" cy="2642272"/>
          </a:xfrm>
        </p:grpSpPr>
        <p:pic>
          <p:nvPicPr>
            <p:cNvPr id="5" name="Picture 4" descr="A diagram of a curved line&#10;&#10;AI-generated content may be incorrect.">
              <a:extLst>
                <a:ext uri="{FF2B5EF4-FFF2-40B4-BE49-F238E27FC236}">
                  <a16:creationId xmlns:a16="http://schemas.microsoft.com/office/drawing/2014/main" id="{A461988A-80B8-EED7-7B81-D2C20D2B1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318" y="2442346"/>
              <a:ext cx="7809382" cy="26422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C61FEB-8116-91EA-EBC3-41F1325269FB}"/>
                </a:ext>
              </a:extLst>
            </p:cNvPr>
            <p:cNvSpPr txBox="1"/>
            <p:nvPr/>
          </p:nvSpPr>
          <p:spPr>
            <a:xfrm>
              <a:off x="1589313" y="4622953"/>
              <a:ext cx="34977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A4F83A4-0EF6-D37C-3151-4409E7E3C639}"/>
              </a:ext>
            </a:extLst>
          </p:cNvPr>
          <p:cNvSpPr txBox="1"/>
          <p:nvPr/>
        </p:nvSpPr>
        <p:spPr>
          <a:xfrm>
            <a:off x="6096000" y="5810629"/>
            <a:ext cx="549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Preprint: Hirst et al, BioRxiv 2026</a:t>
            </a:r>
          </a:p>
        </p:txBody>
      </p:sp>
    </p:spTree>
    <p:extLst>
      <p:ext uri="{BB962C8B-B14F-4D97-AF65-F5344CB8AC3E}">
        <p14:creationId xmlns:p14="http://schemas.microsoft.com/office/powerpoint/2010/main" val="422091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131</Words>
  <Application>Microsoft Macintosh PowerPoint</Application>
  <PresentationFormat>Widescreen</PresentationFormat>
  <Paragraphs>28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Modeling Disease Re-emergence Post-Eradication: application to mpox </vt:lpstr>
      <vt:lpstr>How will waning immunity facilitate  mpox emergence?</vt:lpstr>
      <vt:lpstr>PowerPoint Presentation</vt:lpstr>
      <vt:lpstr>Emergence depends more on transmission than spillover rate.</vt:lpstr>
      <vt:lpstr>Prevention is much easier than eradication.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29</cp:revision>
  <dcterms:created xsi:type="dcterms:W3CDTF">2026-06-02T01:12:31Z</dcterms:created>
  <dcterms:modified xsi:type="dcterms:W3CDTF">2026-06-02T12:41:49Z</dcterms:modified>
</cp:coreProperties>
</file>