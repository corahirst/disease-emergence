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2"/>
    <p:sldId id="259" r:id="rId3"/>
    <p:sldId id="260" r:id="rId4"/>
    <p:sldId id="262" r:id="rId5"/>
    <p:sldId id="261" r:id="rId6"/>
  </p:sldIdLst>
  <p:sldSz cx="32918400" cy="43891200"/>
  <p:notesSz cx="6858000" cy="9144000"/>
  <p:embeddedFontLst>
    <p:embeddedFont>
      <p:font typeface="Calibri (MS) Bold" panose="020F0702030404030204" pitchFamily="34" charset="0"/>
      <p:regular r:id="rId7"/>
      <p:bold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23" autoAdjust="0"/>
    <p:restoredTop sz="94658" autoAdjust="0"/>
  </p:normalViewPr>
  <p:slideViewPr>
    <p:cSldViewPr>
      <p:cViewPr>
        <p:scale>
          <a:sx n="18" d="100"/>
          <a:sy n="18" d="100"/>
        </p:scale>
        <p:origin x="3944" y="456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0ADA79-C9D4-B720-9042-ACCD48C14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6" name="Group 10">
            <a:extLst>
              <a:ext uri="{FF2B5EF4-FFF2-40B4-BE49-F238E27FC236}">
                <a16:creationId xmlns:a16="http://schemas.microsoft.com/office/drawing/2014/main" id="{29C3D533-3EE8-D6EB-DCAD-FF6A0BF4B65A}"/>
              </a:ext>
            </a:extLst>
          </p:cNvPr>
          <p:cNvGrpSpPr/>
          <p:nvPr/>
        </p:nvGrpSpPr>
        <p:grpSpPr>
          <a:xfrm>
            <a:off x="-1" y="7685063"/>
            <a:ext cx="32918337" cy="36206136"/>
            <a:chOff x="0" y="-93394"/>
            <a:chExt cx="14643633" cy="1709221"/>
          </a:xfrm>
          <a:solidFill>
            <a:schemeClr val="bg1"/>
          </a:solidFill>
        </p:grpSpPr>
        <p:sp>
          <p:nvSpPr>
            <p:cNvPr id="197" name="Freeform 11">
              <a:extLst>
                <a:ext uri="{FF2B5EF4-FFF2-40B4-BE49-F238E27FC236}">
                  <a16:creationId xmlns:a16="http://schemas.microsoft.com/office/drawing/2014/main" id="{7C58DA4B-4C3B-126D-E1A6-7190617E7504}"/>
                </a:ext>
              </a:extLst>
            </p:cNvPr>
            <p:cNvSpPr/>
            <p:nvPr/>
          </p:nvSpPr>
          <p:spPr>
            <a:xfrm>
              <a:off x="0" y="0"/>
              <a:ext cx="14643608" cy="1615821"/>
            </a:xfrm>
            <a:custGeom>
              <a:avLst/>
              <a:gdLst/>
              <a:ahLst/>
              <a:cxnLst/>
              <a:rect l="l" t="t" r="r" b="b"/>
              <a:pathLst>
                <a:path w="14643608" h="1615821">
                  <a:moveTo>
                    <a:pt x="0" y="0"/>
                  </a:moveTo>
                  <a:lnTo>
                    <a:pt x="14643608" y="0"/>
                  </a:lnTo>
                  <a:lnTo>
                    <a:pt x="14643608" y="1615821"/>
                  </a:lnTo>
                  <a:lnTo>
                    <a:pt x="0" y="1615821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sz="1350" dirty="0"/>
            </a:p>
          </p:txBody>
        </p:sp>
        <p:sp>
          <p:nvSpPr>
            <p:cNvPr id="198" name="TextBox 12">
              <a:extLst>
                <a:ext uri="{FF2B5EF4-FFF2-40B4-BE49-F238E27FC236}">
                  <a16:creationId xmlns:a16="http://schemas.microsoft.com/office/drawing/2014/main" id="{09B2AC59-8155-7392-549C-0FF381D21367}"/>
                </a:ext>
              </a:extLst>
            </p:cNvPr>
            <p:cNvSpPr txBox="1"/>
            <p:nvPr/>
          </p:nvSpPr>
          <p:spPr>
            <a:xfrm>
              <a:off x="0" y="-93394"/>
              <a:ext cx="14643633" cy="1709221"/>
            </a:xfrm>
            <a:prstGeom prst="rect">
              <a:avLst/>
            </a:prstGeom>
            <a:grpFill/>
          </p:spPr>
          <p:txBody>
            <a:bodyPr lIns="42863" tIns="42863" rIns="42863" bIns="42863" rtlCol="0" anchor="ctr"/>
            <a:lstStyle/>
            <a:p>
              <a:pPr algn="ctr">
                <a:lnSpc>
                  <a:spcPts val="5315"/>
                </a:lnSpc>
              </a:pPr>
              <a:endParaRPr lang="en-US" sz="4430" spc="41" dirty="0">
                <a:solidFill>
                  <a:srgbClr val="000000"/>
                </a:solidFill>
                <a:latin typeface="Calibri (MS) Bold"/>
              </a:endParaRPr>
            </a:p>
          </p:txBody>
        </p:sp>
      </p:grpSp>
      <p:grpSp>
        <p:nvGrpSpPr>
          <p:cNvPr id="28" name="Group 10">
            <a:extLst>
              <a:ext uri="{FF2B5EF4-FFF2-40B4-BE49-F238E27FC236}">
                <a16:creationId xmlns:a16="http://schemas.microsoft.com/office/drawing/2014/main" id="{411FECBD-C5FF-8972-1B99-A92996F1C9FF}"/>
              </a:ext>
            </a:extLst>
          </p:cNvPr>
          <p:cNvGrpSpPr/>
          <p:nvPr/>
        </p:nvGrpSpPr>
        <p:grpSpPr>
          <a:xfrm>
            <a:off x="0" y="6400800"/>
            <a:ext cx="32918400" cy="2585346"/>
            <a:chOff x="0" y="0"/>
            <a:chExt cx="14643633" cy="1615827"/>
          </a:xfrm>
          <a:solidFill>
            <a:srgbClr val="FFBA00"/>
          </a:solidFill>
        </p:grpSpPr>
        <p:sp>
          <p:nvSpPr>
            <p:cNvPr id="42" name="Freeform 11">
              <a:extLst>
                <a:ext uri="{FF2B5EF4-FFF2-40B4-BE49-F238E27FC236}">
                  <a16:creationId xmlns:a16="http://schemas.microsoft.com/office/drawing/2014/main" id="{DEAAAC78-1B57-78B1-4EC1-3BC89AD8FC9C}"/>
                </a:ext>
              </a:extLst>
            </p:cNvPr>
            <p:cNvSpPr/>
            <p:nvPr/>
          </p:nvSpPr>
          <p:spPr>
            <a:xfrm>
              <a:off x="0" y="0"/>
              <a:ext cx="14643608" cy="1615821"/>
            </a:xfrm>
            <a:custGeom>
              <a:avLst/>
              <a:gdLst/>
              <a:ahLst/>
              <a:cxnLst/>
              <a:rect l="l" t="t" r="r" b="b"/>
              <a:pathLst>
                <a:path w="14643608" h="1615821">
                  <a:moveTo>
                    <a:pt x="0" y="0"/>
                  </a:moveTo>
                  <a:lnTo>
                    <a:pt x="14643608" y="0"/>
                  </a:lnTo>
                  <a:lnTo>
                    <a:pt x="14643608" y="1615821"/>
                  </a:lnTo>
                  <a:lnTo>
                    <a:pt x="0" y="1615821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sz="1350" dirty="0"/>
            </a:p>
          </p:txBody>
        </p:sp>
        <p:sp>
          <p:nvSpPr>
            <p:cNvPr id="44" name="TextBox 12">
              <a:extLst>
                <a:ext uri="{FF2B5EF4-FFF2-40B4-BE49-F238E27FC236}">
                  <a16:creationId xmlns:a16="http://schemas.microsoft.com/office/drawing/2014/main" id="{D2F1A881-6E2D-9C5D-957C-274E7B2CDB97}"/>
                </a:ext>
              </a:extLst>
            </p:cNvPr>
            <p:cNvSpPr txBox="1"/>
            <p:nvPr/>
          </p:nvSpPr>
          <p:spPr>
            <a:xfrm>
              <a:off x="0" y="-123825"/>
              <a:ext cx="14643633" cy="1739652"/>
            </a:xfrm>
            <a:prstGeom prst="rect">
              <a:avLst/>
            </a:prstGeom>
            <a:grpFill/>
          </p:spPr>
          <p:txBody>
            <a:bodyPr lIns="42863" tIns="42863" rIns="42863" bIns="42863" rtlCol="0" anchor="ctr"/>
            <a:lstStyle/>
            <a:p>
              <a:pPr algn="ctr">
                <a:lnSpc>
                  <a:spcPts val="5315"/>
                </a:lnSpc>
              </a:pPr>
              <a:endParaRPr lang="en-US" sz="4430" spc="41" dirty="0">
                <a:solidFill>
                  <a:srgbClr val="000000"/>
                </a:solidFill>
                <a:latin typeface="Calibri (MS) Bold"/>
              </a:endParaRPr>
            </a:p>
          </p:txBody>
        </p:sp>
      </p:grpSp>
      <p:sp>
        <p:nvSpPr>
          <p:cNvPr id="176" name="TextBox 175">
            <a:extLst>
              <a:ext uri="{FF2B5EF4-FFF2-40B4-BE49-F238E27FC236}">
                <a16:creationId xmlns:a16="http://schemas.microsoft.com/office/drawing/2014/main" id="{ED83A28C-C25D-DF5C-138D-6519EE7E07B1}"/>
              </a:ext>
            </a:extLst>
          </p:cNvPr>
          <p:cNvSpPr txBox="1"/>
          <p:nvPr/>
        </p:nvSpPr>
        <p:spPr>
          <a:xfrm>
            <a:off x="20726400" y="7467600"/>
            <a:ext cx="640414" cy="1569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solidFill>
                  <a:schemeClr val="bg1"/>
                </a:solidFill>
              </a:rPr>
              <a:t>†</a:t>
            </a:r>
          </a:p>
        </p:txBody>
      </p:sp>
      <p:sp>
        <p:nvSpPr>
          <p:cNvPr id="177" name="TextBox 12">
            <a:extLst>
              <a:ext uri="{FF2B5EF4-FFF2-40B4-BE49-F238E27FC236}">
                <a16:creationId xmlns:a16="http://schemas.microsoft.com/office/drawing/2014/main" id="{A65472D6-EF65-1761-DA03-51A12FE3AA93}"/>
              </a:ext>
            </a:extLst>
          </p:cNvPr>
          <p:cNvSpPr txBox="1"/>
          <p:nvPr/>
        </p:nvSpPr>
        <p:spPr>
          <a:xfrm>
            <a:off x="817482" y="2118146"/>
            <a:ext cx="26574869" cy="3292054"/>
          </a:xfrm>
          <a:prstGeom prst="rect">
            <a:avLst/>
          </a:prstGeom>
        </p:spPr>
        <p:txBody>
          <a:bodyPr lIns="42863" tIns="42863" rIns="42863" bIns="42863" rtlCol="0" anchor="ctr"/>
          <a:lstStyle/>
          <a:p>
            <a:r>
              <a:rPr lang="en-US" sz="9600" spc="41" dirty="0">
                <a:solidFill>
                  <a:schemeClr val="bg2"/>
                </a:solidFill>
                <a:latin typeface="Calibri (MS) Bold"/>
              </a:rPr>
              <a:t>Can we stop vaccinating against </a:t>
            </a:r>
          </a:p>
          <a:p>
            <a:r>
              <a:rPr lang="en-US" sz="9600" spc="41" dirty="0">
                <a:solidFill>
                  <a:schemeClr val="bg2"/>
                </a:solidFill>
                <a:latin typeface="Calibri (MS) Bold"/>
              </a:rPr>
              <a:t>pox viruses?</a:t>
            </a:r>
          </a:p>
        </p:txBody>
      </p:sp>
      <p:sp>
        <p:nvSpPr>
          <p:cNvPr id="178" name="TextBox 12">
            <a:extLst>
              <a:ext uri="{FF2B5EF4-FFF2-40B4-BE49-F238E27FC236}">
                <a16:creationId xmlns:a16="http://schemas.microsoft.com/office/drawing/2014/main" id="{DD6B971D-9165-30A7-29AD-1EEE6A1C06D9}"/>
              </a:ext>
            </a:extLst>
          </p:cNvPr>
          <p:cNvSpPr txBox="1"/>
          <p:nvPr/>
        </p:nvSpPr>
        <p:spPr>
          <a:xfrm>
            <a:off x="715936" y="-224412"/>
            <a:ext cx="26574869" cy="3292054"/>
          </a:xfrm>
          <a:prstGeom prst="rect">
            <a:avLst/>
          </a:prstGeom>
        </p:spPr>
        <p:txBody>
          <a:bodyPr lIns="42863" tIns="42863" rIns="42863" bIns="42863" rtlCol="0" anchor="ctr"/>
          <a:lstStyle/>
          <a:p>
            <a:r>
              <a:rPr lang="en-US" sz="11500" spc="41" dirty="0">
                <a:solidFill>
                  <a:schemeClr val="bg1">
                    <a:lumMod val="95000"/>
                  </a:schemeClr>
                </a:solidFill>
                <a:latin typeface="Calibri (MS) Bold"/>
              </a:rPr>
              <a:t>Vaccination to Prevent Disease Emergence</a:t>
            </a:r>
          </a:p>
        </p:txBody>
      </p:sp>
      <p:grpSp>
        <p:nvGrpSpPr>
          <p:cNvPr id="199" name="Group 10">
            <a:extLst>
              <a:ext uri="{FF2B5EF4-FFF2-40B4-BE49-F238E27FC236}">
                <a16:creationId xmlns:a16="http://schemas.microsoft.com/office/drawing/2014/main" id="{5FB17D9B-878E-6358-9747-F37A67A1F266}"/>
              </a:ext>
            </a:extLst>
          </p:cNvPr>
          <p:cNvGrpSpPr/>
          <p:nvPr/>
        </p:nvGrpSpPr>
        <p:grpSpPr>
          <a:xfrm>
            <a:off x="19230508" y="9425639"/>
            <a:ext cx="13157115" cy="29188170"/>
            <a:chOff x="0" y="-93394"/>
            <a:chExt cx="14643633" cy="1709221"/>
          </a:xfrm>
          <a:solidFill>
            <a:schemeClr val="bg2"/>
          </a:solidFill>
        </p:grpSpPr>
        <p:sp>
          <p:nvSpPr>
            <p:cNvPr id="200" name="Freeform 11">
              <a:extLst>
                <a:ext uri="{FF2B5EF4-FFF2-40B4-BE49-F238E27FC236}">
                  <a16:creationId xmlns:a16="http://schemas.microsoft.com/office/drawing/2014/main" id="{7DDC1B65-40A4-7687-D6DB-4F2C1DC151F4}"/>
                </a:ext>
              </a:extLst>
            </p:cNvPr>
            <p:cNvSpPr/>
            <p:nvPr/>
          </p:nvSpPr>
          <p:spPr>
            <a:xfrm>
              <a:off x="0" y="0"/>
              <a:ext cx="14643608" cy="1615821"/>
            </a:xfrm>
            <a:custGeom>
              <a:avLst/>
              <a:gdLst/>
              <a:ahLst/>
              <a:cxnLst/>
              <a:rect l="l" t="t" r="r" b="b"/>
              <a:pathLst>
                <a:path w="14643608" h="1615821">
                  <a:moveTo>
                    <a:pt x="0" y="0"/>
                  </a:moveTo>
                  <a:lnTo>
                    <a:pt x="14643608" y="0"/>
                  </a:lnTo>
                  <a:lnTo>
                    <a:pt x="14643608" y="1615821"/>
                  </a:lnTo>
                  <a:lnTo>
                    <a:pt x="0" y="1615821"/>
                  </a:lnTo>
                  <a:close/>
                </a:path>
              </a:pathLst>
            </a:custGeom>
            <a:grpFill/>
            <a:ln>
              <a:solidFill>
                <a:schemeClr val="bg2"/>
              </a:solidFill>
            </a:ln>
          </p:spPr>
          <p:txBody>
            <a:bodyPr/>
            <a:lstStyle/>
            <a:p>
              <a:endParaRPr lang="en-US" sz="1350" dirty="0"/>
            </a:p>
          </p:txBody>
        </p:sp>
        <p:sp>
          <p:nvSpPr>
            <p:cNvPr id="201" name="TextBox 12">
              <a:extLst>
                <a:ext uri="{FF2B5EF4-FFF2-40B4-BE49-F238E27FC236}">
                  <a16:creationId xmlns:a16="http://schemas.microsoft.com/office/drawing/2014/main" id="{C27AFD0D-AF71-FE6D-8A02-6F7280722549}"/>
                </a:ext>
              </a:extLst>
            </p:cNvPr>
            <p:cNvSpPr txBox="1"/>
            <p:nvPr/>
          </p:nvSpPr>
          <p:spPr>
            <a:xfrm>
              <a:off x="0" y="-93394"/>
              <a:ext cx="14643633" cy="1709221"/>
            </a:xfrm>
            <a:prstGeom prst="rect">
              <a:avLst/>
            </a:prstGeom>
            <a:grpFill/>
            <a:ln>
              <a:solidFill>
                <a:schemeClr val="bg2"/>
              </a:solidFill>
            </a:ln>
          </p:spPr>
          <p:txBody>
            <a:bodyPr lIns="42863" tIns="42863" rIns="42863" bIns="42863" rtlCol="0" anchor="ctr"/>
            <a:lstStyle/>
            <a:p>
              <a:pPr algn="ctr">
                <a:lnSpc>
                  <a:spcPts val="5315"/>
                </a:lnSpc>
              </a:pPr>
              <a:endParaRPr lang="en-US" sz="4430" spc="41" dirty="0">
                <a:solidFill>
                  <a:srgbClr val="000000"/>
                </a:solidFill>
                <a:latin typeface="Calibri (MS) Bold"/>
              </a:endParaRPr>
            </a:p>
          </p:txBody>
        </p:sp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B72EF0FD-D54B-FF5B-7874-DCDEB7C38269}"/>
              </a:ext>
            </a:extLst>
          </p:cNvPr>
          <p:cNvGrpSpPr/>
          <p:nvPr/>
        </p:nvGrpSpPr>
        <p:grpSpPr>
          <a:xfrm>
            <a:off x="7239000" y="1335255"/>
            <a:ext cx="24540877" cy="7395231"/>
            <a:chOff x="7903512" y="165324"/>
            <a:chExt cx="24540877" cy="7395231"/>
          </a:xfrm>
        </p:grpSpPr>
        <p:grpSp>
          <p:nvGrpSpPr>
            <p:cNvPr id="158" name="Group 157">
              <a:extLst>
                <a:ext uri="{FF2B5EF4-FFF2-40B4-BE49-F238E27FC236}">
                  <a16:creationId xmlns:a16="http://schemas.microsoft.com/office/drawing/2014/main" id="{EBC5A6EA-0803-07D1-A684-19E1DF9920B9}"/>
                </a:ext>
              </a:extLst>
            </p:cNvPr>
            <p:cNvGrpSpPr/>
            <p:nvPr/>
          </p:nvGrpSpPr>
          <p:grpSpPr>
            <a:xfrm rot="16200000">
              <a:off x="15316598" y="-7247762"/>
              <a:ext cx="7395231" cy="22221404"/>
              <a:chOff x="4304531" y="396062"/>
              <a:chExt cx="1457351" cy="4524127"/>
            </a:xfrm>
          </p:grpSpPr>
          <p:cxnSp>
            <p:nvCxnSpPr>
              <p:cNvPr id="159" name="Straight Arrow Connector 158">
                <a:extLst>
                  <a:ext uri="{FF2B5EF4-FFF2-40B4-BE49-F238E27FC236}">
                    <a16:creationId xmlns:a16="http://schemas.microsoft.com/office/drawing/2014/main" id="{5BBFF413-15D8-AEC2-BAEB-5A086FF606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93666" y="664142"/>
                <a:ext cx="0" cy="496430"/>
              </a:xfrm>
              <a:prstGeom prst="straightConnector1">
                <a:avLst/>
              </a:prstGeom>
              <a:ln w="76200">
                <a:solidFill>
                  <a:schemeClr val="bg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0" name="Oval 159">
                <a:extLst>
                  <a:ext uri="{FF2B5EF4-FFF2-40B4-BE49-F238E27FC236}">
                    <a16:creationId xmlns:a16="http://schemas.microsoft.com/office/drawing/2014/main" id="{FC0A5184-ED61-AC99-A651-39A369C1B9C6}"/>
                  </a:ext>
                </a:extLst>
              </p:cNvPr>
              <p:cNvSpPr/>
              <p:nvPr/>
            </p:nvSpPr>
            <p:spPr>
              <a:xfrm>
                <a:off x="4714294" y="396062"/>
                <a:ext cx="205539" cy="190500"/>
              </a:xfrm>
              <a:prstGeom prst="ellipse">
                <a:avLst/>
              </a:prstGeom>
              <a:solidFill>
                <a:schemeClr val="accent3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254B8392-5740-4A97-674A-38E1E95B6FFA}"/>
                  </a:ext>
                </a:extLst>
              </p:cNvPr>
              <p:cNvSpPr/>
              <p:nvPr/>
            </p:nvSpPr>
            <p:spPr>
              <a:xfrm>
                <a:off x="4714294" y="1264834"/>
                <a:ext cx="205539" cy="190500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62" name="Straight Arrow Connector 161">
                <a:extLst>
                  <a:ext uri="{FF2B5EF4-FFF2-40B4-BE49-F238E27FC236}">
                    <a16:creationId xmlns:a16="http://schemas.microsoft.com/office/drawing/2014/main" id="{C2BA7BCF-DA6C-F297-8AC0-3AFFE64052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93666" y="1532917"/>
                <a:ext cx="0" cy="496428"/>
              </a:xfrm>
              <a:prstGeom prst="straightConnector1">
                <a:avLst/>
              </a:prstGeom>
              <a:ln w="76200">
                <a:solidFill>
                  <a:schemeClr val="bg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ADEC381E-DCDA-B664-494C-FC5123790CF0}"/>
                  </a:ext>
                </a:extLst>
              </p:cNvPr>
              <p:cNvSpPr/>
              <p:nvPr/>
            </p:nvSpPr>
            <p:spPr>
              <a:xfrm>
                <a:off x="4707790" y="2117924"/>
                <a:ext cx="205539" cy="190500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64" name="Straight Arrow Connector 163">
                <a:extLst>
                  <a:ext uri="{FF2B5EF4-FFF2-40B4-BE49-F238E27FC236}">
                    <a16:creationId xmlns:a16="http://schemas.microsoft.com/office/drawing/2014/main" id="{6CE2B694-D617-469F-76D4-54656BF3D49F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4374648" y="2475878"/>
                <a:ext cx="436670" cy="227711"/>
              </a:xfrm>
              <a:prstGeom prst="straightConnector1">
                <a:avLst/>
              </a:prstGeom>
              <a:ln w="76200">
                <a:solidFill>
                  <a:schemeClr val="bg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5" name="Straight Arrow Connector 164">
                <a:extLst>
                  <a:ext uri="{FF2B5EF4-FFF2-40B4-BE49-F238E27FC236}">
                    <a16:creationId xmlns:a16="http://schemas.microsoft.com/office/drawing/2014/main" id="{DC06AFC6-EDD0-5827-D052-D30D73B67A83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4756278" y="2484115"/>
                <a:ext cx="450566" cy="225134"/>
              </a:xfrm>
              <a:prstGeom prst="straightConnector1">
                <a:avLst/>
              </a:prstGeom>
              <a:ln w="76200">
                <a:solidFill>
                  <a:schemeClr val="bg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6" name="Oval 165">
                <a:extLst>
                  <a:ext uri="{FF2B5EF4-FFF2-40B4-BE49-F238E27FC236}">
                    <a16:creationId xmlns:a16="http://schemas.microsoft.com/office/drawing/2014/main" id="{091419C4-A635-4FA8-2D43-128CD26759D2}"/>
                  </a:ext>
                </a:extLst>
              </p:cNvPr>
              <p:cNvSpPr/>
              <p:nvPr/>
            </p:nvSpPr>
            <p:spPr>
              <a:xfrm>
                <a:off x="4304531" y="2827690"/>
                <a:ext cx="205539" cy="190500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40813160-664A-2C6E-330F-584F64FE06DD}"/>
                  </a:ext>
                </a:extLst>
              </p:cNvPr>
              <p:cNvSpPr/>
              <p:nvPr/>
            </p:nvSpPr>
            <p:spPr>
              <a:xfrm>
                <a:off x="5062818" y="2897308"/>
                <a:ext cx="205539" cy="190500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68" name="Straight Arrow Connector 167">
                <a:extLst>
                  <a:ext uri="{FF2B5EF4-FFF2-40B4-BE49-F238E27FC236}">
                    <a16:creationId xmlns:a16="http://schemas.microsoft.com/office/drawing/2014/main" id="{FEF13CE9-4C87-2FD3-2BC1-57C1EE51FA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3987" y="3192880"/>
                <a:ext cx="0" cy="496428"/>
              </a:xfrm>
              <a:prstGeom prst="straightConnector1">
                <a:avLst/>
              </a:prstGeom>
              <a:ln w="76200">
                <a:solidFill>
                  <a:schemeClr val="bg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9" name="Oval 168">
                <a:extLst>
                  <a:ext uri="{FF2B5EF4-FFF2-40B4-BE49-F238E27FC236}">
                    <a16:creationId xmlns:a16="http://schemas.microsoft.com/office/drawing/2014/main" id="{7D471208-FAD4-890A-390D-6231A931BB8D}"/>
                  </a:ext>
                </a:extLst>
              </p:cNvPr>
              <p:cNvSpPr/>
              <p:nvPr/>
            </p:nvSpPr>
            <p:spPr>
              <a:xfrm>
                <a:off x="5087890" y="3760560"/>
                <a:ext cx="205539" cy="190500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70" name="Straight Arrow Connector 169">
                <a:extLst>
                  <a:ext uri="{FF2B5EF4-FFF2-40B4-BE49-F238E27FC236}">
                    <a16:creationId xmlns:a16="http://schemas.microsoft.com/office/drawing/2014/main" id="{D654A7CE-164C-3D43-76ED-08E1D7E09AF0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4757753" y="4082426"/>
                <a:ext cx="442840" cy="267314"/>
              </a:xfrm>
              <a:prstGeom prst="straightConnector1">
                <a:avLst/>
              </a:prstGeom>
              <a:ln w="76200">
                <a:solidFill>
                  <a:schemeClr val="bg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1" name="Straight Arrow Connector 170">
                <a:extLst>
                  <a:ext uri="{FF2B5EF4-FFF2-40B4-BE49-F238E27FC236}">
                    <a16:creationId xmlns:a16="http://schemas.microsoft.com/office/drawing/2014/main" id="{48CF0737-992B-6364-1DED-3A2451A329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68380" y="3994990"/>
                <a:ext cx="275737" cy="442513"/>
              </a:xfrm>
              <a:prstGeom prst="straightConnector1">
                <a:avLst/>
              </a:prstGeom>
              <a:ln w="76200">
                <a:solidFill>
                  <a:schemeClr val="bg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2" name="Oval 171">
                <a:extLst>
                  <a:ext uri="{FF2B5EF4-FFF2-40B4-BE49-F238E27FC236}">
                    <a16:creationId xmlns:a16="http://schemas.microsoft.com/office/drawing/2014/main" id="{668667E5-BA81-6CE2-C19A-2418C2961C97}"/>
                  </a:ext>
                </a:extLst>
              </p:cNvPr>
              <p:cNvSpPr/>
              <p:nvPr/>
            </p:nvSpPr>
            <p:spPr>
              <a:xfrm>
                <a:off x="4707790" y="4503470"/>
                <a:ext cx="205539" cy="190500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3" name="Oval 172">
                <a:extLst>
                  <a:ext uri="{FF2B5EF4-FFF2-40B4-BE49-F238E27FC236}">
                    <a16:creationId xmlns:a16="http://schemas.microsoft.com/office/drawing/2014/main" id="{F6359F64-AFFD-5912-DCBB-31348B6B1D1C}"/>
                  </a:ext>
                </a:extLst>
              </p:cNvPr>
              <p:cNvSpPr/>
              <p:nvPr/>
            </p:nvSpPr>
            <p:spPr>
              <a:xfrm>
                <a:off x="5504131" y="4481433"/>
                <a:ext cx="205539" cy="190500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0C241B8B-6E68-F09A-12CC-4788A436DD3D}"/>
                  </a:ext>
                </a:extLst>
              </p:cNvPr>
              <p:cNvSpPr txBox="1"/>
              <p:nvPr/>
            </p:nvSpPr>
            <p:spPr>
              <a:xfrm rot="5400000">
                <a:off x="5542027" y="4700333"/>
                <a:ext cx="130384" cy="3093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600" dirty="0">
                    <a:solidFill>
                      <a:schemeClr val="bg1">
                        <a:lumMod val="95000"/>
                      </a:schemeClr>
                    </a:solidFill>
                  </a:rPr>
                  <a:t>†</a:t>
                </a:r>
              </a:p>
            </p:txBody>
          </p:sp>
        </p:grpSp>
        <p:cxnSp>
          <p:nvCxnSpPr>
            <p:cNvPr id="179" name="Straight Arrow Connector 178">
              <a:extLst>
                <a:ext uri="{FF2B5EF4-FFF2-40B4-BE49-F238E27FC236}">
                  <a16:creationId xmlns:a16="http://schemas.microsoft.com/office/drawing/2014/main" id="{F73B90EC-D2CF-F981-96A0-55ABCB83B96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9571754" y="2813247"/>
              <a:ext cx="1399209" cy="2173516"/>
            </a:xfrm>
            <a:prstGeom prst="straightConnector1">
              <a:avLst/>
            </a:prstGeom>
            <a:ln w="76200">
              <a:solidFill>
                <a:schemeClr val="bg1">
                  <a:lumMod val="9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0" name="Straight Arrow Connector 179">
              <a:extLst>
                <a:ext uri="{FF2B5EF4-FFF2-40B4-BE49-F238E27FC236}">
                  <a16:creationId xmlns:a16="http://schemas.microsoft.com/office/drawing/2014/main" id="{D61DFE2B-E072-25F9-2196-B6632B2A2067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29604031" y="5083505"/>
              <a:ext cx="1399209" cy="2173516"/>
            </a:xfrm>
            <a:prstGeom prst="straightConnector1">
              <a:avLst/>
            </a:prstGeom>
            <a:ln w="76200">
              <a:solidFill>
                <a:schemeClr val="bg1">
                  <a:lumMod val="9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5C12A4FD-EC41-586B-1612-2001181E2E81}"/>
                </a:ext>
              </a:extLst>
            </p:cNvPr>
            <p:cNvSpPr/>
            <p:nvPr/>
          </p:nvSpPr>
          <p:spPr>
            <a:xfrm rot="16200000">
              <a:off x="31455048" y="2439658"/>
              <a:ext cx="1042994" cy="935689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2B58445C-B806-7491-1757-35DA4F516ABD}"/>
                </a:ext>
              </a:extLst>
            </p:cNvPr>
            <p:cNvSpPr/>
            <p:nvPr/>
          </p:nvSpPr>
          <p:spPr>
            <a:xfrm rot="16200000">
              <a:off x="31455048" y="6524738"/>
              <a:ext cx="1042994" cy="935689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0" name="Freeform 11">
            <a:extLst>
              <a:ext uri="{FF2B5EF4-FFF2-40B4-BE49-F238E27FC236}">
                <a16:creationId xmlns:a16="http://schemas.microsoft.com/office/drawing/2014/main" id="{BE438F8F-D711-4FA8-0B96-AAB493B9905C}"/>
              </a:ext>
            </a:extLst>
          </p:cNvPr>
          <p:cNvSpPr/>
          <p:nvPr/>
        </p:nvSpPr>
        <p:spPr>
          <a:xfrm>
            <a:off x="530810" y="39330823"/>
            <a:ext cx="31856729" cy="4130109"/>
          </a:xfrm>
          <a:custGeom>
            <a:avLst/>
            <a:gdLst/>
            <a:ahLst/>
            <a:cxnLst/>
            <a:rect l="l" t="t" r="r" b="b"/>
            <a:pathLst>
              <a:path w="14643608" h="1615821">
                <a:moveTo>
                  <a:pt x="0" y="0"/>
                </a:moveTo>
                <a:lnTo>
                  <a:pt x="14643608" y="0"/>
                </a:lnTo>
                <a:lnTo>
                  <a:pt x="14643608" y="1615821"/>
                </a:lnTo>
                <a:lnTo>
                  <a:pt x="0" y="1615821"/>
                </a:lnTo>
                <a:close/>
              </a:path>
            </a:pathLst>
          </a:custGeom>
          <a:solidFill>
            <a:srgbClr val="002060"/>
          </a:solidFill>
        </p:spPr>
        <p:txBody>
          <a:bodyPr/>
          <a:lstStyle/>
          <a:p>
            <a:endParaRPr lang="en-US" sz="1350" dirty="0"/>
          </a:p>
        </p:txBody>
      </p:sp>
      <p:pic>
        <p:nvPicPr>
          <p:cNvPr id="216" name="Picture 215" descr="A diagram of a curve&#10;&#10;AI-generated content may be incorrect.">
            <a:extLst>
              <a:ext uri="{FF2B5EF4-FFF2-40B4-BE49-F238E27FC236}">
                <a16:creationId xmlns:a16="http://schemas.microsoft.com/office/drawing/2014/main" id="{2B09F0EF-E9FB-BDBC-91B7-6090A1825A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2600" y="26335898"/>
            <a:ext cx="12204589" cy="4903595"/>
          </a:xfrm>
          <a:prstGeom prst="rect">
            <a:avLst/>
          </a:prstGeom>
        </p:spPr>
      </p:pic>
      <p:pic>
        <p:nvPicPr>
          <p:cNvPr id="222" name="Picture 221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EE59EEB0-1EF9-8BDA-79E8-72D5A71B43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1390" y="15765627"/>
            <a:ext cx="10384795" cy="6636137"/>
          </a:xfrm>
          <a:prstGeom prst="rect">
            <a:avLst/>
          </a:prstGeom>
        </p:spPr>
      </p:pic>
      <p:sp>
        <p:nvSpPr>
          <p:cNvPr id="229" name="TextBox 228">
            <a:extLst>
              <a:ext uri="{FF2B5EF4-FFF2-40B4-BE49-F238E27FC236}">
                <a16:creationId xmlns:a16="http://schemas.microsoft.com/office/drawing/2014/main" id="{25AC4580-49C0-AF52-03A9-CEE7A748ECA4}"/>
              </a:ext>
            </a:extLst>
          </p:cNvPr>
          <p:cNvSpPr txBox="1"/>
          <p:nvPr/>
        </p:nvSpPr>
        <p:spPr>
          <a:xfrm>
            <a:off x="19650405" y="35608001"/>
            <a:ext cx="124488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A modest level of vaccination </a:t>
            </a:r>
            <a:r>
              <a:rPr lang="en-US" sz="4000" dirty="0"/>
              <a:t>can prevent the emergence of a zoonosis with near-critical R.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1285FD64-40CE-EEE3-30AF-3C1D1EAE8FBE}"/>
              </a:ext>
            </a:extLst>
          </p:cNvPr>
          <p:cNvSpPr txBox="1"/>
          <p:nvPr/>
        </p:nvSpPr>
        <p:spPr>
          <a:xfrm>
            <a:off x="1172300" y="40096092"/>
            <a:ext cx="3097495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</a:rPr>
              <a:t>Preventing </a:t>
            </a:r>
            <a:r>
              <a:rPr lang="en-US" sz="7200" dirty="0">
                <a:solidFill>
                  <a:schemeClr val="bg1"/>
                </a:solidFill>
              </a:rPr>
              <a:t>the emergence of zoonotic disease requires </a:t>
            </a:r>
            <a:r>
              <a:rPr lang="en-US" sz="7200" b="1" dirty="0">
                <a:solidFill>
                  <a:schemeClr val="bg1"/>
                </a:solidFill>
              </a:rPr>
              <a:t>significantly less vaccination </a:t>
            </a:r>
            <a:r>
              <a:rPr lang="en-US" sz="7200" dirty="0">
                <a:solidFill>
                  <a:schemeClr val="bg1"/>
                </a:solidFill>
              </a:rPr>
              <a:t>than eradicating once endemic</a:t>
            </a:r>
            <a:r>
              <a:rPr lang="en-US" sz="7200" b="1" dirty="0">
                <a:solidFill>
                  <a:schemeClr val="bg1"/>
                </a:solidFill>
              </a:rPr>
              <a:t>. 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4CCD0B13-938A-744F-922C-88050811DCDD}"/>
              </a:ext>
            </a:extLst>
          </p:cNvPr>
          <p:cNvSpPr txBox="1"/>
          <p:nvPr/>
        </p:nvSpPr>
        <p:spPr>
          <a:xfrm>
            <a:off x="19545984" y="23442907"/>
            <a:ext cx="126368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/>
              <a:t>Calculating 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1FFBAF22-1EEC-F3B4-CCC2-134E692A02EC}"/>
              </a:ext>
            </a:extLst>
          </p:cNvPr>
          <p:cNvSpPr txBox="1"/>
          <p:nvPr/>
        </p:nvSpPr>
        <p:spPr>
          <a:xfrm>
            <a:off x="98183" y="6852294"/>
            <a:ext cx="1559818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Cora Hirst</a:t>
            </a:r>
            <a:r>
              <a:rPr lang="en-US" sz="4800" baseline="30000" dirty="0"/>
              <a:t>1</a:t>
            </a:r>
            <a:r>
              <a:rPr lang="en-US" sz="4800" dirty="0"/>
              <a:t>, Julia Deichmann</a:t>
            </a:r>
            <a:r>
              <a:rPr lang="en-US" sz="4800" baseline="30000" dirty="0"/>
              <a:t>2</a:t>
            </a:r>
            <a:r>
              <a:rPr lang="en-US" sz="4800" dirty="0"/>
              <a:t>, Rustom Antia</a:t>
            </a:r>
            <a:r>
              <a:rPr lang="en-US" sz="4800" baseline="30000" dirty="0"/>
              <a:t>1</a:t>
            </a:r>
          </a:p>
          <a:p>
            <a:endParaRPr lang="en-US" sz="4800" baseline="30000" dirty="0">
              <a:solidFill>
                <a:schemeClr val="tx2"/>
              </a:solidFill>
            </a:endParaRPr>
          </a:p>
          <a:p>
            <a:r>
              <a:rPr lang="en-US" sz="4800" baseline="30000" dirty="0">
                <a:solidFill>
                  <a:schemeClr val="tx2"/>
                </a:solidFill>
              </a:rPr>
              <a:t>(1) Emory University Department of Biology (2) Harvard T. Chan School of Public Health</a:t>
            </a:r>
          </a:p>
          <a:p>
            <a:endParaRPr lang="en-US" sz="4800" dirty="0"/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F637602E-53AD-B3EF-56B6-ACE05F900587}"/>
              </a:ext>
            </a:extLst>
          </p:cNvPr>
          <p:cNvSpPr txBox="1"/>
          <p:nvPr/>
        </p:nvSpPr>
        <p:spPr>
          <a:xfrm>
            <a:off x="330202" y="11318530"/>
            <a:ext cx="1888355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Cross-immunity arising from either natural infection or vaccine-induced immunity to Smallpox largely prevented zoonotic spillovers and human-human transmission of Mpox. Since the eradication of Smallpox in 1980, the dilution of the population with this cross-immunity over time has led to an increase in both the number of zoonotic cases and the transmission of Mpox in humans. </a:t>
            </a:r>
          </a:p>
          <a:p>
            <a:endParaRPr lang="en-US" sz="4000" dirty="0"/>
          </a:p>
          <a:p>
            <a:r>
              <a:rPr lang="en-US" sz="4000" dirty="0"/>
              <a:t>As a consequence, the threat of emergence of Mpox as a highly transmissible human pathogen is increasing. 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753800C5-6BE8-20BB-1EA5-CB994D88C041}"/>
              </a:ext>
            </a:extLst>
          </p:cNvPr>
          <p:cNvSpPr txBox="1"/>
          <p:nvPr/>
        </p:nvSpPr>
        <p:spPr>
          <a:xfrm>
            <a:off x="330202" y="16842918"/>
            <a:ext cx="822554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We used branching process models to explore the interplay between waning population immunity, evolutionary adaptation during outbreak, and the emergence of an evolved and highly transmissible Mpox virus.</a:t>
            </a: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00665EAC-87C2-A52C-AD62-F47ED7A6AB6A}"/>
              </a:ext>
            </a:extLst>
          </p:cNvPr>
          <p:cNvSpPr txBox="1"/>
          <p:nvPr/>
        </p:nvSpPr>
        <p:spPr>
          <a:xfrm>
            <a:off x="7004161" y="22277396"/>
            <a:ext cx="1169563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000" b="1" dirty="0"/>
              <a:t>Zoonotic disease transmission after spillover becomes more likely </a:t>
            </a:r>
            <a:r>
              <a:rPr lang="en-US" sz="4000" dirty="0"/>
              <a:t>as cross-protection to eradicated relative decays at the population level. </a:t>
            </a: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AB93D9AB-5B76-D5E3-987F-57E4DA6E8B09}"/>
              </a:ext>
            </a:extLst>
          </p:cNvPr>
          <p:cNvSpPr txBox="1"/>
          <p:nvPr/>
        </p:nvSpPr>
        <p:spPr>
          <a:xfrm>
            <a:off x="330202" y="9402763"/>
            <a:ext cx="18809042" cy="1641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6000"/>
              </a:lnSpc>
            </a:pPr>
            <a:r>
              <a:rPr lang="en-US" sz="6000" b="1" dirty="0"/>
              <a:t>Decaying immunity at the population level </a:t>
            </a:r>
            <a:r>
              <a:rPr lang="en-US" sz="6000" dirty="0"/>
              <a:t>increases the evolutionary potential of zoonotic pathogens. </a:t>
            </a:r>
            <a:endParaRPr lang="en-US" sz="6000" b="1" dirty="0"/>
          </a:p>
        </p:txBody>
      </p:sp>
      <p:pic>
        <p:nvPicPr>
          <p:cNvPr id="240" name="Picture 239" descr="A graph with lines and numbers&#10;&#10;AI-generated content may be incorrect.">
            <a:extLst>
              <a:ext uri="{FF2B5EF4-FFF2-40B4-BE49-F238E27FC236}">
                <a16:creationId xmlns:a16="http://schemas.microsoft.com/office/drawing/2014/main" id="{EFA8F422-0DDA-570D-CA6E-694EA04365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75804" y="11358212"/>
            <a:ext cx="12225848" cy="7928644"/>
          </a:xfrm>
          <a:prstGeom prst="rect">
            <a:avLst/>
          </a:prstGeom>
        </p:spPr>
      </p:pic>
      <p:sp>
        <p:nvSpPr>
          <p:cNvPr id="241" name="TextBox 240">
            <a:extLst>
              <a:ext uri="{FF2B5EF4-FFF2-40B4-BE49-F238E27FC236}">
                <a16:creationId xmlns:a16="http://schemas.microsoft.com/office/drawing/2014/main" id="{ADADD8EE-4F8E-4888-2090-0FEC425C57FD}"/>
              </a:ext>
            </a:extLst>
          </p:cNvPr>
          <p:cNvSpPr txBox="1"/>
          <p:nvPr/>
        </p:nvSpPr>
        <p:spPr>
          <a:xfrm>
            <a:off x="19639640" y="19462757"/>
            <a:ext cx="1274789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Probability of evolving a subcritical R. </a:t>
            </a:r>
            <a:r>
              <a:rPr lang="en-US" sz="4000" dirty="0"/>
              <a:t>Multi-type branching process model</a:t>
            </a:r>
            <a:r>
              <a:rPr lang="en-US" sz="4000" b="1" dirty="0"/>
              <a:t> </a:t>
            </a:r>
            <a:r>
              <a:rPr lang="en-US" sz="4000" dirty="0"/>
              <a:t>to describe the process of adaptive evolution of a zoonotic disease after spillover.  Delta R: proportional increase in transmissibility with mutation; mu: rate (per infection) of adaptation. </a:t>
            </a: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84D5C9B1-FA86-01C8-7010-C6C5695185C6}"/>
              </a:ext>
            </a:extLst>
          </p:cNvPr>
          <p:cNvSpPr txBox="1"/>
          <p:nvPr/>
        </p:nvSpPr>
        <p:spPr>
          <a:xfrm>
            <a:off x="19650405" y="9571170"/>
            <a:ext cx="12636842" cy="1641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6000"/>
              </a:lnSpc>
            </a:pPr>
            <a:r>
              <a:rPr lang="en-US" sz="6000" b="1" dirty="0"/>
              <a:t>Modeling adaptive evolution </a:t>
            </a:r>
            <a:r>
              <a:rPr lang="en-US" sz="6000" dirty="0"/>
              <a:t>during stochastic chains of transmission </a:t>
            </a: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5798ABC8-4736-80A3-16C4-6353CD9AAB77}"/>
              </a:ext>
            </a:extLst>
          </p:cNvPr>
          <p:cNvSpPr txBox="1"/>
          <p:nvPr/>
        </p:nvSpPr>
        <p:spPr>
          <a:xfrm>
            <a:off x="387990" y="25020086"/>
            <a:ext cx="1835789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b="1" dirty="0"/>
              <a:t>We develop an analogous framework to f = 1 − 1/R0 </a:t>
            </a:r>
          </a:p>
          <a:p>
            <a:r>
              <a:rPr lang="en-US" sz="4000" dirty="0"/>
              <a:t>to explore how vaccination </a:t>
            </a:r>
          </a:p>
          <a:p>
            <a:r>
              <a:rPr lang="en-US" sz="4000" dirty="0"/>
              <a:t>can prevent </a:t>
            </a:r>
            <a:r>
              <a:rPr lang="en-US" sz="4000" dirty="0" err="1"/>
              <a:t>th</a:t>
            </a:r>
            <a:r>
              <a:rPr lang="en-US" sz="4000" dirty="0"/>
              <a:t> evolution</a:t>
            </a:r>
          </a:p>
          <a:p>
            <a:r>
              <a:rPr lang="en-US" sz="4000" dirty="0"/>
              <a:t>and emergence of Mpox </a:t>
            </a:r>
          </a:p>
          <a:p>
            <a:r>
              <a:rPr lang="en-US" sz="4000" dirty="0"/>
              <a:t>into humans.</a:t>
            </a:r>
          </a:p>
        </p:txBody>
      </p:sp>
      <p:pic>
        <p:nvPicPr>
          <p:cNvPr id="247" name="Picture 246" descr="A screenshot of a graph&#10;&#10;AI-generated content may be incorrect.">
            <a:extLst>
              <a:ext uri="{FF2B5EF4-FFF2-40B4-BE49-F238E27FC236}">
                <a16:creationId xmlns:a16="http://schemas.microsoft.com/office/drawing/2014/main" id="{B11522A7-50D4-4F8B-5A77-B2BC1A66CE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0405" y="24683824"/>
            <a:ext cx="12252568" cy="10753128"/>
          </a:xfrm>
          <a:prstGeom prst="rect">
            <a:avLst/>
          </a:prstGeom>
        </p:spPr>
      </p:pic>
      <p:sp>
        <p:nvSpPr>
          <p:cNvPr id="248" name="TextBox 247">
            <a:extLst>
              <a:ext uri="{FF2B5EF4-FFF2-40B4-BE49-F238E27FC236}">
                <a16:creationId xmlns:a16="http://schemas.microsoft.com/office/drawing/2014/main" id="{03E8BB3C-5D5B-1DF2-2283-7D5F6FCBB8C8}"/>
              </a:ext>
            </a:extLst>
          </p:cNvPr>
          <p:cNvSpPr txBox="1"/>
          <p:nvPr/>
        </p:nvSpPr>
        <p:spPr>
          <a:xfrm>
            <a:off x="20564715" y="15329997"/>
            <a:ext cx="3352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P</a:t>
            </a:r>
            <a:r>
              <a:rPr lang="en-US" sz="2800" baseline="-25000" dirty="0" err="1"/>
              <a:t>Emergence</a:t>
            </a:r>
            <a:r>
              <a:rPr lang="en-US" sz="2800" dirty="0"/>
              <a:t>(R</a:t>
            </a:r>
            <a:r>
              <a:rPr lang="en-US" sz="2800" baseline="-25000" dirty="0"/>
              <a:t>T</a:t>
            </a:r>
            <a:r>
              <a:rPr lang="en-US" sz="2800" dirty="0"/>
              <a:t>)</a:t>
            </a:r>
            <a:r>
              <a:rPr lang="en-US" sz="2800" baseline="-25000" dirty="0"/>
              <a:t> </a:t>
            </a:r>
            <a:r>
              <a:rPr lang="en-US" sz="2800" dirty="0"/>
              <a:t>= 10</a:t>
            </a:r>
            <a:r>
              <a:rPr lang="en-US" sz="2800" baseline="30000" dirty="0"/>
              <a:t>-5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904245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AD9407-AFA2-9345-7683-164D8F967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6" name="Group 10">
            <a:extLst>
              <a:ext uri="{FF2B5EF4-FFF2-40B4-BE49-F238E27FC236}">
                <a16:creationId xmlns:a16="http://schemas.microsoft.com/office/drawing/2014/main" id="{2E8889A4-AD08-002D-311C-89737DE7E900}"/>
              </a:ext>
            </a:extLst>
          </p:cNvPr>
          <p:cNvGrpSpPr/>
          <p:nvPr/>
        </p:nvGrpSpPr>
        <p:grpSpPr>
          <a:xfrm>
            <a:off x="-56" y="7844508"/>
            <a:ext cx="32918337" cy="36206136"/>
            <a:chOff x="0" y="-93394"/>
            <a:chExt cx="14643633" cy="1709221"/>
          </a:xfrm>
          <a:solidFill>
            <a:schemeClr val="bg1"/>
          </a:solidFill>
        </p:grpSpPr>
        <p:sp>
          <p:nvSpPr>
            <p:cNvPr id="197" name="Freeform 11">
              <a:extLst>
                <a:ext uri="{FF2B5EF4-FFF2-40B4-BE49-F238E27FC236}">
                  <a16:creationId xmlns:a16="http://schemas.microsoft.com/office/drawing/2014/main" id="{BEF18B28-1D1A-9CE7-73E4-824C3E55B158}"/>
                </a:ext>
              </a:extLst>
            </p:cNvPr>
            <p:cNvSpPr/>
            <p:nvPr/>
          </p:nvSpPr>
          <p:spPr>
            <a:xfrm>
              <a:off x="0" y="0"/>
              <a:ext cx="14643608" cy="1615821"/>
            </a:xfrm>
            <a:custGeom>
              <a:avLst/>
              <a:gdLst/>
              <a:ahLst/>
              <a:cxnLst/>
              <a:rect l="l" t="t" r="r" b="b"/>
              <a:pathLst>
                <a:path w="14643608" h="1615821">
                  <a:moveTo>
                    <a:pt x="0" y="0"/>
                  </a:moveTo>
                  <a:lnTo>
                    <a:pt x="14643608" y="0"/>
                  </a:lnTo>
                  <a:lnTo>
                    <a:pt x="14643608" y="1615821"/>
                  </a:lnTo>
                  <a:lnTo>
                    <a:pt x="0" y="1615821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sz="1350" dirty="0"/>
            </a:p>
          </p:txBody>
        </p:sp>
        <p:sp>
          <p:nvSpPr>
            <p:cNvPr id="198" name="TextBox 12">
              <a:extLst>
                <a:ext uri="{FF2B5EF4-FFF2-40B4-BE49-F238E27FC236}">
                  <a16:creationId xmlns:a16="http://schemas.microsoft.com/office/drawing/2014/main" id="{E0C0E7DE-6399-595C-A3EC-C0111E9E401D}"/>
                </a:ext>
              </a:extLst>
            </p:cNvPr>
            <p:cNvSpPr txBox="1"/>
            <p:nvPr/>
          </p:nvSpPr>
          <p:spPr>
            <a:xfrm>
              <a:off x="0" y="-93394"/>
              <a:ext cx="14643633" cy="1709221"/>
            </a:xfrm>
            <a:prstGeom prst="rect">
              <a:avLst/>
            </a:prstGeom>
            <a:grpFill/>
          </p:spPr>
          <p:txBody>
            <a:bodyPr lIns="42863" tIns="42863" rIns="42863" bIns="42863" rtlCol="0" anchor="ctr"/>
            <a:lstStyle/>
            <a:p>
              <a:pPr algn="ctr">
                <a:lnSpc>
                  <a:spcPts val="5315"/>
                </a:lnSpc>
              </a:pPr>
              <a:endParaRPr lang="en-US" sz="4430" spc="41" dirty="0">
                <a:solidFill>
                  <a:srgbClr val="000000"/>
                </a:solidFill>
                <a:latin typeface="Calibri (MS) Bold"/>
              </a:endParaRPr>
            </a:p>
          </p:txBody>
        </p:sp>
      </p:grpSp>
      <p:grpSp>
        <p:nvGrpSpPr>
          <p:cNvPr id="28" name="Group 10">
            <a:extLst>
              <a:ext uri="{FF2B5EF4-FFF2-40B4-BE49-F238E27FC236}">
                <a16:creationId xmlns:a16="http://schemas.microsoft.com/office/drawing/2014/main" id="{37A0A4D0-1D85-7691-C62E-3A3F96417BDE}"/>
              </a:ext>
            </a:extLst>
          </p:cNvPr>
          <p:cNvGrpSpPr/>
          <p:nvPr/>
        </p:nvGrpSpPr>
        <p:grpSpPr>
          <a:xfrm>
            <a:off x="0" y="6400800"/>
            <a:ext cx="32918400" cy="2585346"/>
            <a:chOff x="0" y="0"/>
            <a:chExt cx="14643633" cy="1615827"/>
          </a:xfrm>
          <a:solidFill>
            <a:srgbClr val="FFBA00"/>
          </a:solidFill>
        </p:grpSpPr>
        <p:sp>
          <p:nvSpPr>
            <p:cNvPr id="42" name="Freeform 11">
              <a:extLst>
                <a:ext uri="{FF2B5EF4-FFF2-40B4-BE49-F238E27FC236}">
                  <a16:creationId xmlns:a16="http://schemas.microsoft.com/office/drawing/2014/main" id="{A8982CD6-F2C0-F072-6F6E-4871FE9D9262}"/>
                </a:ext>
              </a:extLst>
            </p:cNvPr>
            <p:cNvSpPr/>
            <p:nvPr/>
          </p:nvSpPr>
          <p:spPr>
            <a:xfrm>
              <a:off x="0" y="0"/>
              <a:ext cx="14643608" cy="1615821"/>
            </a:xfrm>
            <a:custGeom>
              <a:avLst/>
              <a:gdLst/>
              <a:ahLst/>
              <a:cxnLst/>
              <a:rect l="l" t="t" r="r" b="b"/>
              <a:pathLst>
                <a:path w="14643608" h="1615821">
                  <a:moveTo>
                    <a:pt x="0" y="0"/>
                  </a:moveTo>
                  <a:lnTo>
                    <a:pt x="14643608" y="0"/>
                  </a:lnTo>
                  <a:lnTo>
                    <a:pt x="14643608" y="1615821"/>
                  </a:lnTo>
                  <a:lnTo>
                    <a:pt x="0" y="1615821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sz="1350" dirty="0"/>
            </a:p>
          </p:txBody>
        </p:sp>
        <p:sp>
          <p:nvSpPr>
            <p:cNvPr id="44" name="TextBox 12">
              <a:extLst>
                <a:ext uri="{FF2B5EF4-FFF2-40B4-BE49-F238E27FC236}">
                  <a16:creationId xmlns:a16="http://schemas.microsoft.com/office/drawing/2014/main" id="{E30DE460-AC50-975D-EC53-9722363FF0A0}"/>
                </a:ext>
              </a:extLst>
            </p:cNvPr>
            <p:cNvSpPr txBox="1"/>
            <p:nvPr/>
          </p:nvSpPr>
          <p:spPr>
            <a:xfrm>
              <a:off x="0" y="-123825"/>
              <a:ext cx="14643633" cy="1739652"/>
            </a:xfrm>
            <a:prstGeom prst="rect">
              <a:avLst/>
            </a:prstGeom>
            <a:grpFill/>
          </p:spPr>
          <p:txBody>
            <a:bodyPr lIns="42863" tIns="42863" rIns="42863" bIns="42863" rtlCol="0" anchor="ctr"/>
            <a:lstStyle/>
            <a:p>
              <a:pPr algn="ctr">
                <a:lnSpc>
                  <a:spcPts val="5315"/>
                </a:lnSpc>
              </a:pPr>
              <a:endParaRPr lang="en-US" sz="4430" spc="41" dirty="0">
                <a:solidFill>
                  <a:srgbClr val="000000"/>
                </a:solidFill>
                <a:latin typeface="Calibri (MS) Bold"/>
              </a:endParaRPr>
            </a:p>
          </p:txBody>
        </p:sp>
      </p:grpSp>
      <p:sp>
        <p:nvSpPr>
          <p:cNvPr id="176" name="TextBox 175">
            <a:extLst>
              <a:ext uri="{FF2B5EF4-FFF2-40B4-BE49-F238E27FC236}">
                <a16:creationId xmlns:a16="http://schemas.microsoft.com/office/drawing/2014/main" id="{DF5F62CE-27F8-B0AE-584D-623E4F377B76}"/>
              </a:ext>
            </a:extLst>
          </p:cNvPr>
          <p:cNvSpPr txBox="1"/>
          <p:nvPr/>
        </p:nvSpPr>
        <p:spPr>
          <a:xfrm>
            <a:off x="20726400" y="7467600"/>
            <a:ext cx="640414" cy="1569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solidFill>
                  <a:schemeClr val="bg1"/>
                </a:solidFill>
              </a:rPr>
              <a:t>†</a:t>
            </a:r>
          </a:p>
        </p:txBody>
      </p:sp>
      <p:sp>
        <p:nvSpPr>
          <p:cNvPr id="177" name="TextBox 12">
            <a:extLst>
              <a:ext uri="{FF2B5EF4-FFF2-40B4-BE49-F238E27FC236}">
                <a16:creationId xmlns:a16="http://schemas.microsoft.com/office/drawing/2014/main" id="{3B5CD987-2B9C-D87B-B526-9D4E04DBA095}"/>
              </a:ext>
            </a:extLst>
          </p:cNvPr>
          <p:cNvSpPr txBox="1"/>
          <p:nvPr/>
        </p:nvSpPr>
        <p:spPr>
          <a:xfrm>
            <a:off x="817482" y="2118146"/>
            <a:ext cx="26574869" cy="3292054"/>
          </a:xfrm>
          <a:prstGeom prst="rect">
            <a:avLst/>
          </a:prstGeom>
        </p:spPr>
        <p:txBody>
          <a:bodyPr lIns="42863" tIns="42863" rIns="42863" bIns="42863" rtlCol="0" anchor="ctr"/>
          <a:lstStyle/>
          <a:p>
            <a:r>
              <a:rPr lang="en-US" sz="9600" spc="41" dirty="0">
                <a:solidFill>
                  <a:schemeClr val="bg2"/>
                </a:solidFill>
                <a:latin typeface="Calibri (MS) Bold"/>
              </a:rPr>
              <a:t>Can we stop vaccinating against </a:t>
            </a:r>
          </a:p>
          <a:p>
            <a:r>
              <a:rPr lang="en-US" sz="9600" spc="41" dirty="0">
                <a:solidFill>
                  <a:schemeClr val="bg2"/>
                </a:solidFill>
                <a:latin typeface="Calibri (MS) Bold"/>
              </a:rPr>
              <a:t>pox viruses?</a:t>
            </a:r>
          </a:p>
        </p:txBody>
      </p:sp>
      <p:sp>
        <p:nvSpPr>
          <p:cNvPr id="178" name="TextBox 12">
            <a:extLst>
              <a:ext uri="{FF2B5EF4-FFF2-40B4-BE49-F238E27FC236}">
                <a16:creationId xmlns:a16="http://schemas.microsoft.com/office/drawing/2014/main" id="{D4BF29D1-88D1-0278-C57B-14DB5C7C35C7}"/>
              </a:ext>
            </a:extLst>
          </p:cNvPr>
          <p:cNvSpPr txBox="1"/>
          <p:nvPr/>
        </p:nvSpPr>
        <p:spPr>
          <a:xfrm>
            <a:off x="715936" y="-224412"/>
            <a:ext cx="26574869" cy="3292054"/>
          </a:xfrm>
          <a:prstGeom prst="rect">
            <a:avLst/>
          </a:prstGeom>
        </p:spPr>
        <p:txBody>
          <a:bodyPr lIns="42863" tIns="42863" rIns="42863" bIns="42863" rtlCol="0" anchor="ctr"/>
          <a:lstStyle/>
          <a:p>
            <a:r>
              <a:rPr lang="en-US" sz="11500" spc="41" dirty="0">
                <a:solidFill>
                  <a:schemeClr val="bg1">
                    <a:lumMod val="95000"/>
                  </a:schemeClr>
                </a:solidFill>
                <a:latin typeface="Calibri (MS) Bold"/>
              </a:rPr>
              <a:t>Vaccination to Prevent Disease Emergence</a:t>
            </a:r>
          </a:p>
        </p:txBody>
      </p:sp>
      <p:grpSp>
        <p:nvGrpSpPr>
          <p:cNvPr id="199" name="Group 10">
            <a:extLst>
              <a:ext uri="{FF2B5EF4-FFF2-40B4-BE49-F238E27FC236}">
                <a16:creationId xmlns:a16="http://schemas.microsoft.com/office/drawing/2014/main" id="{3DB23B43-7B4E-443A-C41F-6DDFA3470C6D}"/>
              </a:ext>
            </a:extLst>
          </p:cNvPr>
          <p:cNvGrpSpPr/>
          <p:nvPr/>
        </p:nvGrpSpPr>
        <p:grpSpPr>
          <a:xfrm>
            <a:off x="19230508" y="9288946"/>
            <a:ext cx="13357690" cy="30231923"/>
            <a:chOff x="0" y="-93394"/>
            <a:chExt cx="14866869" cy="1709221"/>
          </a:xfrm>
          <a:solidFill>
            <a:schemeClr val="bg2"/>
          </a:solidFill>
        </p:grpSpPr>
        <p:sp>
          <p:nvSpPr>
            <p:cNvPr id="200" name="Freeform 11">
              <a:extLst>
                <a:ext uri="{FF2B5EF4-FFF2-40B4-BE49-F238E27FC236}">
                  <a16:creationId xmlns:a16="http://schemas.microsoft.com/office/drawing/2014/main" id="{6E3979B3-A320-1E0E-92BD-40FC990B5599}"/>
                </a:ext>
              </a:extLst>
            </p:cNvPr>
            <p:cNvSpPr/>
            <p:nvPr/>
          </p:nvSpPr>
          <p:spPr>
            <a:xfrm>
              <a:off x="0" y="0"/>
              <a:ext cx="14643608" cy="1615821"/>
            </a:xfrm>
            <a:custGeom>
              <a:avLst/>
              <a:gdLst/>
              <a:ahLst/>
              <a:cxnLst/>
              <a:rect l="l" t="t" r="r" b="b"/>
              <a:pathLst>
                <a:path w="14643608" h="1615821">
                  <a:moveTo>
                    <a:pt x="0" y="0"/>
                  </a:moveTo>
                  <a:lnTo>
                    <a:pt x="14643608" y="0"/>
                  </a:lnTo>
                  <a:lnTo>
                    <a:pt x="14643608" y="1615821"/>
                  </a:lnTo>
                  <a:lnTo>
                    <a:pt x="0" y="1615821"/>
                  </a:lnTo>
                  <a:close/>
                </a:path>
              </a:pathLst>
            </a:custGeom>
            <a:grpFill/>
            <a:ln>
              <a:solidFill>
                <a:schemeClr val="bg2"/>
              </a:solidFill>
            </a:ln>
          </p:spPr>
          <p:txBody>
            <a:bodyPr/>
            <a:lstStyle/>
            <a:p>
              <a:endParaRPr lang="en-US" sz="1350" dirty="0"/>
            </a:p>
          </p:txBody>
        </p:sp>
        <p:sp>
          <p:nvSpPr>
            <p:cNvPr id="201" name="TextBox 12">
              <a:extLst>
                <a:ext uri="{FF2B5EF4-FFF2-40B4-BE49-F238E27FC236}">
                  <a16:creationId xmlns:a16="http://schemas.microsoft.com/office/drawing/2014/main" id="{05B2D32F-613D-26EE-2E8A-87C541BF4C8A}"/>
                </a:ext>
              </a:extLst>
            </p:cNvPr>
            <p:cNvSpPr txBox="1"/>
            <p:nvPr/>
          </p:nvSpPr>
          <p:spPr>
            <a:xfrm>
              <a:off x="0" y="-93394"/>
              <a:ext cx="14866869" cy="1709221"/>
            </a:xfrm>
            <a:prstGeom prst="rect">
              <a:avLst/>
            </a:prstGeom>
            <a:grpFill/>
            <a:ln>
              <a:solidFill>
                <a:schemeClr val="bg2"/>
              </a:solidFill>
            </a:ln>
          </p:spPr>
          <p:txBody>
            <a:bodyPr lIns="42863" tIns="42863" rIns="42863" bIns="42863" rtlCol="0" anchor="ctr"/>
            <a:lstStyle/>
            <a:p>
              <a:pPr algn="ctr">
                <a:lnSpc>
                  <a:spcPts val="5315"/>
                </a:lnSpc>
              </a:pPr>
              <a:endParaRPr lang="en-US" sz="4430" spc="41" dirty="0">
                <a:solidFill>
                  <a:srgbClr val="000000"/>
                </a:solidFill>
                <a:latin typeface="Calibri (MS) Bold"/>
              </a:endParaRPr>
            </a:p>
          </p:txBody>
        </p:sp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2617D9AB-797C-A1ED-F314-2301EDADDBF4}"/>
              </a:ext>
            </a:extLst>
          </p:cNvPr>
          <p:cNvGrpSpPr/>
          <p:nvPr/>
        </p:nvGrpSpPr>
        <p:grpSpPr>
          <a:xfrm>
            <a:off x="7239000" y="1335255"/>
            <a:ext cx="24540877" cy="7395231"/>
            <a:chOff x="7903512" y="165324"/>
            <a:chExt cx="24540877" cy="7395231"/>
          </a:xfrm>
        </p:grpSpPr>
        <p:grpSp>
          <p:nvGrpSpPr>
            <p:cNvPr id="158" name="Group 157">
              <a:extLst>
                <a:ext uri="{FF2B5EF4-FFF2-40B4-BE49-F238E27FC236}">
                  <a16:creationId xmlns:a16="http://schemas.microsoft.com/office/drawing/2014/main" id="{32C9A2CB-B506-A748-586A-F383A563F0F6}"/>
                </a:ext>
              </a:extLst>
            </p:cNvPr>
            <p:cNvGrpSpPr/>
            <p:nvPr/>
          </p:nvGrpSpPr>
          <p:grpSpPr>
            <a:xfrm rot="16200000">
              <a:off x="15316598" y="-7247762"/>
              <a:ext cx="7395231" cy="22221404"/>
              <a:chOff x="4304531" y="396062"/>
              <a:chExt cx="1457351" cy="4524127"/>
            </a:xfrm>
          </p:grpSpPr>
          <p:cxnSp>
            <p:nvCxnSpPr>
              <p:cNvPr id="159" name="Straight Arrow Connector 158">
                <a:extLst>
                  <a:ext uri="{FF2B5EF4-FFF2-40B4-BE49-F238E27FC236}">
                    <a16:creationId xmlns:a16="http://schemas.microsoft.com/office/drawing/2014/main" id="{2E16934F-FA75-8261-EE16-4EECFADBA8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93666" y="664142"/>
                <a:ext cx="0" cy="496430"/>
              </a:xfrm>
              <a:prstGeom prst="straightConnector1">
                <a:avLst/>
              </a:prstGeom>
              <a:ln w="76200">
                <a:solidFill>
                  <a:schemeClr val="bg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0" name="Oval 159">
                <a:extLst>
                  <a:ext uri="{FF2B5EF4-FFF2-40B4-BE49-F238E27FC236}">
                    <a16:creationId xmlns:a16="http://schemas.microsoft.com/office/drawing/2014/main" id="{DD524979-1D58-A3A7-B9A4-B0BDF20D7566}"/>
                  </a:ext>
                </a:extLst>
              </p:cNvPr>
              <p:cNvSpPr/>
              <p:nvPr/>
            </p:nvSpPr>
            <p:spPr>
              <a:xfrm>
                <a:off x="4714294" y="396062"/>
                <a:ext cx="205539" cy="190500"/>
              </a:xfrm>
              <a:prstGeom prst="ellipse">
                <a:avLst/>
              </a:prstGeom>
              <a:solidFill>
                <a:schemeClr val="accent3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30A8F7A2-6882-E2FA-773B-FF1C6F547DE2}"/>
                  </a:ext>
                </a:extLst>
              </p:cNvPr>
              <p:cNvSpPr/>
              <p:nvPr/>
            </p:nvSpPr>
            <p:spPr>
              <a:xfrm>
                <a:off x="4714294" y="1264834"/>
                <a:ext cx="205539" cy="190500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62" name="Straight Arrow Connector 161">
                <a:extLst>
                  <a:ext uri="{FF2B5EF4-FFF2-40B4-BE49-F238E27FC236}">
                    <a16:creationId xmlns:a16="http://schemas.microsoft.com/office/drawing/2014/main" id="{B7FEEB00-0904-58D7-2500-E5AAB480F9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93666" y="1532917"/>
                <a:ext cx="0" cy="496428"/>
              </a:xfrm>
              <a:prstGeom prst="straightConnector1">
                <a:avLst/>
              </a:prstGeom>
              <a:ln w="76200">
                <a:solidFill>
                  <a:schemeClr val="bg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7FE442FD-60DD-04C1-7550-2BE68231F5E2}"/>
                  </a:ext>
                </a:extLst>
              </p:cNvPr>
              <p:cNvSpPr/>
              <p:nvPr/>
            </p:nvSpPr>
            <p:spPr>
              <a:xfrm>
                <a:off x="4707790" y="2117924"/>
                <a:ext cx="205539" cy="190500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64" name="Straight Arrow Connector 163">
                <a:extLst>
                  <a:ext uri="{FF2B5EF4-FFF2-40B4-BE49-F238E27FC236}">
                    <a16:creationId xmlns:a16="http://schemas.microsoft.com/office/drawing/2014/main" id="{BC42BB87-EEE0-42FD-156A-CC8BDE1463DE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4374648" y="2475878"/>
                <a:ext cx="436670" cy="227711"/>
              </a:xfrm>
              <a:prstGeom prst="straightConnector1">
                <a:avLst/>
              </a:prstGeom>
              <a:ln w="76200">
                <a:solidFill>
                  <a:schemeClr val="bg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5" name="Straight Arrow Connector 164">
                <a:extLst>
                  <a:ext uri="{FF2B5EF4-FFF2-40B4-BE49-F238E27FC236}">
                    <a16:creationId xmlns:a16="http://schemas.microsoft.com/office/drawing/2014/main" id="{417CAEF7-8ACD-962B-424F-D38EDC6062A9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4756278" y="2484115"/>
                <a:ext cx="450566" cy="225134"/>
              </a:xfrm>
              <a:prstGeom prst="straightConnector1">
                <a:avLst/>
              </a:prstGeom>
              <a:ln w="76200">
                <a:solidFill>
                  <a:schemeClr val="bg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6" name="Oval 165">
                <a:extLst>
                  <a:ext uri="{FF2B5EF4-FFF2-40B4-BE49-F238E27FC236}">
                    <a16:creationId xmlns:a16="http://schemas.microsoft.com/office/drawing/2014/main" id="{75A5BE69-9B80-0A31-25E4-B13234140BD6}"/>
                  </a:ext>
                </a:extLst>
              </p:cNvPr>
              <p:cNvSpPr/>
              <p:nvPr/>
            </p:nvSpPr>
            <p:spPr>
              <a:xfrm>
                <a:off x="4304531" y="2827690"/>
                <a:ext cx="205539" cy="190500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537600FE-B3A1-56FD-3DF5-5811FD6F9A37}"/>
                  </a:ext>
                </a:extLst>
              </p:cNvPr>
              <p:cNvSpPr/>
              <p:nvPr/>
            </p:nvSpPr>
            <p:spPr>
              <a:xfrm>
                <a:off x="5062818" y="2897308"/>
                <a:ext cx="205539" cy="190500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68" name="Straight Arrow Connector 167">
                <a:extLst>
                  <a:ext uri="{FF2B5EF4-FFF2-40B4-BE49-F238E27FC236}">
                    <a16:creationId xmlns:a16="http://schemas.microsoft.com/office/drawing/2014/main" id="{C85C330C-A696-1F2A-2C9D-0F387DD1DA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3987" y="3192880"/>
                <a:ext cx="0" cy="496428"/>
              </a:xfrm>
              <a:prstGeom prst="straightConnector1">
                <a:avLst/>
              </a:prstGeom>
              <a:ln w="76200">
                <a:solidFill>
                  <a:schemeClr val="bg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9" name="Oval 168">
                <a:extLst>
                  <a:ext uri="{FF2B5EF4-FFF2-40B4-BE49-F238E27FC236}">
                    <a16:creationId xmlns:a16="http://schemas.microsoft.com/office/drawing/2014/main" id="{67AD3D18-B6A8-E41D-2213-E332036A8027}"/>
                  </a:ext>
                </a:extLst>
              </p:cNvPr>
              <p:cNvSpPr/>
              <p:nvPr/>
            </p:nvSpPr>
            <p:spPr>
              <a:xfrm>
                <a:off x="5087890" y="3760560"/>
                <a:ext cx="205539" cy="190500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70" name="Straight Arrow Connector 169">
                <a:extLst>
                  <a:ext uri="{FF2B5EF4-FFF2-40B4-BE49-F238E27FC236}">
                    <a16:creationId xmlns:a16="http://schemas.microsoft.com/office/drawing/2014/main" id="{99DD7BBF-1E4A-C9C7-51DA-0D2A16739AEF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4757753" y="4082426"/>
                <a:ext cx="442840" cy="267314"/>
              </a:xfrm>
              <a:prstGeom prst="straightConnector1">
                <a:avLst/>
              </a:prstGeom>
              <a:ln w="76200">
                <a:solidFill>
                  <a:schemeClr val="bg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1" name="Straight Arrow Connector 170">
                <a:extLst>
                  <a:ext uri="{FF2B5EF4-FFF2-40B4-BE49-F238E27FC236}">
                    <a16:creationId xmlns:a16="http://schemas.microsoft.com/office/drawing/2014/main" id="{85105659-0989-B94B-FF98-33D3F35548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68380" y="3994990"/>
                <a:ext cx="275737" cy="442513"/>
              </a:xfrm>
              <a:prstGeom prst="straightConnector1">
                <a:avLst/>
              </a:prstGeom>
              <a:ln w="76200">
                <a:solidFill>
                  <a:schemeClr val="bg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2" name="Oval 171">
                <a:extLst>
                  <a:ext uri="{FF2B5EF4-FFF2-40B4-BE49-F238E27FC236}">
                    <a16:creationId xmlns:a16="http://schemas.microsoft.com/office/drawing/2014/main" id="{092A8B56-48D8-C7A1-2DBA-86F0E5F597A8}"/>
                  </a:ext>
                </a:extLst>
              </p:cNvPr>
              <p:cNvSpPr/>
              <p:nvPr/>
            </p:nvSpPr>
            <p:spPr>
              <a:xfrm>
                <a:off x="4707790" y="4503470"/>
                <a:ext cx="205539" cy="190500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3" name="Oval 172">
                <a:extLst>
                  <a:ext uri="{FF2B5EF4-FFF2-40B4-BE49-F238E27FC236}">
                    <a16:creationId xmlns:a16="http://schemas.microsoft.com/office/drawing/2014/main" id="{C7527185-DC05-CE24-2045-25F1EE6E841F}"/>
                  </a:ext>
                </a:extLst>
              </p:cNvPr>
              <p:cNvSpPr/>
              <p:nvPr/>
            </p:nvSpPr>
            <p:spPr>
              <a:xfrm>
                <a:off x="5504131" y="4481433"/>
                <a:ext cx="205539" cy="190500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0B157164-18FD-C2CD-69E7-54340C616298}"/>
                  </a:ext>
                </a:extLst>
              </p:cNvPr>
              <p:cNvSpPr txBox="1"/>
              <p:nvPr/>
            </p:nvSpPr>
            <p:spPr>
              <a:xfrm rot="5400000">
                <a:off x="5542027" y="4700333"/>
                <a:ext cx="130384" cy="3093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600" dirty="0">
                    <a:solidFill>
                      <a:schemeClr val="bg1">
                        <a:lumMod val="95000"/>
                      </a:schemeClr>
                    </a:solidFill>
                  </a:rPr>
                  <a:t>†</a:t>
                </a:r>
              </a:p>
            </p:txBody>
          </p:sp>
        </p:grpSp>
        <p:cxnSp>
          <p:nvCxnSpPr>
            <p:cNvPr id="179" name="Straight Arrow Connector 178">
              <a:extLst>
                <a:ext uri="{FF2B5EF4-FFF2-40B4-BE49-F238E27FC236}">
                  <a16:creationId xmlns:a16="http://schemas.microsoft.com/office/drawing/2014/main" id="{8546675E-1288-E602-2813-688B4FF6C28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9571754" y="2813247"/>
              <a:ext cx="1399209" cy="2173516"/>
            </a:xfrm>
            <a:prstGeom prst="straightConnector1">
              <a:avLst/>
            </a:prstGeom>
            <a:ln w="76200">
              <a:solidFill>
                <a:schemeClr val="bg1">
                  <a:lumMod val="9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0" name="Straight Arrow Connector 179">
              <a:extLst>
                <a:ext uri="{FF2B5EF4-FFF2-40B4-BE49-F238E27FC236}">
                  <a16:creationId xmlns:a16="http://schemas.microsoft.com/office/drawing/2014/main" id="{C7AA67C4-2158-A671-47FD-89275962B6D6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29604031" y="5083505"/>
              <a:ext cx="1399209" cy="2173516"/>
            </a:xfrm>
            <a:prstGeom prst="straightConnector1">
              <a:avLst/>
            </a:prstGeom>
            <a:ln w="76200">
              <a:solidFill>
                <a:schemeClr val="bg1">
                  <a:lumMod val="9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B969D80B-2A75-F858-F105-3144C5EC3662}"/>
                </a:ext>
              </a:extLst>
            </p:cNvPr>
            <p:cNvSpPr/>
            <p:nvPr/>
          </p:nvSpPr>
          <p:spPr>
            <a:xfrm rot="16200000">
              <a:off x="31455048" y="2439658"/>
              <a:ext cx="1042994" cy="935689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BB40F493-839A-5DDD-3C45-9E0D7E6E71AD}"/>
                </a:ext>
              </a:extLst>
            </p:cNvPr>
            <p:cNvSpPr/>
            <p:nvPr/>
          </p:nvSpPr>
          <p:spPr>
            <a:xfrm rot="16200000">
              <a:off x="31455048" y="6524738"/>
              <a:ext cx="1042994" cy="935689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0" name="Freeform 11">
            <a:extLst>
              <a:ext uri="{FF2B5EF4-FFF2-40B4-BE49-F238E27FC236}">
                <a16:creationId xmlns:a16="http://schemas.microsoft.com/office/drawing/2014/main" id="{F2736B22-55DD-6226-8B2F-E6683A20353A}"/>
              </a:ext>
            </a:extLst>
          </p:cNvPr>
          <p:cNvSpPr/>
          <p:nvPr/>
        </p:nvSpPr>
        <p:spPr>
          <a:xfrm>
            <a:off x="326070" y="39769211"/>
            <a:ext cx="32262128" cy="3962817"/>
          </a:xfrm>
          <a:custGeom>
            <a:avLst/>
            <a:gdLst/>
            <a:ahLst/>
            <a:cxnLst/>
            <a:rect l="l" t="t" r="r" b="b"/>
            <a:pathLst>
              <a:path w="14643608" h="1615821">
                <a:moveTo>
                  <a:pt x="0" y="0"/>
                </a:moveTo>
                <a:lnTo>
                  <a:pt x="14643608" y="0"/>
                </a:lnTo>
                <a:lnTo>
                  <a:pt x="14643608" y="1615821"/>
                </a:lnTo>
                <a:lnTo>
                  <a:pt x="0" y="1615821"/>
                </a:lnTo>
                <a:close/>
              </a:path>
            </a:pathLst>
          </a:custGeom>
          <a:solidFill>
            <a:srgbClr val="002060"/>
          </a:solidFill>
        </p:spPr>
        <p:txBody>
          <a:bodyPr/>
          <a:lstStyle/>
          <a:p>
            <a:endParaRPr lang="en-US" sz="1350" dirty="0"/>
          </a:p>
        </p:txBody>
      </p:sp>
      <p:pic>
        <p:nvPicPr>
          <p:cNvPr id="216" name="Picture 215" descr="A diagram of a curve&#10;&#10;AI-generated content may be incorrect.">
            <a:extLst>
              <a:ext uri="{FF2B5EF4-FFF2-40B4-BE49-F238E27FC236}">
                <a16:creationId xmlns:a16="http://schemas.microsoft.com/office/drawing/2014/main" id="{CFC4FF4A-F91A-D48D-E9D7-9A411F8A29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363" y="31213611"/>
            <a:ext cx="12204589" cy="4903595"/>
          </a:xfrm>
          <a:prstGeom prst="rect">
            <a:avLst/>
          </a:prstGeom>
        </p:spPr>
      </p:pic>
      <p:sp>
        <p:nvSpPr>
          <p:cNvPr id="229" name="TextBox 228">
            <a:extLst>
              <a:ext uri="{FF2B5EF4-FFF2-40B4-BE49-F238E27FC236}">
                <a16:creationId xmlns:a16="http://schemas.microsoft.com/office/drawing/2014/main" id="{1CCC7717-7783-F93A-256C-CD32740D3B38}"/>
              </a:ext>
            </a:extLst>
          </p:cNvPr>
          <p:cNvSpPr txBox="1"/>
          <p:nvPr/>
        </p:nvSpPr>
        <p:spPr>
          <a:xfrm>
            <a:off x="19650404" y="36076728"/>
            <a:ext cx="124488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A modest level of vaccination </a:t>
            </a:r>
            <a:r>
              <a:rPr lang="en-US" sz="4000" dirty="0"/>
              <a:t>can prevent the emergence of a zoonosis with near-critical R.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6F35916B-7ACE-82F7-FA59-1903780B023A}"/>
              </a:ext>
            </a:extLst>
          </p:cNvPr>
          <p:cNvSpPr txBox="1"/>
          <p:nvPr/>
        </p:nvSpPr>
        <p:spPr>
          <a:xfrm>
            <a:off x="1172300" y="40096092"/>
            <a:ext cx="3097495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</a:rPr>
              <a:t>Preventing </a:t>
            </a:r>
            <a:r>
              <a:rPr lang="en-US" sz="7200" dirty="0">
                <a:solidFill>
                  <a:schemeClr val="bg1"/>
                </a:solidFill>
              </a:rPr>
              <a:t>the emergence of zoonotic disease requires </a:t>
            </a:r>
            <a:r>
              <a:rPr lang="en-US" sz="7200" b="1" dirty="0">
                <a:solidFill>
                  <a:schemeClr val="bg1"/>
                </a:solidFill>
              </a:rPr>
              <a:t>significantly less vaccination </a:t>
            </a:r>
            <a:r>
              <a:rPr lang="en-US" sz="7200" dirty="0">
                <a:solidFill>
                  <a:schemeClr val="bg1"/>
                </a:solidFill>
              </a:rPr>
              <a:t>than eradicating once endemic</a:t>
            </a:r>
            <a:r>
              <a:rPr lang="en-US" sz="7200" b="1" dirty="0">
                <a:solidFill>
                  <a:schemeClr val="bg1"/>
                </a:solidFill>
              </a:rPr>
              <a:t>. 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86D453A6-00EF-7F97-24D9-A3C8F828C144}"/>
              </a:ext>
            </a:extLst>
          </p:cNvPr>
          <p:cNvSpPr txBox="1"/>
          <p:nvPr/>
        </p:nvSpPr>
        <p:spPr>
          <a:xfrm>
            <a:off x="19545865" y="23801449"/>
            <a:ext cx="126368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/>
              <a:t>Calculating 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2A416EC1-9B6C-4FE6-6D9C-F49F88BF5741}"/>
              </a:ext>
            </a:extLst>
          </p:cNvPr>
          <p:cNvSpPr txBox="1"/>
          <p:nvPr/>
        </p:nvSpPr>
        <p:spPr>
          <a:xfrm>
            <a:off x="98183" y="6852294"/>
            <a:ext cx="1559818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Cora Hirst</a:t>
            </a:r>
            <a:r>
              <a:rPr lang="en-US" sz="4800" baseline="30000" dirty="0"/>
              <a:t>1</a:t>
            </a:r>
            <a:r>
              <a:rPr lang="en-US" sz="4800" dirty="0"/>
              <a:t>, Julia Deichmann</a:t>
            </a:r>
            <a:r>
              <a:rPr lang="en-US" sz="4800" baseline="30000" dirty="0"/>
              <a:t>2</a:t>
            </a:r>
            <a:r>
              <a:rPr lang="en-US" sz="4800" dirty="0"/>
              <a:t>, Rustom Antia</a:t>
            </a:r>
            <a:r>
              <a:rPr lang="en-US" sz="4800" baseline="30000" dirty="0"/>
              <a:t>1</a:t>
            </a:r>
          </a:p>
          <a:p>
            <a:endParaRPr lang="en-US" sz="4800" baseline="30000" dirty="0">
              <a:solidFill>
                <a:schemeClr val="tx2"/>
              </a:solidFill>
            </a:endParaRPr>
          </a:p>
          <a:p>
            <a:r>
              <a:rPr lang="en-US" sz="4800" baseline="30000" dirty="0">
                <a:solidFill>
                  <a:schemeClr val="tx2"/>
                </a:solidFill>
              </a:rPr>
              <a:t>(1) Emory University Department of Biology (2) Harvard T. Chan School of Public Health</a:t>
            </a:r>
          </a:p>
          <a:p>
            <a:endParaRPr lang="en-US" sz="4800" dirty="0"/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69CB9E74-ABF9-9B01-9D9F-162FD6EDE545}"/>
              </a:ext>
            </a:extLst>
          </p:cNvPr>
          <p:cNvSpPr txBox="1"/>
          <p:nvPr/>
        </p:nvSpPr>
        <p:spPr>
          <a:xfrm>
            <a:off x="330202" y="9402763"/>
            <a:ext cx="18809042" cy="1641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6000"/>
              </a:lnSpc>
            </a:pPr>
            <a:r>
              <a:rPr lang="en-US" sz="6000" b="1" dirty="0"/>
              <a:t>Decaying immunity at the population level </a:t>
            </a:r>
            <a:r>
              <a:rPr lang="en-US" sz="6000" dirty="0"/>
              <a:t>increases the evolutionary potential of zoonotic pathogens. </a:t>
            </a:r>
            <a:endParaRPr lang="en-US" sz="6000" b="1" dirty="0"/>
          </a:p>
        </p:txBody>
      </p:sp>
      <p:pic>
        <p:nvPicPr>
          <p:cNvPr id="240" name="Picture 239" descr="A graph with lines and numbers&#10;&#10;AI-generated content may be incorrect.">
            <a:extLst>
              <a:ext uri="{FF2B5EF4-FFF2-40B4-BE49-F238E27FC236}">
                <a16:creationId xmlns:a16="http://schemas.microsoft.com/office/drawing/2014/main" id="{6B2CE47F-040C-1017-0EA3-7B405AF9FF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73587" y="12018612"/>
            <a:ext cx="12225848" cy="7928644"/>
          </a:xfrm>
          <a:prstGeom prst="rect">
            <a:avLst/>
          </a:prstGeom>
        </p:spPr>
      </p:pic>
      <p:sp>
        <p:nvSpPr>
          <p:cNvPr id="241" name="TextBox 240">
            <a:extLst>
              <a:ext uri="{FF2B5EF4-FFF2-40B4-BE49-F238E27FC236}">
                <a16:creationId xmlns:a16="http://schemas.microsoft.com/office/drawing/2014/main" id="{125B3536-165D-00EE-AE21-F5C367D46EBE}"/>
              </a:ext>
            </a:extLst>
          </p:cNvPr>
          <p:cNvSpPr txBox="1"/>
          <p:nvPr/>
        </p:nvSpPr>
        <p:spPr>
          <a:xfrm>
            <a:off x="19545984" y="20172510"/>
            <a:ext cx="1263672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Probability of evolving sustained transmission (R &gt; 1). </a:t>
            </a:r>
            <a:r>
              <a:rPr lang="en-US" sz="4000" dirty="0"/>
              <a:t>We developed a multi-type branching process model</a:t>
            </a:r>
            <a:r>
              <a:rPr lang="en-US" sz="4000" b="1" dirty="0"/>
              <a:t> </a:t>
            </a:r>
            <a:r>
              <a:rPr lang="en-US" sz="4000" dirty="0"/>
              <a:t>to describe the process of adaptive evolution of a zoonotic disease during stochastic transmission after spillover.  Delta R: proportional increase in transmissibility with mutation; mu: rate (per infection) of adaptation. </a:t>
            </a:r>
          </a:p>
        </p:txBody>
      </p:sp>
      <p:pic>
        <p:nvPicPr>
          <p:cNvPr id="3" name="Picture 2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D3A51CB3-0254-0A98-BD95-0E80C3DA6E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21"/>
          <a:stretch/>
        </p:blipFill>
        <p:spPr>
          <a:xfrm>
            <a:off x="330202" y="11461368"/>
            <a:ext cx="10185279" cy="6636137"/>
          </a:xfrm>
          <a:prstGeom prst="rect">
            <a:avLst/>
          </a:prstGeom>
        </p:spPr>
      </p:pic>
      <p:sp>
        <p:nvSpPr>
          <p:cNvPr id="242" name="TextBox 241">
            <a:extLst>
              <a:ext uri="{FF2B5EF4-FFF2-40B4-BE49-F238E27FC236}">
                <a16:creationId xmlns:a16="http://schemas.microsoft.com/office/drawing/2014/main" id="{7BA26213-6D58-FD33-9361-A5B5162A6424}"/>
              </a:ext>
            </a:extLst>
          </p:cNvPr>
          <p:cNvSpPr txBox="1"/>
          <p:nvPr/>
        </p:nvSpPr>
        <p:spPr>
          <a:xfrm>
            <a:off x="19506406" y="9571170"/>
            <a:ext cx="13778980" cy="2411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6000"/>
              </a:lnSpc>
            </a:pPr>
            <a:r>
              <a:rPr lang="en-US" sz="6000" b="1" dirty="0"/>
              <a:t>Evolution during stochastic chains of transmission </a:t>
            </a:r>
            <a:r>
              <a:rPr lang="en-US" sz="6000" dirty="0"/>
              <a:t>can facilitate the emergence of pandemic zoonoses. </a:t>
            </a:r>
          </a:p>
        </p:txBody>
      </p:sp>
      <p:pic>
        <p:nvPicPr>
          <p:cNvPr id="247" name="Picture 246" descr="A screenshot of a graph&#10;&#10;AI-generated content may be incorrect.">
            <a:extLst>
              <a:ext uri="{FF2B5EF4-FFF2-40B4-BE49-F238E27FC236}">
                <a16:creationId xmlns:a16="http://schemas.microsoft.com/office/drawing/2014/main" id="{2B922F43-D4EC-14B3-2E8E-9222FA9313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76944" y="25005209"/>
            <a:ext cx="12252568" cy="10753128"/>
          </a:xfrm>
          <a:prstGeom prst="rect">
            <a:avLst/>
          </a:prstGeom>
        </p:spPr>
      </p:pic>
      <p:sp>
        <p:nvSpPr>
          <p:cNvPr id="248" name="TextBox 247">
            <a:extLst>
              <a:ext uri="{FF2B5EF4-FFF2-40B4-BE49-F238E27FC236}">
                <a16:creationId xmlns:a16="http://schemas.microsoft.com/office/drawing/2014/main" id="{6D747484-48CA-7A51-FBA2-0410D9EF0201}"/>
              </a:ext>
            </a:extLst>
          </p:cNvPr>
          <p:cNvSpPr txBox="1"/>
          <p:nvPr/>
        </p:nvSpPr>
        <p:spPr>
          <a:xfrm>
            <a:off x="20564715" y="15329997"/>
            <a:ext cx="3352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P</a:t>
            </a:r>
            <a:r>
              <a:rPr lang="en-US" sz="2800" baseline="-25000" dirty="0" err="1"/>
              <a:t>Emergence</a:t>
            </a:r>
            <a:r>
              <a:rPr lang="en-US" sz="2800" dirty="0"/>
              <a:t>(R</a:t>
            </a:r>
            <a:r>
              <a:rPr lang="en-US" sz="2800" baseline="-25000" dirty="0"/>
              <a:t>T</a:t>
            </a:r>
            <a:r>
              <a:rPr lang="en-US" sz="2800" dirty="0"/>
              <a:t>)</a:t>
            </a:r>
            <a:r>
              <a:rPr lang="en-US" sz="2800" baseline="-25000" dirty="0"/>
              <a:t> </a:t>
            </a:r>
            <a:r>
              <a:rPr lang="en-US" sz="2800" dirty="0"/>
              <a:t>= 10</a:t>
            </a:r>
            <a:r>
              <a:rPr lang="en-US" sz="2800" baseline="30000" dirty="0"/>
              <a:t>-5</a:t>
            </a:r>
            <a:endParaRPr lang="en-US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3A74A4-348C-CDD1-4A56-222820B7BF0E}"/>
              </a:ext>
            </a:extLst>
          </p:cNvPr>
          <p:cNvSpPr txBox="1"/>
          <p:nvPr/>
        </p:nvSpPr>
        <p:spPr>
          <a:xfrm>
            <a:off x="3276600" y="26416860"/>
            <a:ext cx="116956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000" dirty="0"/>
              <a:t> </a:t>
            </a: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E16486B6-9BE5-5015-D526-AB6976CECF5D}"/>
              </a:ext>
            </a:extLst>
          </p:cNvPr>
          <p:cNvSpPr txBox="1"/>
          <p:nvPr/>
        </p:nvSpPr>
        <p:spPr>
          <a:xfrm>
            <a:off x="10053837" y="11460769"/>
            <a:ext cx="8809510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000" b="1" dirty="0"/>
              <a:t>Zoonotic disease transmission after spillover becomes more likely </a:t>
            </a:r>
            <a:r>
              <a:rPr lang="en-US" sz="4000" dirty="0"/>
              <a:t>as cross-protection to eradicated relative decays at the population level. </a:t>
            </a:r>
          </a:p>
          <a:p>
            <a:pPr algn="r"/>
            <a:endParaRPr lang="en-US" sz="2800" dirty="0"/>
          </a:p>
          <a:p>
            <a:pPr algn="r"/>
            <a:r>
              <a:rPr lang="en-US" sz="4000" dirty="0"/>
              <a:t>Even if the number of secondary cases expected from a single case is less than 1 (R &lt; 1) , </a:t>
            </a:r>
            <a:r>
              <a:rPr lang="en-US" sz="4000" b="1" dirty="0"/>
              <a:t>mutations accumulated during stochastic chains of transmission</a:t>
            </a:r>
            <a:r>
              <a:rPr lang="en-US" sz="4000" dirty="0"/>
              <a:t> after spillover may facilitate emergence of a supercritical (R &gt; 1) variant with sustained human-human transmission. </a:t>
            </a:r>
          </a:p>
        </p:txBody>
      </p:sp>
      <p:pic>
        <p:nvPicPr>
          <p:cNvPr id="5" name="Picture 4" descr="A diagram of a sequence of steps&#10;&#10;AI-generated content may be incorrect.">
            <a:extLst>
              <a:ext uri="{FF2B5EF4-FFF2-40B4-BE49-F238E27FC236}">
                <a16:creationId xmlns:a16="http://schemas.microsoft.com/office/drawing/2014/main" id="{A084EAC1-016D-C627-B8B4-E0302FF0CEC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0056" y="19017086"/>
            <a:ext cx="9723635" cy="60867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F0DFAD8-3AC1-E1C4-98E6-2F8DAE1BB693}"/>
              </a:ext>
            </a:extLst>
          </p:cNvPr>
          <p:cNvSpPr txBox="1"/>
          <p:nvPr/>
        </p:nvSpPr>
        <p:spPr>
          <a:xfrm>
            <a:off x="330202" y="18768918"/>
            <a:ext cx="9023037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Cross-immunity arising from either natural infection or vaccine-induced immunity to Smallpox largely prevented zoonotic spillovers and human-human transmission of Mpox. Since the eradication of Smallpox in 1980, the dilution of the population with this cross-immunity over time has led to an increase in both the number of zoonotic cases and the transmission of Mpox in humans.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AA0866-5970-C43C-D6AC-D42A0E256B09}"/>
              </a:ext>
            </a:extLst>
          </p:cNvPr>
          <p:cNvSpPr txBox="1"/>
          <p:nvPr/>
        </p:nvSpPr>
        <p:spPr>
          <a:xfrm>
            <a:off x="330202" y="25372428"/>
            <a:ext cx="1730828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As a consequence, the </a:t>
            </a:r>
            <a:r>
              <a:rPr lang="en-US" sz="4000" b="1" dirty="0"/>
              <a:t>threat of emergence of Mpox as a highly transmissible human pathogen is increasing.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63E5C7-52C7-DA14-2FD7-BD3FB70F56D7}"/>
              </a:ext>
            </a:extLst>
          </p:cNvPr>
          <p:cNvSpPr txBox="1"/>
          <p:nvPr/>
        </p:nvSpPr>
        <p:spPr>
          <a:xfrm>
            <a:off x="326070" y="27093085"/>
            <a:ext cx="1876011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/>
              <a:t>We explored </a:t>
            </a:r>
            <a:r>
              <a:rPr lang="en-US" sz="6000" b="1" dirty="0"/>
              <a:t>the effect of vaccination on preventing the adaptive evolution of zoonotic disease </a:t>
            </a:r>
            <a:r>
              <a:rPr lang="en-US" sz="6000" dirty="0"/>
              <a:t>toward sustained human-human transmission.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45FA10-7AA0-C044-9104-7E25C652FF60}"/>
              </a:ext>
            </a:extLst>
          </p:cNvPr>
          <p:cNvSpPr txBox="1"/>
          <p:nvPr/>
        </p:nvSpPr>
        <p:spPr>
          <a:xfrm>
            <a:off x="13612349" y="31401097"/>
            <a:ext cx="5057987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4000" b="1" dirty="0"/>
              <a:t>analogous framework to f = 1 − 1/R0 </a:t>
            </a:r>
            <a:r>
              <a:rPr lang="en-US" sz="4000" dirty="0"/>
              <a:t>to explore how vaccination  can prevent </a:t>
            </a:r>
            <a:r>
              <a:rPr lang="en-US" sz="4000" dirty="0" err="1"/>
              <a:t>th</a:t>
            </a:r>
            <a:r>
              <a:rPr lang="en-US" sz="4000" dirty="0"/>
              <a:t> evolution and emergence of Mpox into humans.</a:t>
            </a:r>
          </a:p>
        </p:txBody>
      </p:sp>
    </p:spTree>
    <p:extLst>
      <p:ext uri="{BB962C8B-B14F-4D97-AF65-F5344CB8AC3E}">
        <p14:creationId xmlns:p14="http://schemas.microsoft.com/office/powerpoint/2010/main" val="1850523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FFA89E-4688-2EE9-D7FE-936579316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6" name="Group 10">
            <a:extLst>
              <a:ext uri="{FF2B5EF4-FFF2-40B4-BE49-F238E27FC236}">
                <a16:creationId xmlns:a16="http://schemas.microsoft.com/office/drawing/2014/main" id="{DAA7BFC9-7669-A701-83D8-C7D2AADF6121}"/>
              </a:ext>
            </a:extLst>
          </p:cNvPr>
          <p:cNvGrpSpPr/>
          <p:nvPr/>
        </p:nvGrpSpPr>
        <p:grpSpPr>
          <a:xfrm>
            <a:off x="-56" y="7844508"/>
            <a:ext cx="32918337" cy="36206136"/>
            <a:chOff x="0" y="-93394"/>
            <a:chExt cx="14643633" cy="1709221"/>
          </a:xfrm>
          <a:solidFill>
            <a:schemeClr val="bg1"/>
          </a:solidFill>
        </p:grpSpPr>
        <p:sp>
          <p:nvSpPr>
            <p:cNvPr id="197" name="Freeform 11">
              <a:extLst>
                <a:ext uri="{FF2B5EF4-FFF2-40B4-BE49-F238E27FC236}">
                  <a16:creationId xmlns:a16="http://schemas.microsoft.com/office/drawing/2014/main" id="{D2BCF6A9-290B-F73B-B722-D5D50AA9E227}"/>
                </a:ext>
              </a:extLst>
            </p:cNvPr>
            <p:cNvSpPr/>
            <p:nvPr/>
          </p:nvSpPr>
          <p:spPr>
            <a:xfrm>
              <a:off x="0" y="0"/>
              <a:ext cx="14643608" cy="1615821"/>
            </a:xfrm>
            <a:custGeom>
              <a:avLst/>
              <a:gdLst/>
              <a:ahLst/>
              <a:cxnLst/>
              <a:rect l="l" t="t" r="r" b="b"/>
              <a:pathLst>
                <a:path w="14643608" h="1615821">
                  <a:moveTo>
                    <a:pt x="0" y="0"/>
                  </a:moveTo>
                  <a:lnTo>
                    <a:pt x="14643608" y="0"/>
                  </a:lnTo>
                  <a:lnTo>
                    <a:pt x="14643608" y="1615821"/>
                  </a:lnTo>
                  <a:lnTo>
                    <a:pt x="0" y="1615821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sz="1350" dirty="0"/>
            </a:p>
          </p:txBody>
        </p:sp>
        <p:sp>
          <p:nvSpPr>
            <p:cNvPr id="198" name="TextBox 12">
              <a:extLst>
                <a:ext uri="{FF2B5EF4-FFF2-40B4-BE49-F238E27FC236}">
                  <a16:creationId xmlns:a16="http://schemas.microsoft.com/office/drawing/2014/main" id="{F4F8154A-8BB3-5F70-FE73-2F48FE85F777}"/>
                </a:ext>
              </a:extLst>
            </p:cNvPr>
            <p:cNvSpPr txBox="1"/>
            <p:nvPr/>
          </p:nvSpPr>
          <p:spPr>
            <a:xfrm>
              <a:off x="0" y="-93394"/>
              <a:ext cx="14643633" cy="1709221"/>
            </a:xfrm>
            <a:prstGeom prst="rect">
              <a:avLst/>
            </a:prstGeom>
            <a:grpFill/>
          </p:spPr>
          <p:txBody>
            <a:bodyPr lIns="42863" tIns="42863" rIns="42863" bIns="42863" rtlCol="0" anchor="ctr"/>
            <a:lstStyle/>
            <a:p>
              <a:pPr algn="ctr">
                <a:lnSpc>
                  <a:spcPts val="5315"/>
                </a:lnSpc>
              </a:pPr>
              <a:endParaRPr lang="en-US" sz="4430" spc="41" dirty="0">
                <a:solidFill>
                  <a:srgbClr val="000000"/>
                </a:solidFill>
                <a:latin typeface="Calibri (MS) Bold"/>
              </a:endParaRPr>
            </a:p>
          </p:txBody>
        </p:sp>
      </p:grpSp>
      <p:grpSp>
        <p:nvGrpSpPr>
          <p:cNvPr id="28" name="Group 10">
            <a:extLst>
              <a:ext uri="{FF2B5EF4-FFF2-40B4-BE49-F238E27FC236}">
                <a16:creationId xmlns:a16="http://schemas.microsoft.com/office/drawing/2014/main" id="{7B6180E8-438A-76BF-CB25-58E3C4821E5A}"/>
              </a:ext>
            </a:extLst>
          </p:cNvPr>
          <p:cNvGrpSpPr/>
          <p:nvPr/>
        </p:nvGrpSpPr>
        <p:grpSpPr>
          <a:xfrm>
            <a:off x="0" y="6400800"/>
            <a:ext cx="32918400" cy="2585346"/>
            <a:chOff x="0" y="0"/>
            <a:chExt cx="14643633" cy="1615827"/>
          </a:xfrm>
          <a:solidFill>
            <a:srgbClr val="FFBA00"/>
          </a:solidFill>
        </p:grpSpPr>
        <p:sp>
          <p:nvSpPr>
            <p:cNvPr id="42" name="Freeform 11">
              <a:extLst>
                <a:ext uri="{FF2B5EF4-FFF2-40B4-BE49-F238E27FC236}">
                  <a16:creationId xmlns:a16="http://schemas.microsoft.com/office/drawing/2014/main" id="{DC6EF23F-F68A-6539-3D3E-8C59B5AF0CFF}"/>
                </a:ext>
              </a:extLst>
            </p:cNvPr>
            <p:cNvSpPr/>
            <p:nvPr/>
          </p:nvSpPr>
          <p:spPr>
            <a:xfrm>
              <a:off x="0" y="0"/>
              <a:ext cx="14643608" cy="1615821"/>
            </a:xfrm>
            <a:custGeom>
              <a:avLst/>
              <a:gdLst/>
              <a:ahLst/>
              <a:cxnLst/>
              <a:rect l="l" t="t" r="r" b="b"/>
              <a:pathLst>
                <a:path w="14643608" h="1615821">
                  <a:moveTo>
                    <a:pt x="0" y="0"/>
                  </a:moveTo>
                  <a:lnTo>
                    <a:pt x="14643608" y="0"/>
                  </a:lnTo>
                  <a:lnTo>
                    <a:pt x="14643608" y="1615821"/>
                  </a:lnTo>
                  <a:lnTo>
                    <a:pt x="0" y="1615821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sz="1350" dirty="0"/>
            </a:p>
          </p:txBody>
        </p:sp>
        <p:sp>
          <p:nvSpPr>
            <p:cNvPr id="44" name="TextBox 12">
              <a:extLst>
                <a:ext uri="{FF2B5EF4-FFF2-40B4-BE49-F238E27FC236}">
                  <a16:creationId xmlns:a16="http://schemas.microsoft.com/office/drawing/2014/main" id="{A42374F4-8106-6E1E-E018-C4787ECE4B6D}"/>
                </a:ext>
              </a:extLst>
            </p:cNvPr>
            <p:cNvSpPr txBox="1"/>
            <p:nvPr/>
          </p:nvSpPr>
          <p:spPr>
            <a:xfrm>
              <a:off x="0" y="-123825"/>
              <a:ext cx="14643633" cy="1739652"/>
            </a:xfrm>
            <a:prstGeom prst="rect">
              <a:avLst/>
            </a:prstGeom>
            <a:grpFill/>
          </p:spPr>
          <p:txBody>
            <a:bodyPr lIns="42863" tIns="42863" rIns="42863" bIns="42863" rtlCol="0" anchor="ctr"/>
            <a:lstStyle/>
            <a:p>
              <a:pPr algn="ctr">
                <a:lnSpc>
                  <a:spcPts val="5315"/>
                </a:lnSpc>
              </a:pPr>
              <a:endParaRPr lang="en-US" sz="4430" spc="41" dirty="0">
                <a:solidFill>
                  <a:srgbClr val="000000"/>
                </a:solidFill>
                <a:latin typeface="Calibri (MS) Bold"/>
              </a:endParaRPr>
            </a:p>
          </p:txBody>
        </p:sp>
      </p:grpSp>
      <p:sp>
        <p:nvSpPr>
          <p:cNvPr id="176" name="TextBox 175">
            <a:extLst>
              <a:ext uri="{FF2B5EF4-FFF2-40B4-BE49-F238E27FC236}">
                <a16:creationId xmlns:a16="http://schemas.microsoft.com/office/drawing/2014/main" id="{CCF525B0-391D-2D3C-4C3C-1942FAB69C89}"/>
              </a:ext>
            </a:extLst>
          </p:cNvPr>
          <p:cNvSpPr txBox="1"/>
          <p:nvPr/>
        </p:nvSpPr>
        <p:spPr>
          <a:xfrm>
            <a:off x="20726400" y="7467600"/>
            <a:ext cx="640414" cy="1569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solidFill>
                  <a:schemeClr val="bg1"/>
                </a:solidFill>
              </a:rPr>
              <a:t>†</a:t>
            </a:r>
          </a:p>
        </p:txBody>
      </p:sp>
      <p:sp>
        <p:nvSpPr>
          <p:cNvPr id="177" name="TextBox 12">
            <a:extLst>
              <a:ext uri="{FF2B5EF4-FFF2-40B4-BE49-F238E27FC236}">
                <a16:creationId xmlns:a16="http://schemas.microsoft.com/office/drawing/2014/main" id="{6686E177-83FB-483E-7F99-9CABB95B930B}"/>
              </a:ext>
            </a:extLst>
          </p:cNvPr>
          <p:cNvSpPr txBox="1"/>
          <p:nvPr/>
        </p:nvSpPr>
        <p:spPr>
          <a:xfrm>
            <a:off x="817482" y="2118146"/>
            <a:ext cx="26574869" cy="3292054"/>
          </a:xfrm>
          <a:prstGeom prst="rect">
            <a:avLst/>
          </a:prstGeom>
        </p:spPr>
        <p:txBody>
          <a:bodyPr lIns="42863" tIns="42863" rIns="42863" bIns="42863" rtlCol="0" anchor="ctr"/>
          <a:lstStyle/>
          <a:p>
            <a:r>
              <a:rPr lang="en-US" sz="9600" spc="41" dirty="0">
                <a:solidFill>
                  <a:schemeClr val="bg2"/>
                </a:solidFill>
                <a:latin typeface="Calibri (MS) Bold"/>
              </a:rPr>
              <a:t>Can we stop vaccinating against </a:t>
            </a:r>
          </a:p>
          <a:p>
            <a:r>
              <a:rPr lang="en-US" sz="9600" spc="41" dirty="0">
                <a:solidFill>
                  <a:schemeClr val="bg2"/>
                </a:solidFill>
                <a:latin typeface="Calibri (MS) Bold"/>
              </a:rPr>
              <a:t>pox viruses?</a:t>
            </a:r>
          </a:p>
        </p:txBody>
      </p:sp>
      <p:sp>
        <p:nvSpPr>
          <p:cNvPr id="178" name="TextBox 12">
            <a:extLst>
              <a:ext uri="{FF2B5EF4-FFF2-40B4-BE49-F238E27FC236}">
                <a16:creationId xmlns:a16="http://schemas.microsoft.com/office/drawing/2014/main" id="{E82D08B2-2230-04F0-822C-0DD556945DA5}"/>
              </a:ext>
            </a:extLst>
          </p:cNvPr>
          <p:cNvSpPr txBox="1"/>
          <p:nvPr/>
        </p:nvSpPr>
        <p:spPr>
          <a:xfrm>
            <a:off x="715936" y="-224412"/>
            <a:ext cx="26574869" cy="3292054"/>
          </a:xfrm>
          <a:prstGeom prst="rect">
            <a:avLst/>
          </a:prstGeom>
        </p:spPr>
        <p:txBody>
          <a:bodyPr lIns="42863" tIns="42863" rIns="42863" bIns="42863" rtlCol="0" anchor="ctr"/>
          <a:lstStyle/>
          <a:p>
            <a:r>
              <a:rPr lang="en-US" sz="11500" spc="41" dirty="0">
                <a:solidFill>
                  <a:schemeClr val="bg1">
                    <a:lumMod val="95000"/>
                  </a:schemeClr>
                </a:solidFill>
                <a:latin typeface="Calibri (MS) Bold"/>
              </a:rPr>
              <a:t>Vaccination to Prevent Disease Emergence</a:t>
            </a:r>
          </a:p>
        </p:txBody>
      </p:sp>
      <p:grpSp>
        <p:nvGrpSpPr>
          <p:cNvPr id="199" name="Group 10">
            <a:extLst>
              <a:ext uri="{FF2B5EF4-FFF2-40B4-BE49-F238E27FC236}">
                <a16:creationId xmlns:a16="http://schemas.microsoft.com/office/drawing/2014/main" id="{DEBE31C1-F93F-86F7-32B0-A3874E34EE7E}"/>
              </a:ext>
            </a:extLst>
          </p:cNvPr>
          <p:cNvGrpSpPr/>
          <p:nvPr/>
        </p:nvGrpSpPr>
        <p:grpSpPr>
          <a:xfrm>
            <a:off x="19230508" y="9280015"/>
            <a:ext cx="13357690" cy="30172108"/>
            <a:chOff x="0" y="-93394"/>
            <a:chExt cx="14866869" cy="1709221"/>
          </a:xfrm>
          <a:solidFill>
            <a:schemeClr val="bg2"/>
          </a:solidFill>
        </p:grpSpPr>
        <p:sp>
          <p:nvSpPr>
            <p:cNvPr id="200" name="Freeform 11">
              <a:extLst>
                <a:ext uri="{FF2B5EF4-FFF2-40B4-BE49-F238E27FC236}">
                  <a16:creationId xmlns:a16="http://schemas.microsoft.com/office/drawing/2014/main" id="{3A79A246-EF55-DE2F-D290-B23127187D2E}"/>
                </a:ext>
              </a:extLst>
            </p:cNvPr>
            <p:cNvSpPr/>
            <p:nvPr/>
          </p:nvSpPr>
          <p:spPr>
            <a:xfrm>
              <a:off x="0" y="0"/>
              <a:ext cx="14643608" cy="1615821"/>
            </a:xfrm>
            <a:custGeom>
              <a:avLst/>
              <a:gdLst/>
              <a:ahLst/>
              <a:cxnLst/>
              <a:rect l="l" t="t" r="r" b="b"/>
              <a:pathLst>
                <a:path w="14643608" h="1615821">
                  <a:moveTo>
                    <a:pt x="0" y="0"/>
                  </a:moveTo>
                  <a:lnTo>
                    <a:pt x="14643608" y="0"/>
                  </a:lnTo>
                  <a:lnTo>
                    <a:pt x="14643608" y="1615821"/>
                  </a:lnTo>
                  <a:lnTo>
                    <a:pt x="0" y="1615821"/>
                  </a:lnTo>
                  <a:close/>
                </a:path>
              </a:pathLst>
            </a:custGeom>
            <a:grpFill/>
            <a:ln>
              <a:solidFill>
                <a:schemeClr val="bg2"/>
              </a:solidFill>
            </a:ln>
          </p:spPr>
          <p:txBody>
            <a:bodyPr/>
            <a:lstStyle/>
            <a:p>
              <a:endParaRPr lang="en-US" sz="1350" dirty="0"/>
            </a:p>
          </p:txBody>
        </p:sp>
        <p:sp>
          <p:nvSpPr>
            <p:cNvPr id="201" name="TextBox 12">
              <a:extLst>
                <a:ext uri="{FF2B5EF4-FFF2-40B4-BE49-F238E27FC236}">
                  <a16:creationId xmlns:a16="http://schemas.microsoft.com/office/drawing/2014/main" id="{887AC64A-4959-077D-E417-70DFF6F982E5}"/>
                </a:ext>
              </a:extLst>
            </p:cNvPr>
            <p:cNvSpPr txBox="1"/>
            <p:nvPr/>
          </p:nvSpPr>
          <p:spPr>
            <a:xfrm>
              <a:off x="0" y="-93394"/>
              <a:ext cx="14866869" cy="1709221"/>
            </a:xfrm>
            <a:prstGeom prst="rect">
              <a:avLst/>
            </a:prstGeom>
            <a:grpFill/>
            <a:ln>
              <a:solidFill>
                <a:schemeClr val="bg2"/>
              </a:solidFill>
            </a:ln>
          </p:spPr>
          <p:txBody>
            <a:bodyPr lIns="42863" tIns="42863" rIns="42863" bIns="42863" rtlCol="0" anchor="ctr"/>
            <a:lstStyle/>
            <a:p>
              <a:pPr algn="ctr">
                <a:lnSpc>
                  <a:spcPts val="5315"/>
                </a:lnSpc>
              </a:pPr>
              <a:endParaRPr lang="en-US" sz="4430" spc="41" dirty="0">
                <a:solidFill>
                  <a:srgbClr val="000000"/>
                </a:solidFill>
                <a:latin typeface="Calibri (MS) Bold"/>
              </a:endParaRPr>
            </a:p>
          </p:txBody>
        </p:sp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C944B2BD-ACA2-67A6-C1A4-385999527DCC}"/>
              </a:ext>
            </a:extLst>
          </p:cNvPr>
          <p:cNvGrpSpPr/>
          <p:nvPr/>
        </p:nvGrpSpPr>
        <p:grpSpPr>
          <a:xfrm>
            <a:off x="7239000" y="1335255"/>
            <a:ext cx="24540877" cy="7395231"/>
            <a:chOff x="7903512" y="165324"/>
            <a:chExt cx="24540877" cy="7395231"/>
          </a:xfrm>
        </p:grpSpPr>
        <p:grpSp>
          <p:nvGrpSpPr>
            <p:cNvPr id="158" name="Group 157">
              <a:extLst>
                <a:ext uri="{FF2B5EF4-FFF2-40B4-BE49-F238E27FC236}">
                  <a16:creationId xmlns:a16="http://schemas.microsoft.com/office/drawing/2014/main" id="{A304BFDD-8198-BE32-38FD-9E3B22F80285}"/>
                </a:ext>
              </a:extLst>
            </p:cNvPr>
            <p:cNvGrpSpPr/>
            <p:nvPr/>
          </p:nvGrpSpPr>
          <p:grpSpPr>
            <a:xfrm rot="16200000">
              <a:off x="15316598" y="-7247762"/>
              <a:ext cx="7395231" cy="22221404"/>
              <a:chOff x="4304531" y="396062"/>
              <a:chExt cx="1457351" cy="4524127"/>
            </a:xfrm>
          </p:grpSpPr>
          <p:cxnSp>
            <p:nvCxnSpPr>
              <p:cNvPr id="159" name="Straight Arrow Connector 158">
                <a:extLst>
                  <a:ext uri="{FF2B5EF4-FFF2-40B4-BE49-F238E27FC236}">
                    <a16:creationId xmlns:a16="http://schemas.microsoft.com/office/drawing/2014/main" id="{DD3B17CA-9BA4-EFEE-86B7-06BDDDA3E7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93666" y="664142"/>
                <a:ext cx="0" cy="496430"/>
              </a:xfrm>
              <a:prstGeom prst="straightConnector1">
                <a:avLst/>
              </a:prstGeom>
              <a:ln w="76200">
                <a:solidFill>
                  <a:schemeClr val="bg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0" name="Oval 159">
                <a:extLst>
                  <a:ext uri="{FF2B5EF4-FFF2-40B4-BE49-F238E27FC236}">
                    <a16:creationId xmlns:a16="http://schemas.microsoft.com/office/drawing/2014/main" id="{7A30848C-FCA5-4FBE-B99A-D1A329DFDD38}"/>
                  </a:ext>
                </a:extLst>
              </p:cNvPr>
              <p:cNvSpPr/>
              <p:nvPr/>
            </p:nvSpPr>
            <p:spPr>
              <a:xfrm>
                <a:off x="4714294" y="396062"/>
                <a:ext cx="205539" cy="190500"/>
              </a:xfrm>
              <a:prstGeom prst="ellipse">
                <a:avLst/>
              </a:prstGeom>
              <a:solidFill>
                <a:schemeClr val="accent3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27F59C62-9471-9ABA-644E-232A80501DD2}"/>
                  </a:ext>
                </a:extLst>
              </p:cNvPr>
              <p:cNvSpPr/>
              <p:nvPr/>
            </p:nvSpPr>
            <p:spPr>
              <a:xfrm>
                <a:off x="4714294" y="1264834"/>
                <a:ext cx="205539" cy="190500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62" name="Straight Arrow Connector 161">
                <a:extLst>
                  <a:ext uri="{FF2B5EF4-FFF2-40B4-BE49-F238E27FC236}">
                    <a16:creationId xmlns:a16="http://schemas.microsoft.com/office/drawing/2014/main" id="{9F7391E7-03EA-02D3-4184-8076564760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93666" y="1532917"/>
                <a:ext cx="0" cy="496428"/>
              </a:xfrm>
              <a:prstGeom prst="straightConnector1">
                <a:avLst/>
              </a:prstGeom>
              <a:ln w="76200">
                <a:solidFill>
                  <a:schemeClr val="bg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B538EA27-B079-CC6B-E105-6FA3458B57F2}"/>
                  </a:ext>
                </a:extLst>
              </p:cNvPr>
              <p:cNvSpPr/>
              <p:nvPr/>
            </p:nvSpPr>
            <p:spPr>
              <a:xfrm>
                <a:off x="4707790" y="2117924"/>
                <a:ext cx="205539" cy="190500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64" name="Straight Arrow Connector 163">
                <a:extLst>
                  <a:ext uri="{FF2B5EF4-FFF2-40B4-BE49-F238E27FC236}">
                    <a16:creationId xmlns:a16="http://schemas.microsoft.com/office/drawing/2014/main" id="{24263E66-FD34-82D7-811D-0614EEB9DE8D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4374648" y="2475878"/>
                <a:ext cx="436670" cy="227711"/>
              </a:xfrm>
              <a:prstGeom prst="straightConnector1">
                <a:avLst/>
              </a:prstGeom>
              <a:ln w="76200">
                <a:solidFill>
                  <a:schemeClr val="bg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5" name="Straight Arrow Connector 164">
                <a:extLst>
                  <a:ext uri="{FF2B5EF4-FFF2-40B4-BE49-F238E27FC236}">
                    <a16:creationId xmlns:a16="http://schemas.microsoft.com/office/drawing/2014/main" id="{796638CC-BD1A-236E-614E-0808166C1F84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4756278" y="2484115"/>
                <a:ext cx="450566" cy="225134"/>
              </a:xfrm>
              <a:prstGeom prst="straightConnector1">
                <a:avLst/>
              </a:prstGeom>
              <a:ln w="76200">
                <a:solidFill>
                  <a:schemeClr val="bg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6" name="Oval 165">
                <a:extLst>
                  <a:ext uri="{FF2B5EF4-FFF2-40B4-BE49-F238E27FC236}">
                    <a16:creationId xmlns:a16="http://schemas.microsoft.com/office/drawing/2014/main" id="{23E74B49-F3CE-CEB4-CBDA-F620DDD3B236}"/>
                  </a:ext>
                </a:extLst>
              </p:cNvPr>
              <p:cNvSpPr/>
              <p:nvPr/>
            </p:nvSpPr>
            <p:spPr>
              <a:xfrm>
                <a:off x="4304531" y="2827690"/>
                <a:ext cx="205539" cy="190500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0AE04B2A-8589-4AC4-A97E-F1F96D4DCE21}"/>
                  </a:ext>
                </a:extLst>
              </p:cNvPr>
              <p:cNvSpPr/>
              <p:nvPr/>
            </p:nvSpPr>
            <p:spPr>
              <a:xfrm>
                <a:off x="5062818" y="2897308"/>
                <a:ext cx="205539" cy="190500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68" name="Straight Arrow Connector 167">
                <a:extLst>
                  <a:ext uri="{FF2B5EF4-FFF2-40B4-BE49-F238E27FC236}">
                    <a16:creationId xmlns:a16="http://schemas.microsoft.com/office/drawing/2014/main" id="{1A182AE7-3239-DDC7-160B-7990630D2D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3987" y="3192880"/>
                <a:ext cx="0" cy="496428"/>
              </a:xfrm>
              <a:prstGeom prst="straightConnector1">
                <a:avLst/>
              </a:prstGeom>
              <a:ln w="76200">
                <a:solidFill>
                  <a:schemeClr val="bg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9" name="Oval 168">
                <a:extLst>
                  <a:ext uri="{FF2B5EF4-FFF2-40B4-BE49-F238E27FC236}">
                    <a16:creationId xmlns:a16="http://schemas.microsoft.com/office/drawing/2014/main" id="{AB5CE1E3-390D-2B1C-9261-CC8BF63E4381}"/>
                  </a:ext>
                </a:extLst>
              </p:cNvPr>
              <p:cNvSpPr/>
              <p:nvPr/>
            </p:nvSpPr>
            <p:spPr>
              <a:xfrm>
                <a:off x="5087890" y="3760560"/>
                <a:ext cx="205539" cy="190500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70" name="Straight Arrow Connector 169">
                <a:extLst>
                  <a:ext uri="{FF2B5EF4-FFF2-40B4-BE49-F238E27FC236}">
                    <a16:creationId xmlns:a16="http://schemas.microsoft.com/office/drawing/2014/main" id="{4A2ECDA3-F113-7AF9-0DD2-1C7565C6F1AF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4757753" y="4082426"/>
                <a:ext cx="442840" cy="267314"/>
              </a:xfrm>
              <a:prstGeom prst="straightConnector1">
                <a:avLst/>
              </a:prstGeom>
              <a:ln w="76200">
                <a:solidFill>
                  <a:schemeClr val="bg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1" name="Straight Arrow Connector 170">
                <a:extLst>
                  <a:ext uri="{FF2B5EF4-FFF2-40B4-BE49-F238E27FC236}">
                    <a16:creationId xmlns:a16="http://schemas.microsoft.com/office/drawing/2014/main" id="{6B7356E2-54FD-152D-7462-CEB7AAD890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68380" y="3994990"/>
                <a:ext cx="275737" cy="442513"/>
              </a:xfrm>
              <a:prstGeom prst="straightConnector1">
                <a:avLst/>
              </a:prstGeom>
              <a:ln w="76200">
                <a:solidFill>
                  <a:schemeClr val="bg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2" name="Oval 171">
                <a:extLst>
                  <a:ext uri="{FF2B5EF4-FFF2-40B4-BE49-F238E27FC236}">
                    <a16:creationId xmlns:a16="http://schemas.microsoft.com/office/drawing/2014/main" id="{28B3A159-3404-ECDB-B755-76E4C75D549F}"/>
                  </a:ext>
                </a:extLst>
              </p:cNvPr>
              <p:cNvSpPr/>
              <p:nvPr/>
            </p:nvSpPr>
            <p:spPr>
              <a:xfrm>
                <a:off x="4707790" y="4503470"/>
                <a:ext cx="205539" cy="190500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3" name="Oval 172">
                <a:extLst>
                  <a:ext uri="{FF2B5EF4-FFF2-40B4-BE49-F238E27FC236}">
                    <a16:creationId xmlns:a16="http://schemas.microsoft.com/office/drawing/2014/main" id="{D178E319-6284-2A0C-6E82-E5A60C621476}"/>
                  </a:ext>
                </a:extLst>
              </p:cNvPr>
              <p:cNvSpPr/>
              <p:nvPr/>
            </p:nvSpPr>
            <p:spPr>
              <a:xfrm>
                <a:off x="5504131" y="4481433"/>
                <a:ext cx="205539" cy="190500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2657D89C-C85D-03A0-3D98-83F89FD83F2F}"/>
                  </a:ext>
                </a:extLst>
              </p:cNvPr>
              <p:cNvSpPr txBox="1"/>
              <p:nvPr/>
            </p:nvSpPr>
            <p:spPr>
              <a:xfrm rot="5400000">
                <a:off x="5542027" y="4700333"/>
                <a:ext cx="130384" cy="3093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600" dirty="0">
                    <a:solidFill>
                      <a:schemeClr val="bg1">
                        <a:lumMod val="95000"/>
                      </a:schemeClr>
                    </a:solidFill>
                  </a:rPr>
                  <a:t>†</a:t>
                </a:r>
              </a:p>
            </p:txBody>
          </p:sp>
        </p:grpSp>
        <p:cxnSp>
          <p:nvCxnSpPr>
            <p:cNvPr id="179" name="Straight Arrow Connector 178">
              <a:extLst>
                <a:ext uri="{FF2B5EF4-FFF2-40B4-BE49-F238E27FC236}">
                  <a16:creationId xmlns:a16="http://schemas.microsoft.com/office/drawing/2014/main" id="{09C382DF-7871-7FF7-6ABC-2B30B419A76B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9571754" y="2813247"/>
              <a:ext cx="1399209" cy="2173516"/>
            </a:xfrm>
            <a:prstGeom prst="straightConnector1">
              <a:avLst/>
            </a:prstGeom>
            <a:ln w="76200">
              <a:solidFill>
                <a:schemeClr val="bg1">
                  <a:lumMod val="9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0" name="Straight Arrow Connector 179">
              <a:extLst>
                <a:ext uri="{FF2B5EF4-FFF2-40B4-BE49-F238E27FC236}">
                  <a16:creationId xmlns:a16="http://schemas.microsoft.com/office/drawing/2014/main" id="{0FBA0938-26DB-E690-56AF-8A74C3ADB62F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29604031" y="5083505"/>
              <a:ext cx="1399209" cy="2173516"/>
            </a:xfrm>
            <a:prstGeom prst="straightConnector1">
              <a:avLst/>
            </a:prstGeom>
            <a:ln w="76200">
              <a:solidFill>
                <a:schemeClr val="bg1">
                  <a:lumMod val="9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85709D84-7A05-C9F9-1B74-390D773BC795}"/>
                </a:ext>
              </a:extLst>
            </p:cNvPr>
            <p:cNvSpPr/>
            <p:nvPr/>
          </p:nvSpPr>
          <p:spPr>
            <a:xfrm rot="16200000">
              <a:off x="31455048" y="2439658"/>
              <a:ext cx="1042994" cy="935689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4BE03CB1-A67A-691D-DBB2-BA2F73ACA95E}"/>
                </a:ext>
              </a:extLst>
            </p:cNvPr>
            <p:cNvSpPr/>
            <p:nvPr/>
          </p:nvSpPr>
          <p:spPr>
            <a:xfrm rot="16200000">
              <a:off x="31455048" y="6524738"/>
              <a:ext cx="1042994" cy="935689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0" name="Freeform 11">
            <a:extLst>
              <a:ext uri="{FF2B5EF4-FFF2-40B4-BE49-F238E27FC236}">
                <a16:creationId xmlns:a16="http://schemas.microsoft.com/office/drawing/2014/main" id="{752370C3-8141-9AC2-118A-48E6FE1DC588}"/>
              </a:ext>
            </a:extLst>
          </p:cNvPr>
          <p:cNvSpPr/>
          <p:nvPr/>
        </p:nvSpPr>
        <p:spPr>
          <a:xfrm>
            <a:off x="326070" y="39769211"/>
            <a:ext cx="32262128" cy="3962817"/>
          </a:xfrm>
          <a:custGeom>
            <a:avLst/>
            <a:gdLst/>
            <a:ahLst/>
            <a:cxnLst/>
            <a:rect l="l" t="t" r="r" b="b"/>
            <a:pathLst>
              <a:path w="14643608" h="1615821">
                <a:moveTo>
                  <a:pt x="0" y="0"/>
                </a:moveTo>
                <a:lnTo>
                  <a:pt x="14643608" y="0"/>
                </a:lnTo>
                <a:lnTo>
                  <a:pt x="14643608" y="1615821"/>
                </a:lnTo>
                <a:lnTo>
                  <a:pt x="0" y="1615821"/>
                </a:lnTo>
                <a:close/>
              </a:path>
            </a:pathLst>
          </a:custGeom>
          <a:solidFill>
            <a:srgbClr val="002060"/>
          </a:solidFill>
        </p:spPr>
        <p:txBody>
          <a:bodyPr/>
          <a:lstStyle/>
          <a:p>
            <a:endParaRPr lang="en-US" sz="1350" dirty="0"/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2A37D8EC-B6CC-808B-9BBA-5356CC3BCF33}"/>
              </a:ext>
            </a:extLst>
          </p:cNvPr>
          <p:cNvSpPr txBox="1"/>
          <p:nvPr/>
        </p:nvSpPr>
        <p:spPr>
          <a:xfrm>
            <a:off x="1144577" y="40512977"/>
            <a:ext cx="3097495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</a:rPr>
              <a:t>Preventing </a:t>
            </a:r>
            <a:r>
              <a:rPr lang="en-US" sz="7200" dirty="0">
                <a:solidFill>
                  <a:schemeClr val="bg1"/>
                </a:solidFill>
              </a:rPr>
              <a:t>the emergence of zoonotic disease requires </a:t>
            </a:r>
            <a:r>
              <a:rPr lang="en-US" sz="7200" b="1" dirty="0">
                <a:solidFill>
                  <a:schemeClr val="bg1"/>
                </a:solidFill>
              </a:rPr>
              <a:t>significantly less vaccination </a:t>
            </a:r>
            <a:r>
              <a:rPr lang="en-US" sz="7200" dirty="0">
                <a:solidFill>
                  <a:schemeClr val="bg1"/>
                </a:solidFill>
              </a:rPr>
              <a:t>than eradicating once endemic</a:t>
            </a:r>
            <a:r>
              <a:rPr lang="en-US" sz="7200" b="1" dirty="0">
                <a:solidFill>
                  <a:schemeClr val="bg1"/>
                </a:solidFill>
              </a:rPr>
              <a:t>. 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B4EFAD81-1279-F90A-7584-0D4E036AC184}"/>
              </a:ext>
            </a:extLst>
          </p:cNvPr>
          <p:cNvSpPr txBox="1"/>
          <p:nvPr/>
        </p:nvSpPr>
        <p:spPr>
          <a:xfrm>
            <a:off x="98183" y="6852294"/>
            <a:ext cx="1559818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Cora Hirst</a:t>
            </a:r>
            <a:r>
              <a:rPr lang="en-US" sz="4800" baseline="30000" dirty="0"/>
              <a:t>1</a:t>
            </a:r>
            <a:r>
              <a:rPr lang="en-US" sz="4800" dirty="0"/>
              <a:t>, Julia Deichmann</a:t>
            </a:r>
            <a:r>
              <a:rPr lang="en-US" sz="4800" baseline="30000" dirty="0"/>
              <a:t>2</a:t>
            </a:r>
            <a:r>
              <a:rPr lang="en-US" sz="4800" dirty="0"/>
              <a:t>, Rustom Antia</a:t>
            </a:r>
            <a:r>
              <a:rPr lang="en-US" sz="4800" baseline="30000" dirty="0"/>
              <a:t>1</a:t>
            </a:r>
          </a:p>
          <a:p>
            <a:endParaRPr lang="en-US" sz="4800" baseline="30000" dirty="0">
              <a:solidFill>
                <a:schemeClr val="tx2"/>
              </a:solidFill>
            </a:endParaRPr>
          </a:p>
          <a:p>
            <a:r>
              <a:rPr lang="en-US" sz="4800" baseline="30000" dirty="0">
                <a:solidFill>
                  <a:schemeClr val="tx2"/>
                </a:solidFill>
              </a:rPr>
              <a:t>(1) Emory University Department of Biology (2) Harvard T. Chan School of Public Health</a:t>
            </a:r>
          </a:p>
          <a:p>
            <a:endParaRPr lang="en-US" sz="4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19FFAC-91E3-15DE-83F6-8D5FB2333CC4}"/>
              </a:ext>
            </a:extLst>
          </p:cNvPr>
          <p:cNvSpPr txBox="1"/>
          <p:nvPr/>
        </p:nvSpPr>
        <p:spPr>
          <a:xfrm>
            <a:off x="3276600" y="26416860"/>
            <a:ext cx="116956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000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EB08EE-5C21-A443-680A-15D030E152BF}"/>
              </a:ext>
            </a:extLst>
          </p:cNvPr>
          <p:cNvSpPr txBox="1"/>
          <p:nvPr/>
        </p:nvSpPr>
        <p:spPr>
          <a:xfrm>
            <a:off x="267403" y="9525000"/>
            <a:ext cx="18633022" cy="1032459"/>
          </a:xfrm>
          <a:prstGeom prst="rect">
            <a:avLst/>
          </a:prstGeom>
          <a:ln w="76200"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002060"/>
                </a:solidFill>
              </a:rPr>
              <a:t>Motivation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91C696-604B-2C1A-C21A-7A0B740A8EC4}"/>
              </a:ext>
            </a:extLst>
          </p:cNvPr>
          <p:cNvSpPr txBox="1"/>
          <p:nvPr/>
        </p:nvSpPr>
        <p:spPr>
          <a:xfrm>
            <a:off x="277143" y="10775961"/>
            <a:ext cx="1880904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Decaying immunity at the population level </a:t>
            </a:r>
            <a:r>
              <a:rPr lang="en-US" sz="4000" dirty="0"/>
              <a:t>increases the evolutionary potential of zoonotic pathogens. </a:t>
            </a:r>
            <a:endParaRPr lang="en-US" sz="4000" b="1" dirty="0"/>
          </a:p>
        </p:txBody>
      </p:sp>
      <p:pic>
        <p:nvPicPr>
          <p:cNvPr id="8" name="Picture 7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37A678DE-EA8A-53FF-310B-B2B25596ED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21"/>
          <a:stretch/>
        </p:blipFill>
        <p:spPr>
          <a:xfrm>
            <a:off x="277143" y="12347436"/>
            <a:ext cx="10185279" cy="663613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EF78A62-916A-8F42-E99C-347928307CF7}"/>
              </a:ext>
            </a:extLst>
          </p:cNvPr>
          <p:cNvSpPr txBox="1"/>
          <p:nvPr/>
        </p:nvSpPr>
        <p:spPr>
          <a:xfrm>
            <a:off x="9491999" y="12391051"/>
            <a:ext cx="9442219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000" b="1" dirty="0"/>
              <a:t>Zoonotic disease transmission after spillover becomes more likely </a:t>
            </a:r>
            <a:r>
              <a:rPr lang="en-US" sz="4000" dirty="0"/>
              <a:t>as cross-protection to eradicated relative decays </a:t>
            </a:r>
          </a:p>
          <a:p>
            <a:pPr algn="r"/>
            <a:r>
              <a:rPr lang="en-US" sz="4000" dirty="0"/>
              <a:t>at the population level. </a:t>
            </a:r>
          </a:p>
          <a:p>
            <a:pPr algn="r"/>
            <a:endParaRPr lang="en-US" sz="2800" dirty="0"/>
          </a:p>
          <a:p>
            <a:pPr algn="r"/>
            <a:r>
              <a:rPr lang="en-US" sz="4000" dirty="0"/>
              <a:t>Even if the number of secondary cases expected from a single case is less than 1 </a:t>
            </a:r>
          </a:p>
          <a:p>
            <a:pPr algn="r"/>
            <a:r>
              <a:rPr lang="en-US" sz="4000" dirty="0"/>
              <a:t>(R &lt; 1) , </a:t>
            </a:r>
            <a:r>
              <a:rPr lang="en-US" sz="4000" b="1" dirty="0"/>
              <a:t>mutations accumulated during stochastic chains of transmission</a:t>
            </a:r>
            <a:r>
              <a:rPr lang="en-US" sz="4000" dirty="0"/>
              <a:t> after spillover may facilitate emergence of a supercritical (R &gt; 1) variant with sustained human-human transmission. </a:t>
            </a:r>
          </a:p>
        </p:txBody>
      </p:sp>
      <p:pic>
        <p:nvPicPr>
          <p:cNvPr id="13" name="Picture 12" descr="A diagram of a sequence of steps&#10;&#10;AI-generated content may be incorrect.">
            <a:extLst>
              <a:ext uri="{FF2B5EF4-FFF2-40B4-BE49-F238E27FC236}">
                <a16:creationId xmlns:a16="http://schemas.microsoft.com/office/drawing/2014/main" id="{FD696484-8C08-DB79-2AD5-4BD548F53A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0200" y="19964400"/>
            <a:ext cx="9980962" cy="624786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52F36EC-E16E-F58F-1CB7-51DBF7E5ACC6}"/>
              </a:ext>
            </a:extLst>
          </p:cNvPr>
          <p:cNvSpPr txBox="1"/>
          <p:nvPr/>
        </p:nvSpPr>
        <p:spPr>
          <a:xfrm>
            <a:off x="324639" y="19507736"/>
            <a:ext cx="9023037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Cross-immunity arising from either natural infection or vaccine-induced immunity to Smallpox largely prevented zoonotic spillovers and human-human transmission of Mpox. Since the eradication of Smallpox in 1980</a:t>
            </a:r>
            <a:r>
              <a:rPr lang="en-US" sz="4000" b="1" dirty="0"/>
              <a:t>, the dilution of the population with this cross-immunity over time </a:t>
            </a:r>
            <a:r>
              <a:rPr lang="en-US" sz="4000" dirty="0"/>
              <a:t>has led to an increase in both the number of zoonotic cases and the transmission of Mpox in humans.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E48ABB-4187-5B47-88D6-4AB9EA682A75}"/>
              </a:ext>
            </a:extLst>
          </p:cNvPr>
          <p:cNvSpPr txBox="1"/>
          <p:nvPr/>
        </p:nvSpPr>
        <p:spPr>
          <a:xfrm>
            <a:off x="277142" y="26300761"/>
            <a:ext cx="1865707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As a consequence, the </a:t>
            </a:r>
            <a:r>
              <a:rPr lang="en-US" sz="4000" b="1" dirty="0"/>
              <a:t>threat of emergence of Mpox as a highly transmissible human pathogen is increasing.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86CC88-62BA-AB48-51D7-F0E38BBB1ACE}"/>
              </a:ext>
            </a:extLst>
          </p:cNvPr>
          <p:cNvSpPr txBox="1"/>
          <p:nvPr/>
        </p:nvSpPr>
        <p:spPr>
          <a:xfrm>
            <a:off x="267403" y="28052224"/>
            <a:ext cx="18633022" cy="1032459"/>
          </a:xfrm>
          <a:prstGeom prst="rect">
            <a:avLst/>
          </a:prstGeom>
          <a:ln w="76200"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002060"/>
                </a:solidFill>
              </a:rPr>
              <a:t>Methods</a:t>
            </a:r>
          </a:p>
        </p:txBody>
      </p:sp>
      <p:pic>
        <p:nvPicPr>
          <p:cNvPr id="17" name="Picture 16" descr="A diagram of a curve&#10;&#10;AI-generated content may be incorrect.">
            <a:extLst>
              <a:ext uri="{FF2B5EF4-FFF2-40B4-BE49-F238E27FC236}">
                <a16:creationId xmlns:a16="http://schemas.microsoft.com/office/drawing/2014/main" id="{580671F8-1667-ED20-75DA-F08D5C8981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42" y="31289802"/>
            <a:ext cx="12204589" cy="490359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6F96D3E-9219-2160-F9F9-23F7AA541D12}"/>
              </a:ext>
            </a:extLst>
          </p:cNvPr>
          <p:cNvSpPr txBox="1"/>
          <p:nvPr/>
        </p:nvSpPr>
        <p:spPr>
          <a:xfrm>
            <a:off x="277142" y="29364403"/>
            <a:ext cx="1836962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We explored </a:t>
            </a:r>
            <a:r>
              <a:rPr lang="en-US" sz="4000" b="1" dirty="0"/>
              <a:t>the effect of vaccination on preventing the adaptive evolution of zoonotic disease </a:t>
            </a:r>
            <a:r>
              <a:rPr lang="en-US" sz="4000" dirty="0"/>
              <a:t>toward sustained human-human transmission.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75E41E-9A0C-BF7A-08BE-3538782EE2EC}"/>
              </a:ext>
            </a:extLst>
          </p:cNvPr>
          <p:cNvSpPr txBox="1"/>
          <p:nvPr/>
        </p:nvSpPr>
        <p:spPr>
          <a:xfrm>
            <a:off x="19127578" y="10801027"/>
            <a:ext cx="3183026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4000" b="1" dirty="0"/>
              <a:t>The probability of </a:t>
            </a:r>
          </a:p>
          <a:p>
            <a:pPr algn="r"/>
            <a:r>
              <a:rPr lang="en-US" sz="4000" b="1" dirty="0"/>
              <a:t>emergence of a subcritical variant by adaptation during transmission increases sharply with </a:t>
            </a:r>
            <a:r>
              <a:rPr lang="en-US" sz="4000" b="1" dirty="0" err="1"/>
              <a:t>R_e</a:t>
            </a:r>
            <a:r>
              <a:rPr lang="en-US" sz="4000" b="1" dirty="0"/>
              <a:t>. </a:t>
            </a:r>
            <a:endParaRPr lang="en-US" sz="4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7ACD03-0E68-AF50-5804-77372A6A2ED8}"/>
              </a:ext>
            </a:extLst>
          </p:cNvPr>
          <p:cNvSpPr txBox="1"/>
          <p:nvPr/>
        </p:nvSpPr>
        <p:spPr>
          <a:xfrm>
            <a:off x="19495690" y="9524999"/>
            <a:ext cx="12813110" cy="1033272"/>
          </a:xfrm>
          <a:prstGeom prst="rect">
            <a:avLst/>
          </a:prstGeom>
          <a:solidFill>
            <a:schemeClr val="bg2"/>
          </a:solidFill>
          <a:ln w="76200"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002060"/>
                </a:solidFill>
              </a:rPr>
              <a:t>Results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D00DB4-1F2E-B366-5DD4-A2F4AE8DEB6B}"/>
              </a:ext>
            </a:extLst>
          </p:cNvPr>
          <p:cNvSpPr txBox="1"/>
          <p:nvPr/>
        </p:nvSpPr>
        <p:spPr>
          <a:xfrm>
            <a:off x="19453779" y="20802979"/>
            <a:ext cx="1335769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There exists some R &lt; 1, R_T, above which evolution of sustained transmission during an outbreak may occur in the absence of intervention. </a:t>
            </a:r>
            <a:endParaRPr lang="en-US" sz="4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3A30D07-EAC3-A85E-8B49-9EF7983AC9EA}"/>
              </a:ext>
            </a:extLst>
          </p:cNvPr>
          <p:cNvSpPr txBox="1"/>
          <p:nvPr/>
        </p:nvSpPr>
        <p:spPr>
          <a:xfrm>
            <a:off x="19446459" y="29010936"/>
            <a:ext cx="1331577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A modest amount of vaccination can reduce the effective reproductive number below the threshold for adaptive evolution of a zoonotic disease with a near critical R. </a:t>
            </a:r>
            <a:endParaRPr lang="en-US" sz="4000" dirty="0"/>
          </a:p>
        </p:txBody>
      </p:sp>
      <p:pic>
        <p:nvPicPr>
          <p:cNvPr id="23" name="Picture 22" descr="A graph with lines and numbers&#10;&#10;AI-generated content may be incorrect.">
            <a:extLst>
              <a:ext uri="{FF2B5EF4-FFF2-40B4-BE49-F238E27FC236}">
                <a16:creationId xmlns:a16="http://schemas.microsoft.com/office/drawing/2014/main" id="{0A27AD60-3182-3D70-DD40-96DE4BA692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" t="-692" r="4736" b="692"/>
          <a:stretch/>
        </p:blipFill>
        <p:spPr>
          <a:xfrm>
            <a:off x="22495151" y="10811255"/>
            <a:ext cx="9889849" cy="674395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BD7A292-3ED4-6E3B-AE6C-3416F9D412C5}"/>
              </a:ext>
            </a:extLst>
          </p:cNvPr>
          <p:cNvSpPr txBox="1"/>
          <p:nvPr/>
        </p:nvSpPr>
        <p:spPr>
          <a:xfrm>
            <a:off x="23023879" y="14050758"/>
            <a:ext cx="3352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P</a:t>
            </a:r>
            <a:r>
              <a:rPr lang="en-US" sz="2800" baseline="-25000" dirty="0" err="1"/>
              <a:t>Emergence</a:t>
            </a:r>
            <a:r>
              <a:rPr lang="en-US" sz="2800" dirty="0"/>
              <a:t>(R</a:t>
            </a:r>
            <a:r>
              <a:rPr lang="en-US" sz="2800" baseline="-25000" dirty="0"/>
              <a:t>T</a:t>
            </a:r>
            <a:r>
              <a:rPr lang="en-US" sz="2800" dirty="0"/>
              <a:t>)</a:t>
            </a:r>
            <a:r>
              <a:rPr lang="en-US" sz="2800" baseline="-25000" dirty="0"/>
              <a:t> </a:t>
            </a:r>
            <a:r>
              <a:rPr lang="en-US" sz="2800" dirty="0"/>
              <a:t>= 10</a:t>
            </a:r>
            <a:r>
              <a:rPr lang="en-US" sz="2800" baseline="30000" dirty="0"/>
              <a:t>-5</a:t>
            </a:r>
            <a:endParaRPr lang="en-US" sz="28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0841D17-0AE9-4D9A-401E-E2530E6E05A0}"/>
              </a:ext>
            </a:extLst>
          </p:cNvPr>
          <p:cNvSpPr txBox="1"/>
          <p:nvPr/>
        </p:nvSpPr>
        <p:spPr>
          <a:xfrm>
            <a:off x="19264302" y="17672613"/>
            <a:ext cx="1316702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000" b="1" dirty="0"/>
              <a:t>Probability of evolving sustained transmission (R &gt; 1)</a:t>
            </a:r>
            <a:r>
              <a:rPr lang="en-US" sz="4000" dirty="0"/>
              <a:t>. As </a:t>
            </a:r>
            <a:r>
              <a:rPr lang="en-US" sz="4000" dirty="0" err="1"/>
              <a:t>R_e</a:t>
            </a:r>
            <a:r>
              <a:rPr lang="en-US" sz="4000" dirty="0"/>
              <a:t> increases, fewer mutations are required to evolve R &gt; 1, introducing sharp increases in emergence probability.  Delta R: proportional increase in transmissibility with mutation; mu: rate (per infection) of adaptation. </a:t>
            </a:r>
          </a:p>
        </p:txBody>
      </p:sp>
      <p:pic>
        <p:nvPicPr>
          <p:cNvPr id="29" name="Picture 28" descr="A graph showing different colors&#10;&#10;AI-generated content may be incorrect.">
            <a:extLst>
              <a:ext uri="{FF2B5EF4-FFF2-40B4-BE49-F238E27FC236}">
                <a16:creationId xmlns:a16="http://schemas.microsoft.com/office/drawing/2014/main" id="{01BF3A8B-5753-57BB-928F-EBCA1BEEA9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50575" y="22770499"/>
            <a:ext cx="9332682" cy="6054429"/>
          </a:xfrm>
          <a:prstGeom prst="rect">
            <a:avLst/>
          </a:prstGeom>
        </p:spPr>
      </p:pic>
      <p:pic>
        <p:nvPicPr>
          <p:cNvPr id="30" name="Picture 29" descr="A screenshot of a graph&#10;&#10;AI-generated content may be incorrect.">
            <a:extLst>
              <a:ext uri="{FF2B5EF4-FFF2-40B4-BE49-F238E27FC236}">
                <a16:creationId xmlns:a16="http://schemas.microsoft.com/office/drawing/2014/main" id="{0AFF7EC7-D60A-9D64-17F5-5828ADD636A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23879" y="31027471"/>
            <a:ext cx="9361121" cy="8215529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2BABE407-BA7D-7FF1-775A-A545C719B9C0}"/>
              </a:ext>
            </a:extLst>
          </p:cNvPr>
          <p:cNvSpPr txBox="1"/>
          <p:nvPr/>
        </p:nvSpPr>
        <p:spPr>
          <a:xfrm>
            <a:off x="1137719" y="36231515"/>
            <a:ext cx="1641991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4000" dirty="0"/>
              <a:t>If circulation in the human population continues and the virus evolves high (Smallpox, R=3) transmissibility, a much larger fraction of the population must be vaccinated to first eradicate the disease</a:t>
            </a:r>
            <a:r>
              <a:rPr lang="en-US" sz="4000" b="1" dirty="0"/>
              <a:t>.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12402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DA715F-A67B-243B-DDAA-101AC8A39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6" name="Group 10">
            <a:extLst>
              <a:ext uri="{FF2B5EF4-FFF2-40B4-BE49-F238E27FC236}">
                <a16:creationId xmlns:a16="http://schemas.microsoft.com/office/drawing/2014/main" id="{6B23363C-1BA3-8512-241A-871F1A147420}"/>
              </a:ext>
            </a:extLst>
          </p:cNvPr>
          <p:cNvGrpSpPr/>
          <p:nvPr/>
        </p:nvGrpSpPr>
        <p:grpSpPr>
          <a:xfrm>
            <a:off x="-56" y="7844508"/>
            <a:ext cx="32918337" cy="36206136"/>
            <a:chOff x="0" y="-93394"/>
            <a:chExt cx="14643633" cy="1709221"/>
          </a:xfrm>
          <a:solidFill>
            <a:schemeClr val="bg1"/>
          </a:solidFill>
        </p:grpSpPr>
        <p:sp>
          <p:nvSpPr>
            <p:cNvPr id="197" name="Freeform 11">
              <a:extLst>
                <a:ext uri="{FF2B5EF4-FFF2-40B4-BE49-F238E27FC236}">
                  <a16:creationId xmlns:a16="http://schemas.microsoft.com/office/drawing/2014/main" id="{55908AF6-B83B-6F26-C3A7-38C11F1A0272}"/>
                </a:ext>
              </a:extLst>
            </p:cNvPr>
            <p:cNvSpPr/>
            <p:nvPr/>
          </p:nvSpPr>
          <p:spPr>
            <a:xfrm>
              <a:off x="0" y="0"/>
              <a:ext cx="14643608" cy="1615821"/>
            </a:xfrm>
            <a:custGeom>
              <a:avLst/>
              <a:gdLst/>
              <a:ahLst/>
              <a:cxnLst/>
              <a:rect l="l" t="t" r="r" b="b"/>
              <a:pathLst>
                <a:path w="14643608" h="1615821">
                  <a:moveTo>
                    <a:pt x="0" y="0"/>
                  </a:moveTo>
                  <a:lnTo>
                    <a:pt x="14643608" y="0"/>
                  </a:lnTo>
                  <a:lnTo>
                    <a:pt x="14643608" y="1615821"/>
                  </a:lnTo>
                  <a:lnTo>
                    <a:pt x="0" y="1615821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sz="1350" dirty="0"/>
            </a:p>
          </p:txBody>
        </p:sp>
        <p:sp>
          <p:nvSpPr>
            <p:cNvPr id="198" name="TextBox 12">
              <a:extLst>
                <a:ext uri="{FF2B5EF4-FFF2-40B4-BE49-F238E27FC236}">
                  <a16:creationId xmlns:a16="http://schemas.microsoft.com/office/drawing/2014/main" id="{2D175C18-9192-90ED-DCE5-B0D4B4630676}"/>
                </a:ext>
              </a:extLst>
            </p:cNvPr>
            <p:cNvSpPr txBox="1"/>
            <p:nvPr/>
          </p:nvSpPr>
          <p:spPr>
            <a:xfrm>
              <a:off x="0" y="-93394"/>
              <a:ext cx="14643633" cy="1709221"/>
            </a:xfrm>
            <a:prstGeom prst="rect">
              <a:avLst/>
            </a:prstGeom>
            <a:grpFill/>
          </p:spPr>
          <p:txBody>
            <a:bodyPr lIns="42863" tIns="42863" rIns="42863" bIns="42863" rtlCol="0" anchor="ctr"/>
            <a:lstStyle/>
            <a:p>
              <a:pPr algn="ctr">
                <a:lnSpc>
                  <a:spcPts val="5315"/>
                </a:lnSpc>
              </a:pPr>
              <a:endParaRPr lang="en-US" sz="4430" spc="41" dirty="0">
                <a:solidFill>
                  <a:srgbClr val="000000"/>
                </a:solidFill>
                <a:latin typeface="Calibri (MS) Bold"/>
              </a:endParaRPr>
            </a:p>
          </p:txBody>
        </p:sp>
      </p:grpSp>
      <p:grpSp>
        <p:nvGrpSpPr>
          <p:cNvPr id="28" name="Group 10">
            <a:extLst>
              <a:ext uri="{FF2B5EF4-FFF2-40B4-BE49-F238E27FC236}">
                <a16:creationId xmlns:a16="http://schemas.microsoft.com/office/drawing/2014/main" id="{5DCAAA33-107A-8BB7-803F-2CA22E1E8BAC}"/>
              </a:ext>
            </a:extLst>
          </p:cNvPr>
          <p:cNvGrpSpPr/>
          <p:nvPr/>
        </p:nvGrpSpPr>
        <p:grpSpPr>
          <a:xfrm>
            <a:off x="0" y="6400800"/>
            <a:ext cx="32918400" cy="2585346"/>
            <a:chOff x="0" y="0"/>
            <a:chExt cx="14643633" cy="1615827"/>
          </a:xfrm>
          <a:solidFill>
            <a:srgbClr val="FFBA00"/>
          </a:solidFill>
        </p:grpSpPr>
        <p:sp>
          <p:nvSpPr>
            <p:cNvPr id="42" name="Freeform 11">
              <a:extLst>
                <a:ext uri="{FF2B5EF4-FFF2-40B4-BE49-F238E27FC236}">
                  <a16:creationId xmlns:a16="http://schemas.microsoft.com/office/drawing/2014/main" id="{B732E136-FEE0-D12B-7FD9-09AED22C96DC}"/>
                </a:ext>
              </a:extLst>
            </p:cNvPr>
            <p:cNvSpPr/>
            <p:nvPr/>
          </p:nvSpPr>
          <p:spPr>
            <a:xfrm>
              <a:off x="0" y="0"/>
              <a:ext cx="14643608" cy="1615821"/>
            </a:xfrm>
            <a:custGeom>
              <a:avLst/>
              <a:gdLst/>
              <a:ahLst/>
              <a:cxnLst/>
              <a:rect l="l" t="t" r="r" b="b"/>
              <a:pathLst>
                <a:path w="14643608" h="1615821">
                  <a:moveTo>
                    <a:pt x="0" y="0"/>
                  </a:moveTo>
                  <a:lnTo>
                    <a:pt x="14643608" y="0"/>
                  </a:lnTo>
                  <a:lnTo>
                    <a:pt x="14643608" y="1615821"/>
                  </a:lnTo>
                  <a:lnTo>
                    <a:pt x="0" y="1615821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sz="1350" dirty="0"/>
            </a:p>
          </p:txBody>
        </p:sp>
        <p:sp>
          <p:nvSpPr>
            <p:cNvPr id="44" name="TextBox 12">
              <a:extLst>
                <a:ext uri="{FF2B5EF4-FFF2-40B4-BE49-F238E27FC236}">
                  <a16:creationId xmlns:a16="http://schemas.microsoft.com/office/drawing/2014/main" id="{F811DD63-150C-EBB7-9B3D-727425105A1A}"/>
                </a:ext>
              </a:extLst>
            </p:cNvPr>
            <p:cNvSpPr txBox="1"/>
            <p:nvPr/>
          </p:nvSpPr>
          <p:spPr>
            <a:xfrm>
              <a:off x="0" y="-123825"/>
              <a:ext cx="14643633" cy="1739652"/>
            </a:xfrm>
            <a:prstGeom prst="rect">
              <a:avLst/>
            </a:prstGeom>
            <a:grpFill/>
          </p:spPr>
          <p:txBody>
            <a:bodyPr lIns="42863" tIns="42863" rIns="42863" bIns="42863" rtlCol="0" anchor="ctr"/>
            <a:lstStyle/>
            <a:p>
              <a:pPr algn="ctr">
                <a:lnSpc>
                  <a:spcPts val="5315"/>
                </a:lnSpc>
              </a:pPr>
              <a:endParaRPr lang="en-US" sz="4430" spc="41" dirty="0">
                <a:solidFill>
                  <a:srgbClr val="000000"/>
                </a:solidFill>
                <a:latin typeface="Calibri (MS) Bold"/>
              </a:endParaRPr>
            </a:p>
          </p:txBody>
        </p:sp>
      </p:grpSp>
      <p:sp>
        <p:nvSpPr>
          <p:cNvPr id="176" name="TextBox 175">
            <a:extLst>
              <a:ext uri="{FF2B5EF4-FFF2-40B4-BE49-F238E27FC236}">
                <a16:creationId xmlns:a16="http://schemas.microsoft.com/office/drawing/2014/main" id="{FFC36B3C-CC65-D670-9A16-47D4829CEFB7}"/>
              </a:ext>
            </a:extLst>
          </p:cNvPr>
          <p:cNvSpPr txBox="1"/>
          <p:nvPr/>
        </p:nvSpPr>
        <p:spPr>
          <a:xfrm>
            <a:off x="20726400" y="7467600"/>
            <a:ext cx="640414" cy="1569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solidFill>
                  <a:schemeClr val="bg1"/>
                </a:solidFill>
              </a:rPr>
              <a:t>†</a:t>
            </a:r>
          </a:p>
        </p:txBody>
      </p:sp>
      <p:sp>
        <p:nvSpPr>
          <p:cNvPr id="177" name="TextBox 12">
            <a:extLst>
              <a:ext uri="{FF2B5EF4-FFF2-40B4-BE49-F238E27FC236}">
                <a16:creationId xmlns:a16="http://schemas.microsoft.com/office/drawing/2014/main" id="{18A2FFAA-C56B-E0C2-7922-0E566290CB0D}"/>
              </a:ext>
            </a:extLst>
          </p:cNvPr>
          <p:cNvSpPr txBox="1"/>
          <p:nvPr/>
        </p:nvSpPr>
        <p:spPr>
          <a:xfrm>
            <a:off x="817482" y="2118146"/>
            <a:ext cx="26574869" cy="3292054"/>
          </a:xfrm>
          <a:prstGeom prst="rect">
            <a:avLst/>
          </a:prstGeom>
        </p:spPr>
        <p:txBody>
          <a:bodyPr lIns="42863" tIns="42863" rIns="42863" bIns="42863" rtlCol="0" anchor="ctr"/>
          <a:lstStyle/>
          <a:p>
            <a:r>
              <a:rPr lang="en-US" sz="9600" spc="41" dirty="0">
                <a:solidFill>
                  <a:schemeClr val="bg2"/>
                </a:solidFill>
                <a:latin typeface="Calibri (MS) Bold"/>
              </a:rPr>
              <a:t>Can we stop vaccinating against </a:t>
            </a:r>
          </a:p>
          <a:p>
            <a:r>
              <a:rPr lang="en-US" sz="9600" spc="41" dirty="0">
                <a:solidFill>
                  <a:schemeClr val="bg2"/>
                </a:solidFill>
                <a:latin typeface="Calibri (MS) Bold"/>
              </a:rPr>
              <a:t>pox viruses?</a:t>
            </a:r>
          </a:p>
        </p:txBody>
      </p:sp>
      <p:sp>
        <p:nvSpPr>
          <p:cNvPr id="178" name="TextBox 12">
            <a:extLst>
              <a:ext uri="{FF2B5EF4-FFF2-40B4-BE49-F238E27FC236}">
                <a16:creationId xmlns:a16="http://schemas.microsoft.com/office/drawing/2014/main" id="{C446ADC1-DDA8-E887-F9AB-26C52374D02F}"/>
              </a:ext>
            </a:extLst>
          </p:cNvPr>
          <p:cNvSpPr txBox="1"/>
          <p:nvPr/>
        </p:nvSpPr>
        <p:spPr>
          <a:xfrm>
            <a:off x="715936" y="-224412"/>
            <a:ext cx="26574869" cy="3292054"/>
          </a:xfrm>
          <a:prstGeom prst="rect">
            <a:avLst/>
          </a:prstGeom>
        </p:spPr>
        <p:txBody>
          <a:bodyPr lIns="42863" tIns="42863" rIns="42863" bIns="42863" rtlCol="0" anchor="ctr"/>
          <a:lstStyle/>
          <a:p>
            <a:r>
              <a:rPr lang="en-US" sz="11500" spc="41" dirty="0">
                <a:solidFill>
                  <a:schemeClr val="bg1">
                    <a:lumMod val="95000"/>
                  </a:schemeClr>
                </a:solidFill>
                <a:latin typeface="Calibri (MS) Bold"/>
              </a:rPr>
              <a:t>Vaccination to Prevent Disease Emergence</a:t>
            </a:r>
          </a:p>
        </p:txBody>
      </p:sp>
      <p:grpSp>
        <p:nvGrpSpPr>
          <p:cNvPr id="199" name="Group 10">
            <a:extLst>
              <a:ext uri="{FF2B5EF4-FFF2-40B4-BE49-F238E27FC236}">
                <a16:creationId xmlns:a16="http://schemas.microsoft.com/office/drawing/2014/main" id="{0A1B4D84-86FB-A57F-2A7C-8A720758A38C}"/>
              </a:ext>
            </a:extLst>
          </p:cNvPr>
          <p:cNvGrpSpPr/>
          <p:nvPr/>
        </p:nvGrpSpPr>
        <p:grpSpPr>
          <a:xfrm>
            <a:off x="19230508" y="9280015"/>
            <a:ext cx="13357690" cy="30172108"/>
            <a:chOff x="0" y="-93394"/>
            <a:chExt cx="14866869" cy="1709221"/>
          </a:xfrm>
          <a:solidFill>
            <a:schemeClr val="bg2"/>
          </a:solidFill>
        </p:grpSpPr>
        <p:sp>
          <p:nvSpPr>
            <p:cNvPr id="200" name="Freeform 11">
              <a:extLst>
                <a:ext uri="{FF2B5EF4-FFF2-40B4-BE49-F238E27FC236}">
                  <a16:creationId xmlns:a16="http://schemas.microsoft.com/office/drawing/2014/main" id="{58B1AD5C-29DA-301E-DB6D-3118802CDA9D}"/>
                </a:ext>
              </a:extLst>
            </p:cNvPr>
            <p:cNvSpPr/>
            <p:nvPr/>
          </p:nvSpPr>
          <p:spPr>
            <a:xfrm>
              <a:off x="0" y="0"/>
              <a:ext cx="14643608" cy="1615821"/>
            </a:xfrm>
            <a:custGeom>
              <a:avLst/>
              <a:gdLst/>
              <a:ahLst/>
              <a:cxnLst/>
              <a:rect l="l" t="t" r="r" b="b"/>
              <a:pathLst>
                <a:path w="14643608" h="1615821">
                  <a:moveTo>
                    <a:pt x="0" y="0"/>
                  </a:moveTo>
                  <a:lnTo>
                    <a:pt x="14643608" y="0"/>
                  </a:lnTo>
                  <a:lnTo>
                    <a:pt x="14643608" y="1615821"/>
                  </a:lnTo>
                  <a:lnTo>
                    <a:pt x="0" y="1615821"/>
                  </a:lnTo>
                  <a:close/>
                </a:path>
              </a:pathLst>
            </a:custGeom>
            <a:grpFill/>
            <a:ln>
              <a:solidFill>
                <a:schemeClr val="bg2"/>
              </a:solidFill>
            </a:ln>
          </p:spPr>
          <p:txBody>
            <a:bodyPr/>
            <a:lstStyle/>
            <a:p>
              <a:endParaRPr lang="en-US" sz="1350" dirty="0"/>
            </a:p>
          </p:txBody>
        </p:sp>
        <p:sp>
          <p:nvSpPr>
            <p:cNvPr id="201" name="TextBox 12">
              <a:extLst>
                <a:ext uri="{FF2B5EF4-FFF2-40B4-BE49-F238E27FC236}">
                  <a16:creationId xmlns:a16="http://schemas.microsoft.com/office/drawing/2014/main" id="{12D10C1B-93CF-55B5-813B-CFEE37D7C820}"/>
                </a:ext>
              </a:extLst>
            </p:cNvPr>
            <p:cNvSpPr txBox="1"/>
            <p:nvPr/>
          </p:nvSpPr>
          <p:spPr>
            <a:xfrm>
              <a:off x="0" y="-93394"/>
              <a:ext cx="14866869" cy="1709221"/>
            </a:xfrm>
            <a:prstGeom prst="rect">
              <a:avLst/>
            </a:prstGeom>
            <a:grpFill/>
            <a:ln>
              <a:solidFill>
                <a:schemeClr val="bg2"/>
              </a:solidFill>
            </a:ln>
          </p:spPr>
          <p:txBody>
            <a:bodyPr lIns="42863" tIns="42863" rIns="42863" bIns="42863" rtlCol="0" anchor="ctr"/>
            <a:lstStyle/>
            <a:p>
              <a:pPr algn="ctr">
                <a:lnSpc>
                  <a:spcPts val="5315"/>
                </a:lnSpc>
              </a:pPr>
              <a:endParaRPr lang="en-US" sz="4430" spc="41" dirty="0">
                <a:solidFill>
                  <a:srgbClr val="000000"/>
                </a:solidFill>
                <a:latin typeface="Calibri (MS) Bold"/>
              </a:endParaRPr>
            </a:p>
          </p:txBody>
        </p:sp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D66C26BC-059F-1E8C-2A1F-D546F3C1741F}"/>
              </a:ext>
            </a:extLst>
          </p:cNvPr>
          <p:cNvGrpSpPr/>
          <p:nvPr/>
        </p:nvGrpSpPr>
        <p:grpSpPr>
          <a:xfrm>
            <a:off x="7239000" y="1335255"/>
            <a:ext cx="24540877" cy="7395231"/>
            <a:chOff x="7903512" y="165324"/>
            <a:chExt cx="24540877" cy="7395231"/>
          </a:xfrm>
        </p:grpSpPr>
        <p:grpSp>
          <p:nvGrpSpPr>
            <p:cNvPr id="158" name="Group 157">
              <a:extLst>
                <a:ext uri="{FF2B5EF4-FFF2-40B4-BE49-F238E27FC236}">
                  <a16:creationId xmlns:a16="http://schemas.microsoft.com/office/drawing/2014/main" id="{16BEF6D2-C7C4-2FDA-38D0-2D983C40DE74}"/>
                </a:ext>
              </a:extLst>
            </p:cNvPr>
            <p:cNvGrpSpPr/>
            <p:nvPr/>
          </p:nvGrpSpPr>
          <p:grpSpPr>
            <a:xfrm rot="16200000">
              <a:off x="15316598" y="-7247762"/>
              <a:ext cx="7395231" cy="22221404"/>
              <a:chOff x="4304531" y="396062"/>
              <a:chExt cx="1457351" cy="4524127"/>
            </a:xfrm>
          </p:grpSpPr>
          <p:cxnSp>
            <p:nvCxnSpPr>
              <p:cNvPr id="159" name="Straight Arrow Connector 158">
                <a:extLst>
                  <a:ext uri="{FF2B5EF4-FFF2-40B4-BE49-F238E27FC236}">
                    <a16:creationId xmlns:a16="http://schemas.microsoft.com/office/drawing/2014/main" id="{699B3369-D559-1CC2-A5A1-5490A1D492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93666" y="664142"/>
                <a:ext cx="0" cy="496430"/>
              </a:xfrm>
              <a:prstGeom prst="straightConnector1">
                <a:avLst/>
              </a:prstGeom>
              <a:ln w="76200">
                <a:solidFill>
                  <a:schemeClr val="bg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0" name="Oval 159">
                <a:extLst>
                  <a:ext uri="{FF2B5EF4-FFF2-40B4-BE49-F238E27FC236}">
                    <a16:creationId xmlns:a16="http://schemas.microsoft.com/office/drawing/2014/main" id="{E4E04C82-51F4-2493-049D-3BC19A54347E}"/>
                  </a:ext>
                </a:extLst>
              </p:cNvPr>
              <p:cNvSpPr/>
              <p:nvPr/>
            </p:nvSpPr>
            <p:spPr>
              <a:xfrm>
                <a:off x="4714294" y="396062"/>
                <a:ext cx="205539" cy="190500"/>
              </a:xfrm>
              <a:prstGeom prst="ellipse">
                <a:avLst/>
              </a:prstGeom>
              <a:solidFill>
                <a:schemeClr val="accent3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59ED717-73E3-9FAB-719F-1193AC4BCEE2}"/>
                  </a:ext>
                </a:extLst>
              </p:cNvPr>
              <p:cNvSpPr/>
              <p:nvPr/>
            </p:nvSpPr>
            <p:spPr>
              <a:xfrm>
                <a:off x="4714294" y="1264834"/>
                <a:ext cx="205539" cy="190500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62" name="Straight Arrow Connector 161">
                <a:extLst>
                  <a:ext uri="{FF2B5EF4-FFF2-40B4-BE49-F238E27FC236}">
                    <a16:creationId xmlns:a16="http://schemas.microsoft.com/office/drawing/2014/main" id="{C48F0E2B-8B10-064E-814C-7555B98E0E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93666" y="1532917"/>
                <a:ext cx="0" cy="496428"/>
              </a:xfrm>
              <a:prstGeom prst="straightConnector1">
                <a:avLst/>
              </a:prstGeom>
              <a:ln w="76200">
                <a:solidFill>
                  <a:schemeClr val="bg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A2112D0A-F82F-43C8-B5CC-E1EC57A36BE7}"/>
                  </a:ext>
                </a:extLst>
              </p:cNvPr>
              <p:cNvSpPr/>
              <p:nvPr/>
            </p:nvSpPr>
            <p:spPr>
              <a:xfrm>
                <a:off x="4707790" y="2117924"/>
                <a:ext cx="205539" cy="190500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64" name="Straight Arrow Connector 163">
                <a:extLst>
                  <a:ext uri="{FF2B5EF4-FFF2-40B4-BE49-F238E27FC236}">
                    <a16:creationId xmlns:a16="http://schemas.microsoft.com/office/drawing/2014/main" id="{FC017030-7339-C850-9AA0-7DAD4342970E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4374648" y="2475878"/>
                <a:ext cx="436670" cy="227711"/>
              </a:xfrm>
              <a:prstGeom prst="straightConnector1">
                <a:avLst/>
              </a:prstGeom>
              <a:ln w="76200">
                <a:solidFill>
                  <a:schemeClr val="bg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5" name="Straight Arrow Connector 164">
                <a:extLst>
                  <a:ext uri="{FF2B5EF4-FFF2-40B4-BE49-F238E27FC236}">
                    <a16:creationId xmlns:a16="http://schemas.microsoft.com/office/drawing/2014/main" id="{D98DAF12-8232-4259-EE4A-B4E191B55708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4756278" y="2484115"/>
                <a:ext cx="450566" cy="225134"/>
              </a:xfrm>
              <a:prstGeom prst="straightConnector1">
                <a:avLst/>
              </a:prstGeom>
              <a:ln w="76200">
                <a:solidFill>
                  <a:schemeClr val="bg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6" name="Oval 165">
                <a:extLst>
                  <a:ext uri="{FF2B5EF4-FFF2-40B4-BE49-F238E27FC236}">
                    <a16:creationId xmlns:a16="http://schemas.microsoft.com/office/drawing/2014/main" id="{BF9DF4CD-14C8-37A3-2538-D4C912C978E0}"/>
                  </a:ext>
                </a:extLst>
              </p:cNvPr>
              <p:cNvSpPr/>
              <p:nvPr/>
            </p:nvSpPr>
            <p:spPr>
              <a:xfrm>
                <a:off x="4304531" y="2827690"/>
                <a:ext cx="205539" cy="190500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0180A4B5-2B3B-3F90-E420-9607CDA056C3}"/>
                  </a:ext>
                </a:extLst>
              </p:cNvPr>
              <p:cNvSpPr/>
              <p:nvPr/>
            </p:nvSpPr>
            <p:spPr>
              <a:xfrm>
                <a:off x="5062818" y="2897308"/>
                <a:ext cx="205539" cy="190500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68" name="Straight Arrow Connector 167">
                <a:extLst>
                  <a:ext uri="{FF2B5EF4-FFF2-40B4-BE49-F238E27FC236}">
                    <a16:creationId xmlns:a16="http://schemas.microsoft.com/office/drawing/2014/main" id="{D3357E25-82EA-1C19-53FC-EB43076BA2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3987" y="3192880"/>
                <a:ext cx="0" cy="496428"/>
              </a:xfrm>
              <a:prstGeom prst="straightConnector1">
                <a:avLst/>
              </a:prstGeom>
              <a:ln w="76200">
                <a:solidFill>
                  <a:schemeClr val="bg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9" name="Oval 168">
                <a:extLst>
                  <a:ext uri="{FF2B5EF4-FFF2-40B4-BE49-F238E27FC236}">
                    <a16:creationId xmlns:a16="http://schemas.microsoft.com/office/drawing/2014/main" id="{1385F145-BC91-628C-811D-D555A862889D}"/>
                  </a:ext>
                </a:extLst>
              </p:cNvPr>
              <p:cNvSpPr/>
              <p:nvPr/>
            </p:nvSpPr>
            <p:spPr>
              <a:xfrm>
                <a:off x="5087890" y="3760560"/>
                <a:ext cx="205539" cy="190500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70" name="Straight Arrow Connector 169">
                <a:extLst>
                  <a:ext uri="{FF2B5EF4-FFF2-40B4-BE49-F238E27FC236}">
                    <a16:creationId xmlns:a16="http://schemas.microsoft.com/office/drawing/2014/main" id="{A4712AEE-9112-73BB-2CA7-288A5923058B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4757753" y="4082426"/>
                <a:ext cx="442840" cy="267314"/>
              </a:xfrm>
              <a:prstGeom prst="straightConnector1">
                <a:avLst/>
              </a:prstGeom>
              <a:ln w="76200">
                <a:solidFill>
                  <a:schemeClr val="bg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1" name="Straight Arrow Connector 170">
                <a:extLst>
                  <a:ext uri="{FF2B5EF4-FFF2-40B4-BE49-F238E27FC236}">
                    <a16:creationId xmlns:a16="http://schemas.microsoft.com/office/drawing/2014/main" id="{91B79A5E-AE0A-1E5B-2BF5-86F3E1510C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68380" y="3994990"/>
                <a:ext cx="275737" cy="442513"/>
              </a:xfrm>
              <a:prstGeom prst="straightConnector1">
                <a:avLst/>
              </a:prstGeom>
              <a:ln w="76200">
                <a:solidFill>
                  <a:schemeClr val="bg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2" name="Oval 171">
                <a:extLst>
                  <a:ext uri="{FF2B5EF4-FFF2-40B4-BE49-F238E27FC236}">
                    <a16:creationId xmlns:a16="http://schemas.microsoft.com/office/drawing/2014/main" id="{279AB8BF-4B62-9272-6FE7-81A11A2B2F27}"/>
                  </a:ext>
                </a:extLst>
              </p:cNvPr>
              <p:cNvSpPr/>
              <p:nvPr/>
            </p:nvSpPr>
            <p:spPr>
              <a:xfrm>
                <a:off x="4707790" y="4503470"/>
                <a:ext cx="205539" cy="190500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3" name="Oval 172">
                <a:extLst>
                  <a:ext uri="{FF2B5EF4-FFF2-40B4-BE49-F238E27FC236}">
                    <a16:creationId xmlns:a16="http://schemas.microsoft.com/office/drawing/2014/main" id="{577BE0BF-EDC5-C813-1927-5E46A592EB39}"/>
                  </a:ext>
                </a:extLst>
              </p:cNvPr>
              <p:cNvSpPr/>
              <p:nvPr/>
            </p:nvSpPr>
            <p:spPr>
              <a:xfrm>
                <a:off x="5504131" y="4481433"/>
                <a:ext cx="205539" cy="190500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95848EB2-1CD3-72B8-C27A-E5AB5CCAC284}"/>
                  </a:ext>
                </a:extLst>
              </p:cNvPr>
              <p:cNvSpPr txBox="1"/>
              <p:nvPr/>
            </p:nvSpPr>
            <p:spPr>
              <a:xfrm rot="5400000">
                <a:off x="5542027" y="4700333"/>
                <a:ext cx="130384" cy="3093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600" dirty="0">
                    <a:solidFill>
                      <a:schemeClr val="bg1">
                        <a:lumMod val="95000"/>
                      </a:schemeClr>
                    </a:solidFill>
                  </a:rPr>
                  <a:t>†</a:t>
                </a:r>
              </a:p>
            </p:txBody>
          </p:sp>
        </p:grpSp>
        <p:cxnSp>
          <p:nvCxnSpPr>
            <p:cNvPr id="179" name="Straight Arrow Connector 178">
              <a:extLst>
                <a:ext uri="{FF2B5EF4-FFF2-40B4-BE49-F238E27FC236}">
                  <a16:creationId xmlns:a16="http://schemas.microsoft.com/office/drawing/2014/main" id="{A448C2E4-942B-47BB-887A-0EAD6ED42595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9571754" y="2813247"/>
              <a:ext cx="1399209" cy="2173516"/>
            </a:xfrm>
            <a:prstGeom prst="straightConnector1">
              <a:avLst/>
            </a:prstGeom>
            <a:ln w="76200">
              <a:solidFill>
                <a:schemeClr val="bg1">
                  <a:lumMod val="9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0" name="Straight Arrow Connector 179">
              <a:extLst>
                <a:ext uri="{FF2B5EF4-FFF2-40B4-BE49-F238E27FC236}">
                  <a16:creationId xmlns:a16="http://schemas.microsoft.com/office/drawing/2014/main" id="{DD8D4661-49F8-FC33-8FA8-D01A2093E10E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29604031" y="5083505"/>
              <a:ext cx="1399209" cy="2173516"/>
            </a:xfrm>
            <a:prstGeom prst="straightConnector1">
              <a:avLst/>
            </a:prstGeom>
            <a:ln w="76200">
              <a:solidFill>
                <a:schemeClr val="bg1">
                  <a:lumMod val="9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3120EAA2-D2FC-48FA-EA3D-C8DC29C62684}"/>
                </a:ext>
              </a:extLst>
            </p:cNvPr>
            <p:cNvSpPr/>
            <p:nvPr/>
          </p:nvSpPr>
          <p:spPr>
            <a:xfrm rot="16200000">
              <a:off x="31455048" y="2439658"/>
              <a:ext cx="1042994" cy="935689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8B7C5034-6304-1E13-B197-590C12D47DBD}"/>
                </a:ext>
              </a:extLst>
            </p:cNvPr>
            <p:cNvSpPr/>
            <p:nvPr/>
          </p:nvSpPr>
          <p:spPr>
            <a:xfrm rot="16200000">
              <a:off x="31455048" y="6524738"/>
              <a:ext cx="1042994" cy="935689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0" name="Freeform 11">
            <a:extLst>
              <a:ext uri="{FF2B5EF4-FFF2-40B4-BE49-F238E27FC236}">
                <a16:creationId xmlns:a16="http://schemas.microsoft.com/office/drawing/2014/main" id="{3D367B89-CF15-CAFA-BF85-12A5AC795766}"/>
              </a:ext>
            </a:extLst>
          </p:cNvPr>
          <p:cNvSpPr/>
          <p:nvPr/>
        </p:nvSpPr>
        <p:spPr>
          <a:xfrm>
            <a:off x="326070" y="39769211"/>
            <a:ext cx="32262128" cy="3962817"/>
          </a:xfrm>
          <a:custGeom>
            <a:avLst/>
            <a:gdLst/>
            <a:ahLst/>
            <a:cxnLst/>
            <a:rect l="l" t="t" r="r" b="b"/>
            <a:pathLst>
              <a:path w="14643608" h="1615821">
                <a:moveTo>
                  <a:pt x="0" y="0"/>
                </a:moveTo>
                <a:lnTo>
                  <a:pt x="14643608" y="0"/>
                </a:lnTo>
                <a:lnTo>
                  <a:pt x="14643608" y="1615821"/>
                </a:lnTo>
                <a:lnTo>
                  <a:pt x="0" y="1615821"/>
                </a:lnTo>
                <a:close/>
              </a:path>
            </a:pathLst>
          </a:custGeom>
          <a:solidFill>
            <a:srgbClr val="002060"/>
          </a:solidFill>
        </p:spPr>
        <p:txBody>
          <a:bodyPr/>
          <a:lstStyle/>
          <a:p>
            <a:endParaRPr lang="en-US" sz="1350" dirty="0"/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9A6FD25B-B43C-3BCB-479A-647D6508E7A6}"/>
              </a:ext>
            </a:extLst>
          </p:cNvPr>
          <p:cNvSpPr txBox="1"/>
          <p:nvPr/>
        </p:nvSpPr>
        <p:spPr>
          <a:xfrm>
            <a:off x="1144577" y="40512977"/>
            <a:ext cx="3097495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</a:rPr>
              <a:t>Preventing </a:t>
            </a:r>
            <a:r>
              <a:rPr lang="en-US" sz="7200" dirty="0">
                <a:solidFill>
                  <a:schemeClr val="bg1"/>
                </a:solidFill>
              </a:rPr>
              <a:t>the emergence of zoonotic disease requires </a:t>
            </a:r>
            <a:r>
              <a:rPr lang="en-US" sz="7200" b="1" dirty="0">
                <a:solidFill>
                  <a:schemeClr val="bg1"/>
                </a:solidFill>
              </a:rPr>
              <a:t>significantly less vaccination </a:t>
            </a:r>
            <a:r>
              <a:rPr lang="en-US" sz="7200" dirty="0">
                <a:solidFill>
                  <a:schemeClr val="bg1"/>
                </a:solidFill>
              </a:rPr>
              <a:t>than eradicating once endemic</a:t>
            </a:r>
            <a:r>
              <a:rPr lang="en-US" sz="7200" b="1" dirty="0">
                <a:solidFill>
                  <a:schemeClr val="bg1"/>
                </a:solidFill>
              </a:rPr>
              <a:t>. 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98041906-8CB5-8FB9-5436-9AB2C30CE94B}"/>
              </a:ext>
            </a:extLst>
          </p:cNvPr>
          <p:cNvSpPr txBox="1"/>
          <p:nvPr/>
        </p:nvSpPr>
        <p:spPr>
          <a:xfrm>
            <a:off x="98183" y="6852294"/>
            <a:ext cx="1559818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Cora Hirst</a:t>
            </a:r>
            <a:r>
              <a:rPr lang="en-US" sz="4800" baseline="30000" dirty="0"/>
              <a:t>1</a:t>
            </a:r>
            <a:r>
              <a:rPr lang="en-US" sz="4800" dirty="0"/>
              <a:t>, Julia Deichmann</a:t>
            </a:r>
            <a:r>
              <a:rPr lang="en-US" sz="4800" baseline="30000" dirty="0"/>
              <a:t>2</a:t>
            </a:r>
            <a:r>
              <a:rPr lang="en-US" sz="4800" dirty="0"/>
              <a:t>, Rustom Antia</a:t>
            </a:r>
            <a:r>
              <a:rPr lang="en-US" sz="4800" baseline="30000" dirty="0"/>
              <a:t>1</a:t>
            </a:r>
          </a:p>
          <a:p>
            <a:endParaRPr lang="en-US" sz="4800" baseline="30000" dirty="0">
              <a:solidFill>
                <a:schemeClr val="tx2"/>
              </a:solidFill>
            </a:endParaRPr>
          </a:p>
          <a:p>
            <a:r>
              <a:rPr lang="en-US" sz="4800" baseline="30000" dirty="0">
                <a:solidFill>
                  <a:schemeClr val="tx2"/>
                </a:solidFill>
              </a:rPr>
              <a:t>(1) Emory University Department of Biology (2) Harvard T. Chan School of Public Health</a:t>
            </a:r>
          </a:p>
          <a:p>
            <a:endParaRPr lang="en-US" sz="4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735991-012E-B8DA-0E0C-E675B642EFF9}"/>
              </a:ext>
            </a:extLst>
          </p:cNvPr>
          <p:cNvSpPr txBox="1"/>
          <p:nvPr/>
        </p:nvSpPr>
        <p:spPr>
          <a:xfrm>
            <a:off x="3276600" y="26416860"/>
            <a:ext cx="116956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000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786D63-CB13-0F10-C36D-119E659CBCE6}"/>
              </a:ext>
            </a:extLst>
          </p:cNvPr>
          <p:cNvSpPr txBox="1"/>
          <p:nvPr/>
        </p:nvSpPr>
        <p:spPr>
          <a:xfrm>
            <a:off x="267403" y="9525000"/>
            <a:ext cx="18633022" cy="1032459"/>
          </a:xfrm>
          <a:prstGeom prst="rect">
            <a:avLst/>
          </a:prstGeom>
          <a:ln w="76200"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002060"/>
                </a:solidFill>
              </a:rPr>
              <a:t>Motivation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8A50B8-26EB-A4CF-BFAA-8CFBA977993E}"/>
              </a:ext>
            </a:extLst>
          </p:cNvPr>
          <p:cNvSpPr txBox="1"/>
          <p:nvPr/>
        </p:nvSpPr>
        <p:spPr>
          <a:xfrm>
            <a:off x="277143" y="10775961"/>
            <a:ext cx="1880904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Decaying cross-protective immunity at the population level </a:t>
            </a:r>
            <a:r>
              <a:rPr lang="en-US" sz="4000" dirty="0"/>
              <a:t>increases the evolutionary potential of zoonotic pathogens related to eradicated pathogens.</a:t>
            </a:r>
            <a:endParaRPr lang="en-US" sz="4000" b="1" dirty="0"/>
          </a:p>
        </p:txBody>
      </p:sp>
      <p:pic>
        <p:nvPicPr>
          <p:cNvPr id="8" name="Picture 7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FC64D3AC-2206-F284-D703-29386E0391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21"/>
          <a:stretch/>
        </p:blipFill>
        <p:spPr>
          <a:xfrm>
            <a:off x="277143" y="12347436"/>
            <a:ext cx="10185279" cy="663613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501F6DD-D2F0-6A99-A2D4-0DE7B16A09E2}"/>
              </a:ext>
            </a:extLst>
          </p:cNvPr>
          <p:cNvSpPr txBox="1"/>
          <p:nvPr/>
        </p:nvSpPr>
        <p:spPr>
          <a:xfrm>
            <a:off x="9491999" y="12391051"/>
            <a:ext cx="9442219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000" b="1" dirty="0"/>
              <a:t>Zoonotic disease transmission after spillover becomes more likely </a:t>
            </a:r>
            <a:r>
              <a:rPr lang="en-US" sz="4000" dirty="0"/>
              <a:t>as cross-protection to eradicated relative decays </a:t>
            </a:r>
          </a:p>
          <a:p>
            <a:pPr algn="r"/>
            <a:r>
              <a:rPr lang="en-US" sz="4000" dirty="0"/>
              <a:t>at the population level. </a:t>
            </a:r>
          </a:p>
          <a:p>
            <a:pPr algn="r"/>
            <a:endParaRPr lang="en-US" sz="2800" dirty="0"/>
          </a:p>
          <a:p>
            <a:pPr algn="r"/>
            <a:r>
              <a:rPr lang="en-US" sz="4000" dirty="0"/>
              <a:t>Even if the number of secondary cases expected from a single case is less than 1 </a:t>
            </a:r>
          </a:p>
          <a:p>
            <a:pPr algn="r"/>
            <a:r>
              <a:rPr lang="en-US" sz="4000" dirty="0"/>
              <a:t>(R &lt; 1) , </a:t>
            </a:r>
            <a:r>
              <a:rPr lang="en-US" sz="4000" b="1" dirty="0"/>
              <a:t>mutations accumulated during stochastic chains of transmission</a:t>
            </a:r>
            <a:r>
              <a:rPr lang="en-US" sz="4000" dirty="0"/>
              <a:t> after spillover may facilitate emergence of a supercritical (R &gt; 1) variant with sustained human-human transmission. </a:t>
            </a:r>
          </a:p>
        </p:txBody>
      </p:sp>
      <p:pic>
        <p:nvPicPr>
          <p:cNvPr id="13" name="Picture 12" descr="A diagram of a sequence of steps&#10;&#10;AI-generated content may be incorrect.">
            <a:extLst>
              <a:ext uri="{FF2B5EF4-FFF2-40B4-BE49-F238E27FC236}">
                <a16:creationId xmlns:a16="http://schemas.microsoft.com/office/drawing/2014/main" id="{E138D18D-7D80-AFBE-489A-BFA58A8210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0200" y="19964400"/>
            <a:ext cx="9980962" cy="624786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4786680-1328-C5FB-9AB0-39566DE582B1}"/>
              </a:ext>
            </a:extLst>
          </p:cNvPr>
          <p:cNvSpPr txBox="1"/>
          <p:nvPr/>
        </p:nvSpPr>
        <p:spPr>
          <a:xfrm>
            <a:off x="324639" y="19507736"/>
            <a:ext cx="9023037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Cross-immunity arising from either natural infection or vaccine-induced immunity to Smallpox largely prevented zoonotic spillovers and human-human transmission of Mpox. Since the eradication of Smallpox in 1980</a:t>
            </a:r>
            <a:r>
              <a:rPr lang="en-US" sz="4000" b="1" dirty="0"/>
              <a:t>, the dilution of the population with this cross-immunity over time </a:t>
            </a:r>
            <a:r>
              <a:rPr lang="en-US" sz="4000" dirty="0"/>
              <a:t>has led to an increase in both the number of zoonotic cases and the transmission of Mpox in humans.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891AE6-C7AA-47BE-AC33-6CFD55743DC5}"/>
              </a:ext>
            </a:extLst>
          </p:cNvPr>
          <p:cNvSpPr txBox="1"/>
          <p:nvPr/>
        </p:nvSpPr>
        <p:spPr>
          <a:xfrm>
            <a:off x="277142" y="26300761"/>
            <a:ext cx="1865707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As a consequence, the </a:t>
            </a:r>
            <a:r>
              <a:rPr lang="en-US" sz="4000" b="1" dirty="0"/>
              <a:t>threat of emergence of Mpox as a highly transmissible human pathogen is increasing.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BD5BD8-D2D4-F7EA-5988-B8B761CE65E9}"/>
              </a:ext>
            </a:extLst>
          </p:cNvPr>
          <p:cNvSpPr txBox="1"/>
          <p:nvPr/>
        </p:nvSpPr>
        <p:spPr>
          <a:xfrm>
            <a:off x="267403" y="28052224"/>
            <a:ext cx="18633022" cy="1032459"/>
          </a:xfrm>
          <a:prstGeom prst="rect">
            <a:avLst/>
          </a:prstGeom>
          <a:ln w="76200"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002060"/>
                </a:solidFill>
              </a:rPr>
              <a:t>Take Aways</a:t>
            </a:r>
          </a:p>
        </p:txBody>
      </p:sp>
      <p:pic>
        <p:nvPicPr>
          <p:cNvPr id="17" name="Picture 16" descr="A diagram of a curve&#10;&#10;AI-generated content may be incorrect.">
            <a:extLst>
              <a:ext uri="{FF2B5EF4-FFF2-40B4-BE49-F238E27FC236}">
                <a16:creationId xmlns:a16="http://schemas.microsoft.com/office/drawing/2014/main" id="{BD00176A-6A94-C781-07A6-9030E5F35C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5836" y="34623388"/>
            <a:ext cx="12204589" cy="490359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3F9C3C5-3DC6-169A-6DFE-CBF9FB9600C0}"/>
              </a:ext>
            </a:extLst>
          </p:cNvPr>
          <p:cNvSpPr txBox="1"/>
          <p:nvPr/>
        </p:nvSpPr>
        <p:spPr>
          <a:xfrm>
            <a:off x="277142" y="29364403"/>
            <a:ext cx="18369626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We explored </a:t>
            </a:r>
            <a:r>
              <a:rPr lang="en-US" sz="4000" b="1" dirty="0"/>
              <a:t>the effect of vaccination on preventing the adaptive evolution of zoonotic disease </a:t>
            </a:r>
            <a:r>
              <a:rPr lang="en-US" sz="4000" dirty="0"/>
              <a:t>toward sustained human-human transmission. </a:t>
            </a:r>
          </a:p>
          <a:p>
            <a:endParaRPr lang="en-US" sz="4000" dirty="0"/>
          </a:p>
          <a:p>
            <a:r>
              <a:rPr lang="en-US" sz="4000" dirty="0"/>
              <a:t>We identified a threshold effective reproductive number , R_T, above which the evolution of a subcritical variant to supercriticality is highly likely. </a:t>
            </a:r>
          </a:p>
          <a:p>
            <a:endParaRPr lang="en-US" sz="4000" dirty="0"/>
          </a:p>
          <a:p>
            <a:r>
              <a:rPr lang="en-US" sz="4000" dirty="0"/>
              <a:t>We use this R_T to define a framework analogous to 1-1/R0 to inform vaccination strategies to prevent disease emergence. This is given as 1-R_T_R0.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B80DE5-9169-C4BA-EC65-80852BFFDA16}"/>
              </a:ext>
            </a:extLst>
          </p:cNvPr>
          <p:cNvSpPr txBox="1"/>
          <p:nvPr/>
        </p:nvSpPr>
        <p:spPr>
          <a:xfrm>
            <a:off x="19495690" y="9524999"/>
            <a:ext cx="12813110" cy="1033272"/>
          </a:xfrm>
          <a:prstGeom prst="rect">
            <a:avLst/>
          </a:prstGeom>
          <a:solidFill>
            <a:schemeClr val="bg2"/>
          </a:solidFill>
          <a:ln w="76200"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002060"/>
                </a:solidFill>
              </a:rPr>
              <a:t>Results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502C1F6-8371-BB68-7F77-B2BF42766A65}"/>
              </a:ext>
            </a:extLst>
          </p:cNvPr>
          <p:cNvSpPr txBox="1"/>
          <p:nvPr/>
        </p:nvSpPr>
        <p:spPr>
          <a:xfrm>
            <a:off x="19453779" y="20802979"/>
            <a:ext cx="1335769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There exists some R &lt; 1, R_T, above which evolution of sustained transmission during an outbreak may occur in the absence of intervention. </a:t>
            </a:r>
            <a:endParaRPr lang="en-US" sz="4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577C550-86EB-8686-DDBB-8738D400DF96}"/>
              </a:ext>
            </a:extLst>
          </p:cNvPr>
          <p:cNvSpPr txBox="1"/>
          <p:nvPr/>
        </p:nvSpPr>
        <p:spPr>
          <a:xfrm>
            <a:off x="19446459" y="29010936"/>
            <a:ext cx="1331577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A modest amount of vaccination can reduce the effective reproductive number below the threshold for adaptive evolution of a zoonotic disease with a near critical R. </a:t>
            </a:r>
            <a:endParaRPr lang="en-US" sz="4000" dirty="0"/>
          </a:p>
        </p:txBody>
      </p:sp>
      <p:pic>
        <p:nvPicPr>
          <p:cNvPr id="23" name="Picture 22" descr="A graph with lines and numbers&#10;&#10;AI-generated content may be incorrect.">
            <a:extLst>
              <a:ext uri="{FF2B5EF4-FFF2-40B4-BE49-F238E27FC236}">
                <a16:creationId xmlns:a16="http://schemas.microsoft.com/office/drawing/2014/main" id="{732DEDDD-7221-A13F-C1A0-A2E46A5659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" t="-692" r="4736" b="692"/>
          <a:stretch/>
        </p:blipFill>
        <p:spPr>
          <a:xfrm>
            <a:off x="22495151" y="10811255"/>
            <a:ext cx="9889849" cy="674395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9330D38-556E-B948-052B-48C8A9D556BC}"/>
              </a:ext>
            </a:extLst>
          </p:cNvPr>
          <p:cNvSpPr txBox="1"/>
          <p:nvPr/>
        </p:nvSpPr>
        <p:spPr>
          <a:xfrm>
            <a:off x="23023879" y="14050758"/>
            <a:ext cx="3352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P</a:t>
            </a:r>
            <a:r>
              <a:rPr lang="en-US" sz="2800" baseline="-25000" dirty="0" err="1"/>
              <a:t>Emergence</a:t>
            </a:r>
            <a:r>
              <a:rPr lang="en-US" sz="2800" dirty="0"/>
              <a:t>(R</a:t>
            </a:r>
            <a:r>
              <a:rPr lang="en-US" sz="2800" baseline="-25000" dirty="0"/>
              <a:t>T</a:t>
            </a:r>
            <a:r>
              <a:rPr lang="en-US" sz="2800" dirty="0"/>
              <a:t>)</a:t>
            </a:r>
            <a:r>
              <a:rPr lang="en-US" sz="2800" baseline="-25000" dirty="0"/>
              <a:t> </a:t>
            </a:r>
            <a:r>
              <a:rPr lang="en-US" sz="2800" dirty="0"/>
              <a:t>= 10</a:t>
            </a:r>
            <a:r>
              <a:rPr lang="en-US" sz="2800" baseline="30000" dirty="0"/>
              <a:t>-5</a:t>
            </a:r>
            <a:endParaRPr lang="en-US" sz="28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4B2E878-8FD3-5E15-DF9B-287F97195B5B}"/>
              </a:ext>
            </a:extLst>
          </p:cNvPr>
          <p:cNvSpPr txBox="1"/>
          <p:nvPr/>
        </p:nvSpPr>
        <p:spPr>
          <a:xfrm>
            <a:off x="19264302" y="17672613"/>
            <a:ext cx="1316702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000" b="1" dirty="0"/>
              <a:t>Probability of evolving sustained transmission (R &gt; 1)</a:t>
            </a:r>
            <a:r>
              <a:rPr lang="en-US" sz="4000" dirty="0"/>
              <a:t>. As </a:t>
            </a:r>
            <a:r>
              <a:rPr lang="en-US" sz="4000" dirty="0" err="1"/>
              <a:t>R_e</a:t>
            </a:r>
            <a:r>
              <a:rPr lang="en-US" sz="4000" dirty="0"/>
              <a:t> increases, fewer mutations are required to evolve R &gt; 1, introducing sharp increases in emergence probability.  Delta R: proportional increase in transmissibility with mutation; mu: rate (per infection) of adaptation. </a:t>
            </a:r>
          </a:p>
        </p:txBody>
      </p:sp>
      <p:pic>
        <p:nvPicPr>
          <p:cNvPr id="29" name="Picture 28" descr="A graph showing different colors&#10;&#10;AI-generated content may be incorrect.">
            <a:extLst>
              <a:ext uri="{FF2B5EF4-FFF2-40B4-BE49-F238E27FC236}">
                <a16:creationId xmlns:a16="http://schemas.microsoft.com/office/drawing/2014/main" id="{D7EDA2E2-4648-1841-C931-D3CD6CA7C65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50575" y="22770499"/>
            <a:ext cx="9332682" cy="6054429"/>
          </a:xfrm>
          <a:prstGeom prst="rect">
            <a:avLst/>
          </a:prstGeom>
        </p:spPr>
      </p:pic>
      <p:pic>
        <p:nvPicPr>
          <p:cNvPr id="30" name="Picture 29" descr="A screenshot of a graph&#10;&#10;AI-generated content may be incorrect.">
            <a:extLst>
              <a:ext uri="{FF2B5EF4-FFF2-40B4-BE49-F238E27FC236}">
                <a16:creationId xmlns:a16="http://schemas.microsoft.com/office/drawing/2014/main" id="{BCEC7190-7419-EC22-875C-F7D3344F8FA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23879" y="31027471"/>
            <a:ext cx="9361121" cy="821552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00C6E18-789B-DEA1-B96D-D854A0CE3FCB}"/>
              </a:ext>
            </a:extLst>
          </p:cNvPr>
          <p:cNvSpPr txBox="1"/>
          <p:nvPr/>
        </p:nvSpPr>
        <p:spPr>
          <a:xfrm>
            <a:off x="324639" y="34840226"/>
            <a:ext cx="636859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We find that models levels of vaccination can dramatically reduce the probability of disease emergence by adaptive evolution in transmission chains. </a:t>
            </a:r>
          </a:p>
        </p:txBody>
      </p:sp>
    </p:spTree>
    <p:extLst>
      <p:ext uri="{BB962C8B-B14F-4D97-AF65-F5344CB8AC3E}">
        <p14:creationId xmlns:p14="http://schemas.microsoft.com/office/powerpoint/2010/main" val="3344519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A5B3E0-CAC0-565C-5BD9-47AB6FCA8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6" name="Group 10">
            <a:extLst>
              <a:ext uri="{FF2B5EF4-FFF2-40B4-BE49-F238E27FC236}">
                <a16:creationId xmlns:a16="http://schemas.microsoft.com/office/drawing/2014/main" id="{F327BD10-2671-1138-EDFB-54DC6E9B4BF6}"/>
              </a:ext>
            </a:extLst>
          </p:cNvPr>
          <p:cNvGrpSpPr/>
          <p:nvPr/>
        </p:nvGrpSpPr>
        <p:grpSpPr>
          <a:xfrm>
            <a:off x="-56" y="7844508"/>
            <a:ext cx="32918337" cy="36206136"/>
            <a:chOff x="0" y="-93394"/>
            <a:chExt cx="14643633" cy="1709221"/>
          </a:xfrm>
          <a:solidFill>
            <a:schemeClr val="bg1"/>
          </a:solidFill>
        </p:grpSpPr>
        <p:sp>
          <p:nvSpPr>
            <p:cNvPr id="197" name="Freeform 11">
              <a:extLst>
                <a:ext uri="{FF2B5EF4-FFF2-40B4-BE49-F238E27FC236}">
                  <a16:creationId xmlns:a16="http://schemas.microsoft.com/office/drawing/2014/main" id="{ED25AF71-9AF6-BDE7-40DB-B8CDAB1C2BA6}"/>
                </a:ext>
              </a:extLst>
            </p:cNvPr>
            <p:cNvSpPr/>
            <p:nvPr/>
          </p:nvSpPr>
          <p:spPr>
            <a:xfrm>
              <a:off x="0" y="0"/>
              <a:ext cx="14643608" cy="1615821"/>
            </a:xfrm>
            <a:custGeom>
              <a:avLst/>
              <a:gdLst/>
              <a:ahLst/>
              <a:cxnLst/>
              <a:rect l="l" t="t" r="r" b="b"/>
              <a:pathLst>
                <a:path w="14643608" h="1615821">
                  <a:moveTo>
                    <a:pt x="0" y="0"/>
                  </a:moveTo>
                  <a:lnTo>
                    <a:pt x="14643608" y="0"/>
                  </a:lnTo>
                  <a:lnTo>
                    <a:pt x="14643608" y="1615821"/>
                  </a:lnTo>
                  <a:lnTo>
                    <a:pt x="0" y="1615821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sz="1350" dirty="0"/>
            </a:p>
          </p:txBody>
        </p:sp>
        <p:sp>
          <p:nvSpPr>
            <p:cNvPr id="198" name="TextBox 12">
              <a:extLst>
                <a:ext uri="{FF2B5EF4-FFF2-40B4-BE49-F238E27FC236}">
                  <a16:creationId xmlns:a16="http://schemas.microsoft.com/office/drawing/2014/main" id="{59B18DFE-1552-0746-EF8F-E8FD7F6B52C8}"/>
                </a:ext>
              </a:extLst>
            </p:cNvPr>
            <p:cNvSpPr txBox="1"/>
            <p:nvPr/>
          </p:nvSpPr>
          <p:spPr>
            <a:xfrm>
              <a:off x="0" y="-93394"/>
              <a:ext cx="14643633" cy="1709221"/>
            </a:xfrm>
            <a:prstGeom prst="rect">
              <a:avLst/>
            </a:prstGeom>
            <a:grpFill/>
          </p:spPr>
          <p:txBody>
            <a:bodyPr lIns="42863" tIns="42863" rIns="42863" bIns="42863" rtlCol="0" anchor="ctr"/>
            <a:lstStyle/>
            <a:p>
              <a:pPr algn="ctr">
                <a:lnSpc>
                  <a:spcPts val="5315"/>
                </a:lnSpc>
              </a:pPr>
              <a:endParaRPr lang="en-US" sz="4430" spc="41" dirty="0">
                <a:solidFill>
                  <a:srgbClr val="000000"/>
                </a:solidFill>
                <a:latin typeface="Calibri (MS) Bold"/>
              </a:endParaRPr>
            </a:p>
          </p:txBody>
        </p:sp>
      </p:grpSp>
      <p:grpSp>
        <p:nvGrpSpPr>
          <p:cNvPr id="28" name="Group 10">
            <a:extLst>
              <a:ext uri="{FF2B5EF4-FFF2-40B4-BE49-F238E27FC236}">
                <a16:creationId xmlns:a16="http://schemas.microsoft.com/office/drawing/2014/main" id="{CE629BAF-62EA-B147-3387-AB5B00E46B9A}"/>
              </a:ext>
            </a:extLst>
          </p:cNvPr>
          <p:cNvGrpSpPr/>
          <p:nvPr/>
        </p:nvGrpSpPr>
        <p:grpSpPr>
          <a:xfrm>
            <a:off x="0" y="6400800"/>
            <a:ext cx="32918400" cy="2585346"/>
            <a:chOff x="0" y="0"/>
            <a:chExt cx="14643633" cy="1615827"/>
          </a:xfrm>
          <a:solidFill>
            <a:srgbClr val="FFBA00"/>
          </a:solidFill>
        </p:grpSpPr>
        <p:sp>
          <p:nvSpPr>
            <p:cNvPr id="42" name="Freeform 11">
              <a:extLst>
                <a:ext uri="{FF2B5EF4-FFF2-40B4-BE49-F238E27FC236}">
                  <a16:creationId xmlns:a16="http://schemas.microsoft.com/office/drawing/2014/main" id="{6D90A817-C56B-3A89-1197-424E54347D56}"/>
                </a:ext>
              </a:extLst>
            </p:cNvPr>
            <p:cNvSpPr/>
            <p:nvPr/>
          </p:nvSpPr>
          <p:spPr>
            <a:xfrm>
              <a:off x="0" y="0"/>
              <a:ext cx="14643608" cy="1615821"/>
            </a:xfrm>
            <a:custGeom>
              <a:avLst/>
              <a:gdLst/>
              <a:ahLst/>
              <a:cxnLst/>
              <a:rect l="l" t="t" r="r" b="b"/>
              <a:pathLst>
                <a:path w="14643608" h="1615821">
                  <a:moveTo>
                    <a:pt x="0" y="0"/>
                  </a:moveTo>
                  <a:lnTo>
                    <a:pt x="14643608" y="0"/>
                  </a:lnTo>
                  <a:lnTo>
                    <a:pt x="14643608" y="1615821"/>
                  </a:lnTo>
                  <a:lnTo>
                    <a:pt x="0" y="1615821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 sz="1350" dirty="0"/>
            </a:p>
          </p:txBody>
        </p:sp>
        <p:sp>
          <p:nvSpPr>
            <p:cNvPr id="44" name="TextBox 12">
              <a:extLst>
                <a:ext uri="{FF2B5EF4-FFF2-40B4-BE49-F238E27FC236}">
                  <a16:creationId xmlns:a16="http://schemas.microsoft.com/office/drawing/2014/main" id="{DC556E16-6096-497F-0F7D-AD1E3AF93991}"/>
                </a:ext>
              </a:extLst>
            </p:cNvPr>
            <p:cNvSpPr txBox="1"/>
            <p:nvPr/>
          </p:nvSpPr>
          <p:spPr>
            <a:xfrm>
              <a:off x="0" y="-123825"/>
              <a:ext cx="14643633" cy="1739652"/>
            </a:xfrm>
            <a:prstGeom prst="rect">
              <a:avLst/>
            </a:prstGeom>
            <a:grpFill/>
          </p:spPr>
          <p:txBody>
            <a:bodyPr lIns="42863" tIns="42863" rIns="42863" bIns="42863" rtlCol="0" anchor="ctr"/>
            <a:lstStyle/>
            <a:p>
              <a:pPr algn="ctr">
                <a:lnSpc>
                  <a:spcPts val="5315"/>
                </a:lnSpc>
              </a:pPr>
              <a:endParaRPr lang="en-US" sz="4430" spc="41" dirty="0">
                <a:solidFill>
                  <a:srgbClr val="000000"/>
                </a:solidFill>
                <a:latin typeface="Calibri (MS) Bold"/>
              </a:endParaRPr>
            </a:p>
          </p:txBody>
        </p:sp>
      </p:grpSp>
      <p:sp>
        <p:nvSpPr>
          <p:cNvPr id="176" name="TextBox 175">
            <a:extLst>
              <a:ext uri="{FF2B5EF4-FFF2-40B4-BE49-F238E27FC236}">
                <a16:creationId xmlns:a16="http://schemas.microsoft.com/office/drawing/2014/main" id="{3870863B-A1E9-FBFB-FC80-380B2D2B3DA0}"/>
              </a:ext>
            </a:extLst>
          </p:cNvPr>
          <p:cNvSpPr txBox="1"/>
          <p:nvPr/>
        </p:nvSpPr>
        <p:spPr>
          <a:xfrm>
            <a:off x="20726400" y="7467600"/>
            <a:ext cx="640414" cy="1569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solidFill>
                  <a:schemeClr val="bg1"/>
                </a:solidFill>
              </a:rPr>
              <a:t>†</a:t>
            </a:r>
          </a:p>
        </p:txBody>
      </p:sp>
      <p:sp>
        <p:nvSpPr>
          <p:cNvPr id="177" name="TextBox 12">
            <a:extLst>
              <a:ext uri="{FF2B5EF4-FFF2-40B4-BE49-F238E27FC236}">
                <a16:creationId xmlns:a16="http://schemas.microsoft.com/office/drawing/2014/main" id="{ABAB4887-ECF8-D9EA-910D-32A99EE3E85A}"/>
              </a:ext>
            </a:extLst>
          </p:cNvPr>
          <p:cNvSpPr txBox="1"/>
          <p:nvPr/>
        </p:nvSpPr>
        <p:spPr>
          <a:xfrm>
            <a:off x="817482" y="2118146"/>
            <a:ext cx="26574869" cy="3292054"/>
          </a:xfrm>
          <a:prstGeom prst="rect">
            <a:avLst/>
          </a:prstGeom>
        </p:spPr>
        <p:txBody>
          <a:bodyPr lIns="42863" tIns="42863" rIns="42863" bIns="42863" rtlCol="0" anchor="ctr"/>
          <a:lstStyle/>
          <a:p>
            <a:r>
              <a:rPr lang="en-US" sz="9600" spc="41" dirty="0">
                <a:solidFill>
                  <a:schemeClr val="bg2"/>
                </a:solidFill>
                <a:latin typeface="Calibri (MS) Bold"/>
              </a:rPr>
              <a:t>Can we stop vaccinating against </a:t>
            </a:r>
          </a:p>
          <a:p>
            <a:r>
              <a:rPr lang="en-US" sz="9600" spc="41" dirty="0">
                <a:solidFill>
                  <a:schemeClr val="bg2"/>
                </a:solidFill>
                <a:latin typeface="Calibri (MS) Bold"/>
              </a:rPr>
              <a:t>pox viruses?</a:t>
            </a:r>
          </a:p>
        </p:txBody>
      </p:sp>
      <p:sp>
        <p:nvSpPr>
          <p:cNvPr id="178" name="TextBox 12">
            <a:extLst>
              <a:ext uri="{FF2B5EF4-FFF2-40B4-BE49-F238E27FC236}">
                <a16:creationId xmlns:a16="http://schemas.microsoft.com/office/drawing/2014/main" id="{422FB5E1-21F9-BF08-9260-EA4BBD258B72}"/>
              </a:ext>
            </a:extLst>
          </p:cNvPr>
          <p:cNvSpPr txBox="1"/>
          <p:nvPr/>
        </p:nvSpPr>
        <p:spPr>
          <a:xfrm>
            <a:off x="715936" y="-224412"/>
            <a:ext cx="26574869" cy="3292054"/>
          </a:xfrm>
          <a:prstGeom prst="rect">
            <a:avLst/>
          </a:prstGeom>
        </p:spPr>
        <p:txBody>
          <a:bodyPr lIns="42863" tIns="42863" rIns="42863" bIns="42863" rtlCol="0" anchor="ctr"/>
          <a:lstStyle/>
          <a:p>
            <a:r>
              <a:rPr lang="en-US" sz="11500" spc="41" dirty="0">
                <a:solidFill>
                  <a:schemeClr val="bg1">
                    <a:lumMod val="95000"/>
                  </a:schemeClr>
                </a:solidFill>
                <a:latin typeface="Calibri (MS) Bold"/>
              </a:rPr>
              <a:t>Vaccination to Prevent Disease Emergence</a:t>
            </a:r>
          </a:p>
        </p:txBody>
      </p:sp>
      <p:grpSp>
        <p:nvGrpSpPr>
          <p:cNvPr id="199" name="Group 10">
            <a:extLst>
              <a:ext uri="{FF2B5EF4-FFF2-40B4-BE49-F238E27FC236}">
                <a16:creationId xmlns:a16="http://schemas.microsoft.com/office/drawing/2014/main" id="{38FCB6EC-3765-ADC5-81F0-5F0176290951}"/>
              </a:ext>
            </a:extLst>
          </p:cNvPr>
          <p:cNvGrpSpPr/>
          <p:nvPr/>
        </p:nvGrpSpPr>
        <p:grpSpPr>
          <a:xfrm>
            <a:off x="326070" y="17907000"/>
            <a:ext cx="32262128" cy="15372923"/>
            <a:chOff x="0" y="-93394"/>
            <a:chExt cx="14866869" cy="1709221"/>
          </a:xfrm>
          <a:solidFill>
            <a:schemeClr val="bg2"/>
          </a:solidFill>
        </p:grpSpPr>
        <p:sp>
          <p:nvSpPr>
            <p:cNvPr id="200" name="Freeform 11">
              <a:extLst>
                <a:ext uri="{FF2B5EF4-FFF2-40B4-BE49-F238E27FC236}">
                  <a16:creationId xmlns:a16="http://schemas.microsoft.com/office/drawing/2014/main" id="{A3FA0264-0992-4C50-0360-C209871A516F}"/>
                </a:ext>
              </a:extLst>
            </p:cNvPr>
            <p:cNvSpPr/>
            <p:nvPr/>
          </p:nvSpPr>
          <p:spPr>
            <a:xfrm>
              <a:off x="0" y="0"/>
              <a:ext cx="14643608" cy="1615821"/>
            </a:xfrm>
            <a:custGeom>
              <a:avLst/>
              <a:gdLst/>
              <a:ahLst/>
              <a:cxnLst/>
              <a:rect l="l" t="t" r="r" b="b"/>
              <a:pathLst>
                <a:path w="14643608" h="1615821">
                  <a:moveTo>
                    <a:pt x="0" y="0"/>
                  </a:moveTo>
                  <a:lnTo>
                    <a:pt x="14643608" y="0"/>
                  </a:lnTo>
                  <a:lnTo>
                    <a:pt x="14643608" y="1615821"/>
                  </a:lnTo>
                  <a:lnTo>
                    <a:pt x="0" y="1615821"/>
                  </a:lnTo>
                  <a:close/>
                </a:path>
              </a:pathLst>
            </a:custGeom>
            <a:grpFill/>
            <a:ln>
              <a:solidFill>
                <a:schemeClr val="bg2"/>
              </a:solidFill>
            </a:ln>
          </p:spPr>
          <p:txBody>
            <a:bodyPr/>
            <a:lstStyle/>
            <a:p>
              <a:endParaRPr lang="en-US" sz="1350" dirty="0"/>
            </a:p>
          </p:txBody>
        </p:sp>
        <p:sp>
          <p:nvSpPr>
            <p:cNvPr id="201" name="TextBox 12">
              <a:extLst>
                <a:ext uri="{FF2B5EF4-FFF2-40B4-BE49-F238E27FC236}">
                  <a16:creationId xmlns:a16="http://schemas.microsoft.com/office/drawing/2014/main" id="{8002FEAD-CD20-7F5E-4C2C-815331191949}"/>
                </a:ext>
              </a:extLst>
            </p:cNvPr>
            <p:cNvSpPr txBox="1"/>
            <p:nvPr/>
          </p:nvSpPr>
          <p:spPr>
            <a:xfrm>
              <a:off x="0" y="-93394"/>
              <a:ext cx="14866869" cy="1709221"/>
            </a:xfrm>
            <a:prstGeom prst="rect">
              <a:avLst/>
            </a:prstGeom>
            <a:grpFill/>
            <a:ln>
              <a:solidFill>
                <a:schemeClr val="bg2"/>
              </a:solidFill>
            </a:ln>
          </p:spPr>
          <p:txBody>
            <a:bodyPr lIns="42863" tIns="42863" rIns="42863" bIns="42863" rtlCol="0" anchor="ctr"/>
            <a:lstStyle/>
            <a:p>
              <a:pPr algn="ctr">
                <a:lnSpc>
                  <a:spcPts val="5315"/>
                </a:lnSpc>
              </a:pPr>
              <a:endParaRPr lang="en-US" sz="4430" spc="41" dirty="0">
                <a:solidFill>
                  <a:srgbClr val="000000"/>
                </a:solidFill>
                <a:latin typeface="Calibri (MS) Bold"/>
              </a:endParaRPr>
            </a:p>
          </p:txBody>
        </p:sp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F6C6F4AC-E165-4A14-3DCF-AD1B66DDCF8C}"/>
              </a:ext>
            </a:extLst>
          </p:cNvPr>
          <p:cNvGrpSpPr/>
          <p:nvPr/>
        </p:nvGrpSpPr>
        <p:grpSpPr>
          <a:xfrm>
            <a:off x="7239000" y="1335255"/>
            <a:ext cx="24540877" cy="7395231"/>
            <a:chOff x="7903512" y="165324"/>
            <a:chExt cx="24540877" cy="7395231"/>
          </a:xfrm>
        </p:grpSpPr>
        <p:grpSp>
          <p:nvGrpSpPr>
            <p:cNvPr id="158" name="Group 157">
              <a:extLst>
                <a:ext uri="{FF2B5EF4-FFF2-40B4-BE49-F238E27FC236}">
                  <a16:creationId xmlns:a16="http://schemas.microsoft.com/office/drawing/2014/main" id="{7AA0080E-70D6-8086-1BC2-A5E0B514F059}"/>
                </a:ext>
              </a:extLst>
            </p:cNvPr>
            <p:cNvGrpSpPr/>
            <p:nvPr/>
          </p:nvGrpSpPr>
          <p:grpSpPr>
            <a:xfrm rot="16200000">
              <a:off x="15316598" y="-7247762"/>
              <a:ext cx="7395231" cy="22221404"/>
              <a:chOff x="4304531" y="396062"/>
              <a:chExt cx="1457351" cy="4524127"/>
            </a:xfrm>
          </p:grpSpPr>
          <p:cxnSp>
            <p:nvCxnSpPr>
              <p:cNvPr id="159" name="Straight Arrow Connector 158">
                <a:extLst>
                  <a:ext uri="{FF2B5EF4-FFF2-40B4-BE49-F238E27FC236}">
                    <a16:creationId xmlns:a16="http://schemas.microsoft.com/office/drawing/2014/main" id="{2B8090BF-6474-100B-1118-B16DE23925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93666" y="664142"/>
                <a:ext cx="0" cy="496430"/>
              </a:xfrm>
              <a:prstGeom prst="straightConnector1">
                <a:avLst/>
              </a:prstGeom>
              <a:ln w="76200">
                <a:solidFill>
                  <a:schemeClr val="bg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0" name="Oval 159">
                <a:extLst>
                  <a:ext uri="{FF2B5EF4-FFF2-40B4-BE49-F238E27FC236}">
                    <a16:creationId xmlns:a16="http://schemas.microsoft.com/office/drawing/2014/main" id="{55C018B6-1C0B-0822-CFA1-7A518177CF4F}"/>
                  </a:ext>
                </a:extLst>
              </p:cNvPr>
              <p:cNvSpPr/>
              <p:nvPr/>
            </p:nvSpPr>
            <p:spPr>
              <a:xfrm>
                <a:off x="4714294" y="396062"/>
                <a:ext cx="205539" cy="190500"/>
              </a:xfrm>
              <a:prstGeom prst="ellipse">
                <a:avLst/>
              </a:prstGeom>
              <a:solidFill>
                <a:schemeClr val="accent3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28F32E6A-853A-3280-848A-D6E8C963541E}"/>
                  </a:ext>
                </a:extLst>
              </p:cNvPr>
              <p:cNvSpPr/>
              <p:nvPr/>
            </p:nvSpPr>
            <p:spPr>
              <a:xfrm>
                <a:off x="4714294" y="1264834"/>
                <a:ext cx="205539" cy="190500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62" name="Straight Arrow Connector 161">
                <a:extLst>
                  <a:ext uri="{FF2B5EF4-FFF2-40B4-BE49-F238E27FC236}">
                    <a16:creationId xmlns:a16="http://schemas.microsoft.com/office/drawing/2014/main" id="{F30C4FF9-29A0-0CD8-359A-07D059923A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93666" y="1532917"/>
                <a:ext cx="0" cy="496428"/>
              </a:xfrm>
              <a:prstGeom prst="straightConnector1">
                <a:avLst/>
              </a:prstGeom>
              <a:ln w="76200">
                <a:solidFill>
                  <a:schemeClr val="bg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039DEFCB-53B5-A479-76CD-9B6FBAE8FACD}"/>
                  </a:ext>
                </a:extLst>
              </p:cNvPr>
              <p:cNvSpPr/>
              <p:nvPr/>
            </p:nvSpPr>
            <p:spPr>
              <a:xfrm>
                <a:off x="4707790" y="2117924"/>
                <a:ext cx="205539" cy="190500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64" name="Straight Arrow Connector 163">
                <a:extLst>
                  <a:ext uri="{FF2B5EF4-FFF2-40B4-BE49-F238E27FC236}">
                    <a16:creationId xmlns:a16="http://schemas.microsoft.com/office/drawing/2014/main" id="{B21B631A-559B-B989-A1E4-825992789E91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4374648" y="2475878"/>
                <a:ext cx="436670" cy="227711"/>
              </a:xfrm>
              <a:prstGeom prst="straightConnector1">
                <a:avLst/>
              </a:prstGeom>
              <a:ln w="76200">
                <a:solidFill>
                  <a:schemeClr val="bg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5" name="Straight Arrow Connector 164">
                <a:extLst>
                  <a:ext uri="{FF2B5EF4-FFF2-40B4-BE49-F238E27FC236}">
                    <a16:creationId xmlns:a16="http://schemas.microsoft.com/office/drawing/2014/main" id="{7A899D20-1AE5-8E05-DCB4-AEDC5D543EAB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V="1">
                <a:off x="4756278" y="2484115"/>
                <a:ext cx="450566" cy="225134"/>
              </a:xfrm>
              <a:prstGeom prst="straightConnector1">
                <a:avLst/>
              </a:prstGeom>
              <a:ln w="76200">
                <a:solidFill>
                  <a:schemeClr val="bg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6" name="Oval 165">
                <a:extLst>
                  <a:ext uri="{FF2B5EF4-FFF2-40B4-BE49-F238E27FC236}">
                    <a16:creationId xmlns:a16="http://schemas.microsoft.com/office/drawing/2014/main" id="{37BB07AF-80FA-99FD-98C1-103456D393AC}"/>
                  </a:ext>
                </a:extLst>
              </p:cNvPr>
              <p:cNvSpPr/>
              <p:nvPr/>
            </p:nvSpPr>
            <p:spPr>
              <a:xfrm>
                <a:off x="4304531" y="2827690"/>
                <a:ext cx="205539" cy="190500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89368B4E-997E-57C5-5167-9C6C400BB727}"/>
                  </a:ext>
                </a:extLst>
              </p:cNvPr>
              <p:cNvSpPr/>
              <p:nvPr/>
            </p:nvSpPr>
            <p:spPr>
              <a:xfrm>
                <a:off x="5062818" y="2897308"/>
                <a:ext cx="205539" cy="190500"/>
              </a:xfrm>
              <a:prstGeom prst="ellipse">
                <a:avLst/>
              </a:prstGeom>
              <a:solidFill>
                <a:schemeClr val="bg2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68" name="Straight Arrow Connector 167">
                <a:extLst>
                  <a:ext uri="{FF2B5EF4-FFF2-40B4-BE49-F238E27FC236}">
                    <a16:creationId xmlns:a16="http://schemas.microsoft.com/office/drawing/2014/main" id="{710F3722-1E5F-4D5C-4E07-F1BA66CF86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83987" y="3192880"/>
                <a:ext cx="0" cy="496428"/>
              </a:xfrm>
              <a:prstGeom prst="straightConnector1">
                <a:avLst/>
              </a:prstGeom>
              <a:ln w="76200">
                <a:solidFill>
                  <a:schemeClr val="bg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9" name="Oval 168">
                <a:extLst>
                  <a:ext uri="{FF2B5EF4-FFF2-40B4-BE49-F238E27FC236}">
                    <a16:creationId xmlns:a16="http://schemas.microsoft.com/office/drawing/2014/main" id="{77A84A83-9F91-05FD-6FA9-88C1385A6817}"/>
                  </a:ext>
                </a:extLst>
              </p:cNvPr>
              <p:cNvSpPr/>
              <p:nvPr/>
            </p:nvSpPr>
            <p:spPr>
              <a:xfrm>
                <a:off x="5087890" y="3760560"/>
                <a:ext cx="205539" cy="190500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70" name="Straight Arrow Connector 169">
                <a:extLst>
                  <a:ext uri="{FF2B5EF4-FFF2-40B4-BE49-F238E27FC236}">
                    <a16:creationId xmlns:a16="http://schemas.microsoft.com/office/drawing/2014/main" id="{8BB36D4E-886C-7283-4009-5E5CC0D47011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4757753" y="4082426"/>
                <a:ext cx="442840" cy="267314"/>
              </a:xfrm>
              <a:prstGeom prst="straightConnector1">
                <a:avLst/>
              </a:prstGeom>
              <a:ln w="76200">
                <a:solidFill>
                  <a:schemeClr val="bg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1" name="Straight Arrow Connector 170">
                <a:extLst>
                  <a:ext uri="{FF2B5EF4-FFF2-40B4-BE49-F238E27FC236}">
                    <a16:creationId xmlns:a16="http://schemas.microsoft.com/office/drawing/2014/main" id="{70993252-54DF-8F32-CA70-16C4A5DEEF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68380" y="3994990"/>
                <a:ext cx="275737" cy="442513"/>
              </a:xfrm>
              <a:prstGeom prst="straightConnector1">
                <a:avLst/>
              </a:prstGeom>
              <a:ln w="76200">
                <a:solidFill>
                  <a:schemeClr val="bg1">
                    <a:lumMod val="95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2" name="Oval 171">
                <a:extLst>
                  <a:ext uri="{FF2B5EF4-FFF2-40B4-BE49-F238E27FC236}">
                    <a16:creationId xmlns:a16="http://schemas.microsoft.com/office/drawing/2014/main" id="{FAD54A3C-70F5-07F9-0FCD-47AB89692A6D}"/>
                  </a:ext>
                </a:extLst>
              </p:cNvPr>
              <p:cNvSpPr/>
              <p:nvPr/>
            </p:nvSpPr>
            <p:spPr>
              <a:xfrm>
                <a:off x="4707790" y="4503470"/>
                <a:ext cx="205539" cy="190500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3" name="Oval 172">
                <a:extLst>
                  <a:ext uri="{FF2B5EF4-FFF2-40B4-BE49-F238E27FC236}">
                    <a16:creationId xmlns:a16="http://schemas.microsoft.com/office/drawing/2014/main" id="{6A4E56F5-2234-D7B3-9512-86800D4D9B3C}"/>
                  </a:ext>
                </a:extLst>
              </p:cNvPr>
              <p:cNvSpPr/>
              <p:nvPr/>
            </p:nvSpPr>
            <p:spPr>
              <a:xfrm>
                <a:off x="5504131" y="4481433"/>
                <a:ext cx="205539" cy="190500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9AF4EA1F-9F5E-C465-ADB6-BB4369EDA03B}"/>
                  </a:ext>
                </a:extLst>
              </p:cNvPr>
              <p:cNvSpPr txBox="1"/>
              <p:nvPr/>
            </p:nvSpPr>
            <p:spPr>
              <a:xfrm rot="5400000">
                <a:off x="5542027" y="4700333"/>
                <a:ext cx="130384" cy="3093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9600" dirty="0">
                    <a:solidFill>
                      <a:schemeClr val="bg1">
                        <a:lumMod val="95000"/>
                      </a:schemeClr>
                    </a:solidFill>
                  </a:rPr>
                  <a:t>†</a:t>
                </a:r>
              </a:p>
            </p:txBody>
          </p:sp>
        </p:grpSp>
        <p:cxnSp>
          <p:nvCxnSpPr>
            <p:cNvPr id="179" name="Straight Arrow Connector 178">
              <a:extLst>
                <a:ext uri="{FF2B5EF4-FFF2-40B4-BE49-F238E27FC236}">
                  <a16:creationId xmlns:a16="http://schemas.microsoft.com/office/drawing/2014/main" id="{807BE672-F15B-D571-BB08-F8BCA4D52356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29571754" y="2813247"/>
              <a:ext cx="1399209" cy="2173516"/>
            </a:xfrm>
            <a:prstGeom prst="straightConnector1">
              <a:avLst/>
            </a:prstGeom>
            <a:ln w="76200">
              <a:solidFill>
                <a:schemeClr val="bg1">
                  <a:lumMod val="9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0" name="Straight Arrow Connector 179">
              <a:extLst>
                <a:ext uri="{FF2B5EF4-FFF2-40B4-BE49-F238E27FC236}">
                  <a16:creationId xmlns:a16="http://schemas.microsoft.com/office/drawing/2014/main" id="{71479D28-3AB0-1719-2D1D-41A2BE3F9AED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29604031" y="5083505"/>
              <a:ext cx="1399209" cy="2173516"/>
            </a:xfrm>
            <a:prstGeom prst="straightConnector1">
              <a:avLst/>
            </a:prstGeom>
            <a:ln w="76200">
              <a:solidFill>
                <a:schemeClr val="bg1">
                  <a:lumMod val="9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5DDE3DA4-D5B2-D190-D567-715404AEEB97}"/>
                </a:ext>
              </a:extLst>
            </p:cNvPr>
            <p:cNvSpPr/>
            <p:nvPr/>
          </p:nvSpPr>
          <p:spPr>
            <a:xfrm rot="16200000">
              <a:off x="31455048" y="2439658"/>
              <a:ext cx="1042994" cy="935689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2713B24C-2FFF-0E80-9D5B-81C157F5ECE4}"/>
                </a:ext>
              </a:extLst>
            </p:cNvPr>
            <p:cNvSpPr/>
            <p:nvPr/>
          </p:nvSpPr>
          <p:spPr>
            <a:xfrm rot="16200000">
              <a:off x="31455048" y="6524738"/>
              <a:ext cx="1042994" cy="935689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0" name="Freeform 11">
            <a:extLst>
              <a:ext uri="{FF2B5EF4-FFF2-40B4-BE49-F238E27FC236}">
                <a16:creationId xmlns:a16="http://schemas.microsoft.com/office/drawing/2014/main" id="{BE74B793-DFDF-CCCA-B57B-2FD28BC78BDB}"/>
              </a:ext>
            </a:extLst>
          </p:cNvPr>
          <p:cNvSpPr/>
          <p:nvPr/>
        </p:nvSpPr>
        <p:spPr>
          <a:xfrm>
            <a:off x="326070" y="39960365"/>
            <a:ext cx="32262128" cy="3771663"/>
          </a:xfrm>
          <a:custGeom>
            <a:avLst/>
            <a:gdLst/>
            <a:ahLst/>
            <a:cxnLst/>
            <a:rect l="l" t="t" r="r" b="b"/>
            <a:pathLst>
              <a:path w="14643608" h="1615821">
                <a:moveTo>
                  <a:pt x="0" y="0"/>
                </a:moveTo>
                <a:lnTo>
                  <a:pt x="14643608" y="0"/>
                </a:lnTo>
                <a:lnTo>
                  <a:pt x="14643608" y="1615821"/>
                </a:lnTo>
                <a:lnTo>
                  <a:pt x="0" y="1615821"/>
                </a:lnTo>
                <a:close/>
              </a:path>
            </a:pathLst>
          </a:custGeom>
          <a:solidFill>
            <a:srgbClr val="002060"/>
          </a:solidFill>
        </p:spPr>
        <p:txBody>
          <a:bodyPr/>
          <a:lstStyle/>
          <a:p>
            <a:endParaRPr lang="en-US" sz="1350" dirty="0"/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1593E149-4F91-D961-7575-4745FEA512EF}"/>
              </a:ext>
            </a:extLst>
          </p:cNvPr>
          <p:cNvSpPr txBox="1"/>
          <p:nvPr/>
        </p:nvSpPr>
        <p:spPr>
          <a:xfrm>
            <a:off x="1144577" y="40512977"/>
            <a:ext cx="3097495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</a:rPr>
              <a:t>Preventing </a:t>
            </a:r>
            <a:r>
              <a:rPr lang="en-US" sz="7200" dirty="0">
                <a:solidFill>
                  <a:schemeClr val="bg1"/>
                </a:solidFill>
              </a:rPr>
              <a:t>the emergence of zoonotic disease requires </a:t>
            </a:r>
            <a:r>
              <a:rPr lang="en-US" sz="7200" b="1" dirty="0">
                <a:solidFill>
                  <a:schemeClr val="bg1"/>
                </a:solidFill>
              </a:rPr>
              <a:t>significantly less vaccination </a:t>
            </a:r>
            <a:r>
              <a:rPr lang="en-US" sz="7200" dirty="0">
                <a:solidFill>
                  <a:schemeClr val="bg1"/>
                </a:solidFill>
              </a:rPr>
              <a:t>than eradicating once endemic</a:t>
            </a:r>
            <a:r>
              <a:rPr lang="en-US" sz="7200" b="1" dirty="0">
                <a:solidFill>
                  <a:schemeClr val="bg1"/>
                </a:solidFill>
              </a:rPr>
              <a:t>. 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1D439136-D267-3F68-83D0-1676F1FD267B}"/>
              </a:ext>
            </a:extLst>
          </p:cNvPr>
          <p:cNvSpPr txBox="1"/>
          <p:nvPr/>
        </p:nvSpPr>
        <p:spPr>
          <a:xfrm>
            <a:off x="98183" y="6852294"/>
            <a:ext cx="1559818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Cora Hirst</a:t>
            </a:r>
            <a:r>
              <a:rPr lang="en-US" sz="4800" baseline="30000" dirty="0"/>
              <a:t>1</a:t>
            </a:r>
            <a:r>
              <a:rPr lang="en-US" sz="4800" dirty="0"/>
              <a:t>, Julia Deichmann</a:t>
            </a:r>
            <a:r>
              <a:rPr lang="en-US" sz="4800" baseline="30000" dirty="0"/>
              <a:t>2</a:t>
            </a:r>
            <a:r>
              <a:rPr lang="en-US" sz="4800" dirty="0"/>
              <a:t>, Rustom Antia</a:t>
            </a:r>
            <a:r>
              <a:rPr lang="en-US" sz="4800" baseline="30000" dirty="0"/>
              <a:t>1</a:t>
            </a:r>
          </a:p>
          <a:p>
            <a:endParaRPr lang="en-US" sz="4800" baseline="30000" dirty="0">
              <a:solidFill>
                <a:schemeClr val="tx2"/>
              </a:solidFill>
            </a:endParaRPr>
          </a:p>
          <a:p>
            <a:r>
              <a:rPr lang="en-US" sz="4800" baseline="30000" dirty="0">
                <a:solidFill>
                  <a:schemeClr val="tx2"/>
                </a:solidFill>
              </a:rPr>
              <a:t>(1) Emory University Department of Biology (2) Harvard T. Chan School of Public Health</a:t>
            </a:r>
          </a:p>
          <a:p>
            <a:endParaRPr lang="en-US" sz="4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69BFA9-3A17-443E-7724-9A529B6C7845}"/>
              </a:ext>
            </a:extLst>
          </p:cNvPr>
          <p:cNvSpPr txBox="1"/>
          <p:nvPr/>
        </p:nvSpPr>
        <p:spPr>
          <a:xfrm>
            <a:off x="3276600" y="26416860"/>
            <a:ext cx="116956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000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4C98C8-D03E-F269-5B91-601A1D6814F6}"/>
              </a:ext>
            </a:extLst>
          </p:cNvPr>
          <p:cNvSpPr txBox="1"/>
          <p:nvPr/>
        </p:nvSpPr>
        <p:spPr>
          <a:xfrm>
            <a:off x="326070" y="9278376"/>
            <a:ext cx="14935216" cy="1015663"/>
          </a:xfrm>
          <a:prstGeom prst="rect">
            <a:avLst/>
          </a:prstGeom>
          <a:ln w="76200"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002060"/>
                </a:solidFill>
              </a:rPr>
              <a:t>Motivation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BB08AA-08E1-C0D7-B12D-C94C214B7B51}"/>
              </a:ext>
            </a:extLst>
          </p:cNvPr>
          <p:cNvSpPr txBox="1"/>
          <p:nvPr/>
        </p:nvSpPr>
        <p:spPr>
          <a:xfrm>
            <a:off x="15594762" y="9278376"/>
            <a:ext cx="16993436" cy="1015663"/>
          </a:xfrm>
          <a:prstGeom prst="rect">
            <a:avLst/>
          </a:prstGeom>
          <a:ln w="76200"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002060"/>
                </a:solidFill>
              </a:rPr>
              <a:t>Methods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A78A08-E482-BBDD-CEA9-E924B12FD2F6}"/>
              </a:ext>
            </a:extLst>
          </p:cNvPr>
          <p:cNvSpPr txBox="1"/>
          <p:nvPr/>
        </p:nvSpPr>
        <p:spPr>
          <a:xfrm>
            <a:off x="17982052" y="18228670"/>
            <a:ext cx="14263446" cy="1015663"/>
          </a:xfrm>
          <a:prstGeom prst="rect">
            <a:avLst/>
          </a:prstGeom>
          <a:solidFill>
            <a:schemeClr val="bg2"/>
          </a:solidFill>
          <a:ln w="76200"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002060"/>
                </a:solidFill>
              </a:rPr>
              <a:t>Results</a:t>
            </a:r>
          </a:p>
        </p:txBody>
      </p:sp>
      <p:pic>
        <p:nvPicPr>
          <p:cNvPr id="3" name="Picture 2" descr="A graph showing different colors&#10;&#10;AI-generated content may be incorrect.">
            <a:extLst>
              <a:ext uri="{FF2B5EF4-FFF2-40B4-BE49-F238E27FC236}">
                <a16:creationId xmlns:a16="http://schemas.microsoft.com/office/drawing/2014/main" id="{F938759A-8AF8-B526-7580-2D8D33022F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475" y="26496548"/>
            <a:ext cx="9889849" cy="6415882"/>
          </a:xfrm>
          <a:prstGeom prst="rect">
            <a:avLst/>
          </a:prstGeom>
        </p:spPr>
      </p:pic>
      <p:pic>
        <p:nvPicPr>
          <p:cNvPr id="7" name="Picture 6" descr="A group of colored squares&#10;&#10;AI-generated content may be incorrect.">
            <a:extLst>
              <a:ext uri="{FF2B5EF4-FFF2-40B4-BE49-F238E27FC236}">
                <a16:creationId xmlns:a16="http://schemas.microsoft.com/office/drawing/2014/main" id="{71802867-5C3A-CE2C-1CDF-443B1141FC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2038" y="21074332"/>
            <a:ext cx="14266682" cy="11873282"/>
          </a:xfrm>
          <a:prstGeom prst="rect">
            <a:avLst/>
          </a:prstGeom>
        </p:spPr>
      </p:pic>
      <p:pic>
        <p:nvPicPr>
          <p:cNvPr id="9" name="Picture 8" descr="A graph with lines and numbers&#10;&#10;AI-generated content may be incorrect.">
            <a:extLst>
              <a:ext uri="{FF2B5EF4-FFF2-40B4-BE49-F238E27FC236}">
                <a16:creationId xmlns:a16="http://schemas.microsoft.com/office/drawing/2014/main" id="{D7BB5A4B-9FEC-72A4-3394-ADF9595B27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" t="-692" r="4736" b="692"/>
          <a:stretch/>
        </p:blipFill>
        <p:spPr>
          <a:xfrm>
            <a:off x="638475" y="19507200"/>
            <a:ext cx="9889849" cy="674395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FB8FA0A-6E4E-B90C-8EB8-C05DDD3EB6C6}"/>
              </a:ext>
            </a:extLst>
          </p:cNvPr>
          <p:cNvSpPr txBox="1"/>
          <p:nvPr/>
        </p:nvSpPr>
        <p:spPr>
          <a:xfrm>
            <a:off x="1169977" y="22677774"/>
            <a:ext cx="3352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P</a:t>
            </a:r>
            <a:r>
              <a:rPr lang="en-US" sz="2800" baseline="-25000" dirty="0" err="1"/>
              <a:t>Emergence</a:t>
            </a:r>
            <a:r>
              <a:rPr lang="en-US" sz="2800" dirty="0"/>
              <a:t>(R</a:t>
            </a:r>
            <a:r>
              <a:rPr lang="en-US" sz="2800" baseline="-25000" dirty="0"/>
              <a:t>T</a:t>
            </a:r>
            <a:r>
              <a:rPr lang="en-US" sz="2800" dirty="0"/>
              <a:t>)</a:t>
            </a:r>
            <a:r>
              <a:rPr lang="en-US" sz="2800" baseline="-25000" dirty="0"/>
              <a:t> </a:t>
            </a:r>
            <a:r>
              <a:rPr lang="en-US" sz="2800" dirty="0"/>
              <a:t>= 10</a:t>
            </a:r>
            <a:r>
              <a:rPr lang="en-US" sz="2800" baseline="30000" dirty="0"/>
              <a:t>-5</a:t>
            </a:r>
            <a:endParaRPr lang="en-US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12374C-BD63-C048-82D2-FA922D1825B3}"/>
              </a:ext>
            </a:extLst>
          </p:cNvPr>
          <p:cNvSpPr txBox="1"/>
          <p:nvPr/>
        </p:nvSpPr>
        <p:spPr>
          <a:xfrm>
            <a:off x="326069" y="33761077"/>
            <a:ext cx="32262127" cy="1015663"/>
          </a:xfrm>
          <a:prstGeom prst="rect">
            <a:avLst/>
          </a:prstGeom>
          <a:ln w="76200"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002060"/>
                </a:solidFill>
              </a:rPr>
              <a:t>Take-Aways</a:t>
            </a:r>
          </a:p>
        </p:txBody>
      </p:sp>
      <p:pic>
        <p:nvPicPr>
          <p:cNvPr id="25" name="Picture 24" descr="A diagram of a curve&#10;&#10;AI-generated content may be incorrect.">
            <a:extLst>
              <a:ext uri="{FF2B5EF4-FFF2-40B4-BE49-F238E27FC236}">
                <a16:creationId xmlns:a16="http://schemas.microsoft.com/office/drawing/2014/main" id="{8EED63F6-CC29-D02F-E4FD-72893446D0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951" y="35056770"/>
            <a:ext cx="12204589" cy="4903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060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3140</TotalTime>
  <Words>1573</Words>
  <Application>Microsoft Macintosh PowerPoint</Application>
  <PresentationFormat>Custom</PresentationFormat>
  <Paragraphs>123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Calibri</vt:lpstr>
      <vt:lpstr>Calibri (MS)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URP Poster Template</dc:title>
  <cp:lastModifiedBy>Hirst, Cora</cp:lastModifiedBy>
  <cp:revision>34</cp:revision>
  <dcterms:created xsi:type="dcterms:W3CDTF">2006-08-16T00:00:00Z</dcterms:created>
  <dcterms:modified xsi:type="dcterms:W3CDTF">2025-06-13T18:52:12Z</dcterms:modified>
  <dc:identifier>DAGA6orcGMY</dc:identifier>
</cp:coreProperties>
</file>