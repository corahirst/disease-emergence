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408" r:id="rId3"/>
    <p:sldId id="257" r:id="rId4"/>
    <p:sldId id="258" r:id="rId5"/>
    <p:sldId id="259" r:id="rId6"/>
    <p:sldId id="398" r:id="rId7"/>
    <p:sldId id="262" r:id="rId8"/>
    <p:sldId id="399" r:id="rId9"/>
    <p:sldId id="400" r:id="rId10"/>
    <p:sldId id="401" r:id="rId11"/>
    <p:sldId id="402" r:id="rId12"/>
    <p:sldId id="403" r:id="rId13"/>
    <p:sldId id="404" r:id="rId14"/>
    <p:sldId id="407" r:id="rId15"/>
    <p:sldId id="409" r:id="rId16"/>
    <p:sldId id="261" r:id="rId17"/>
    <p:sldId id="397" r:id="rId18"/>
    <p:sldId id="405" r:id="rId19"/>
    <p:sldId id="406" r:id="rId20"/>
    <p:sldId id="410" r:id="rId21"/>
    <p:sldId id="411" r:id="rId22"/>
    <p:sldId id="412" r:id="rId23"/>
    <p:sldId id="413" r:id="rId24"/>
    <p:sldId id="41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730806"/>
    <a:srgbClr val="FD0E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55"/>
    <p:restoredTop sz="94726"/>
  </p:normalViewPr>
  <p:slideViewPr>
    <p:cSldViewPr snapToGrid="0">
      <p:cViewPr varScale="1">
        <p:scale>
          <a:sx n="116" d="100"/>
          <a:sy n="116" d="100"/>
        </p:scale>
        <p:origin x="216"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8T15:54:53.463"/>
    </inkml:context>
    <inkml:brush xml:id="br0">
      <inkml:brushProperty name="width" value="0.035" units="cm"/>
      <inkml:brushProperty name="height" value="0.035" units="cm"/>
      <inkml:brushProperty name="color" value="#FFFFFF"/>
    </inkml:brush>
  </inkml:definitions>
  <inkml:trace contextRef="#ctx0" brushRef="#br0">532 77 24575,'4'0'0,"-1"0"0,-2 1 0,-1 1 0,1 1 0,0 0 0,0 0 0,1-1 0,-1 0 0,0 1 0,0 0 0,0 0 0,0-1 0,0-1 0,0 1 0,0-1 0,1 0 0,-1-1 0,1 1 0,1-1 0,0 0 0,1 1 0,-1 0 0,0-1 0,0 0 0,0 0 0,1 0 0,0 0 0,2 0 0,0 0 0,1 0 0,0 0 0,0 0 0,-1 0 0,-1 0 0,0 0 0,-1 0 0,1 0 0,0 0 0,-1 0 0,-1 0 0,0 0 0,0-1 0,1-1 0,0-1 0,1 0 0,0 0 0,-1-1 0,1 0 0,0 0 0,0-2 0,0 0 0,0 0 0,1 0 0,-1 0 0,1 1 0,-2 1 0,1 1 0,-2-1 0,-1 2 0,0 0 0,0 1 0,-1-1 0,0 1 0,0 0 0,-1 0 0,-3 0 0,-3 1 0,-2 0 0,-2 0 0,0 0 0,2 0 0,-1 0 0,2 0 0,3 0 0,-1 0 0,1 0 0,0 0 0,0 0 0,2 0 0,0 0 0,-1 0 0,1 0 0,-1 0 0,0 0 0,0 0 0,0-1 0,-1 0 0,1 0 0,0-1 0,0 1 0,0 0 0,1 1 0,-1 0 0,1 0 0,-1 0 0,1 0 0,-1 0 0,1 0 0,-1 0 0,0 0 0,0 0 0,0-1 0,0 1 0,-1-1 0,1 1 0,0 0 0,-1-1 0,-1 1 0,1 0 0,-1 0 0,1 0 0,0 0 0,-1 0 0,0 0 0,-1 0 0,0 0 0,-1 0 0,1 0 0,0 0 0,0 0 0,1 0 0,-1 0 0,1 1 0,-1 0 0,1-1 0,-1 1 0,-1-1 0,1 1 0,-1 0 0,0-1 0,0 1 0,-2 0 0,1 0 0,-1 1 0,1-1 0,0 1 0,1-1 0,1 1 0,0-1 0,1 0 0,1 0 0,0 0 0,1 0 0,-1-1 0,1 0 0,0 0 0,0 0 0,-1 0 0,1 0 0,-1 0 0,0 0 0,0 1 0,-2-1 0,0 1 0,0 0 0,0-1 0,1 1 0,0-1 0,1 1 0,2-1 0,-1 1 0,2-1 0,-1 1 0,-1-1 0,0 0 0,0 0 0,-1 0 0,0-1 0,1-1 0,0 0 0,1-1 0,1-1 0,1 1 0,0-2 0,-1 1 0,1-1 0,1 1 0,1 0 0,1 0 0,3 0 0,0 2 0,0 1 0,-1 0 0,-2 1 0,0 0 0,-1 0 0,0 1 0,0 0 0,0 1 0,1 1 0,0 0 0,1 0 0,-1 0 0,1-2 0,-1 0 0,0 0 0,1-1 0,-1 1 0,1-1 0,1 0 0,-1 0 0,0 0 0,0 0 0,0 0 0,0 0 0,-1 0 0,0 0 0,1 0 0,-1 0 0,-1 0 0,1 0 0,-1 0 0,1 0 0,0 0 0,-1 0 0,-13 0 0,-3 0 0,-13 0 0,-5 1 0,-2 0 0,2-1 0,4 1 0,10-1 0,2 0 0,3 0 0,2 0 0,2 0 0,1 0 0,1 0 0,-1 0 0,2 0 0,-1 0 0,1 0 0,0 0 0,-1 0 0,1 0 0,-2 0 0,0 0 0,-1 1 0,-1-1 0,0 2 0,0-1 0,2 0 0,1-1 0,2 1 0,0 0 0,0 0 0,2 0 0,2-1 0,4 1 0,6-2 0,7 0 0,7-2 0,5 1 0,4 1 0,4 1 0,-1 3 0,1 1 0,-2 4 0,-4 0 0,-3 1 0,-4-2 0,-2-2 0,-3-1 0,-4-2 0,-4-1 0,-5 1 0,-2 0 0,-2 1 0,-1 1 0,0 0 0,0 3 0,0 2 0,0 0 0,-2 1 0,1-2 0,-1 0 0,1-3 0,0 0 0,1-1 0,0-1 0,0 0 0,2 0 0,0-1 0,0-1 0,1-1 0,-1 0 0,1-1 0,2-1 0,2-3 0,3-1 0,4 0 0,2 2 0,1 0 0,0 2 0,0 2 0,-3-1 0,-2-1 0,-4-2 0,-4 2 0,-2-1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2CADE5-B242-284B-8F01-80AC947059F2}" type="datetimeFigureOut">
              <a:rPr lang="en-US" smtClean="0"/>
              <a:t>8/15/26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39CDE4-B4AB-7549-9EE9-A974916FD447}" type="slidenum">
              <a:rPr lang="en-US" smtClean="0"/>
              <a:t>‹#›</a:t>
            </a:fld>
            <a:endParaRPr lang="en-US"/>
          </a:p>
        </p:txBody>
      </p:sp>
    </p:spTree>
    <p:extLst>
      <p:ext uri="{BB962C8B-B14F-4D97-AF65-F5344CB8AC3E}">
        <p14:creationId xmlns:p14="http://schemas.microsoft.com/office/powerpoint/2010/main" val="2083380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Selective advantage after sigma </a:t>
            </a:r>
          </a:p>
          <a:p>
            <a:r>
              <a:rPr lang="en-US" dirty="0"/>
              <a:t>Aspect ratio – golden ratio </a:t>
            </a:r>
          </a:p>
          <a:p>
            <a:endParaRPr lang="en-US" dirty="0"/>
          </a:p>
          <a:p>
            <a:r>
              <a:rPr lang="en-US" dirty="0"/>
              <a:t>P(evolving high R0)</a:t>
            </a:r>
          </a:p>
        </p:txBody>
      </p:sp>
      <p:sp>
        <p:nvSpPr>
          <p:cNvPr id="4" name="Slide Number Placeholder 3"/>
          <p:cNvSpPr>
            <a:spLocks noGrp="1"/>
          </p:cNvSpPr>
          <p:nvPr>
            <p:ph type="sldNum" sz="quarter" idx="5"/>
          </p:nvPr>
        </p:nvSpPr>
        <p:spPr/>
        <p:txBody>
          <a:bodyPr/>
          <a:lstStyle/>
          <a:p>
            <a:fld id="{7139CDE4-B4AB-7549-9EE9-A974916FD447}" type="slidenum">
              <a:rPr lang="en-US" smtClean="0"/>
              <a:t>4</a:t>
            </a:fld>
            <a:endParaRPr lang="en-US"/>
          </a:p>
        </p:txBody>
      </p:sp>
    </p:spTree>
    <p:extLst>
      <p:ext uri="{BB962C8B-B14F-4D97-AF65-F5344CB8AC3E}">
        <p14:creationId xmlns:p14="http://schemas.microsoft.com/office/powerpoint/2010/main" val="3007532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 – beneficial mutation rate infection-1</a:t>
            </a:r>
          </a:p>
          <a:p>
            <a:r>
              <a:rPr lang="en-US" dirty="0"/>
              <a:t>P(evolving high transmissibility)</a:t>
            </a:r>
          </a:p>
          <a:p>
            <a:r>
              <a:rPr lang="en-US" dirty="0"/>
              <a:t>Take out 10^-1</a:t>
            </a:r>
          </a:p>
        </p:txBody>
      </p:sp>
      <p:sp>
        <p:nvSpPr>
          <p:cNvPr id="4" name="Slide Number Placeholder 3"/>
          <p:cNvSpPr>
            <a:spLocks noGrp="1"/>
          </p:cNvSpPr>
          <p:nvPr>
            <p:ph type="sldNum" sz="quarter" idx="5"/>
          </p:nvPr>
        </p:nvSpPr>
        <p:spPr/>
        <p:txBody>
          <a:bodyPr/>
          <a:lstStyle/>
          <a:p>
            <a:fld id="{7139CDE4-B4AB-7549-9EE9-A974916FD447}" type="slidenum">
              <a:rPr lang="en-US" smtClean="0"/>
              <a:t>5</a:t>
            </a:fld>
            <a:endParaRPr lang="en-US"/>
          </a:p>
        </p:txBody>
      </p:sp>
    </p:spTree>
    <p:extLst>
      <p:ext uri="{BB962C8B-B14F-4D97-AF65-F5344CB8AC3E}">
        <p14:creationId xmlns:p14="http://schemas.microsoft.com/office/powerpoint/2010/main" val="1652542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Mutation^-1</a:t>
            </a:r>
          </a:p>
        </p:txBody>
      </p:sp>
      <p:sp>
        <p:nvSpPr>
          <p:cNvPr id="4" name="Slide Number Placeholder 3"/>
          <p:cNvSpPr>
            <a:spLocks noGrp="1"/>
          </p:cNvSpPr>
          <p:nvPr>
            <p:ph type="sldNum" sz="quarter" idx="5"/>
          </p:nvPr>
        </p:nvSpPr>
        <p:spPr/>
        <p:txBody>
          <a:bodyPr/>
          <a:lstStyle/>
          <a:p>
            <a:fld id="{7139CDE4-B4AB-7549-9EE9-A974916FD447}" type="slidenum">
              <a:rPr lang="en-US" smtClean="0"/>
              <a:t>7</a:t>
            </a:fld>
            <a:endParaRPr lang="en-US"/>
          </a:p>
        </p:txBody>
      </p:sp>
    </p:spTree>
    <p:extLst>
      <p:ext uri="{BB962C8B-B14F-4D97-AF65-F5344CB8AC3E}">
        <p14:creationId xmlns:p14="http://schemas.microsoft.com/office/powerpoint/2010/main" val="3796112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a:t>
            </a:r>
            <a:r>
              <a:rPr lang="en-US" dirty="0" err="1"/>
              <a:t>intermediat</a:t>
            </a:r>
            <a:r>
              <a:rPr lang="en-US" dirty="0"/>
              <a:t> sigma/mu plot, pick some S0</a:t>
            </a:r>
          </a:p>
        </p:txBody>
      </p:sp>
      <p:sp>
        <p:nvSpPr>
          <p:cNvPr id="4" name="Slide Number Placeholder 3"/>
          <p:cNvSpPr>
            <a:spLocks noGrp="1"/>
          </p:cNvSpPr>
          <p:nvPr>
            <p:ph type="sldNum" sz="quarter" idx="5"/>
          </p:nvPr>
        </p:nvSpPr>
        <p:spPr/>
        <p:txBody>
          <a:bodyPr/>
          <a:lstStyle/>
          <a:p>
            <a:fld id="{7139CDE4-B4AB-7549-9EE9-A974916FD447}" type="slidenum">
              <a:rPr lang="en-US" smtClean="0"/>
              <a:t>8</a:t>
            </a:fld>
            <a:endParaRPr lang="en-US"/>
          </a:p>
        </p:txBody>
      </p:sp>
    </p:spTree>
    <p:extLst>
      <p:ext uri="{BB962C8B-B14F-4D97-AF65-F5344CB8AC3E}">
        <p14:creationId xmlns:p14="http://schemas.microsoft.com/office/powerpoint/2010/main" val="1309643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39CDE4-B4AB-7549-9EE9-A974916FD447}" type="slidenum">
              <a:rPr lang="en-US" smtClean="0"/>
              <a:t>13</a:t>
            </a:fld>
            <a:endParaRPr lang="en-US"/>
          </a:p>
        </p:txBody>
      </p:sp>
    </p:spTree>
    <p:extLst>
      <p:ext uri="{BB962C8B-B14F-4D97-AF65-F5344CB8AC3E}">
        <p14:creationId xmlns:p14="http://schemas.microsoft.com/office/powerpoint/2010/main" val="3823207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39CDE4-B4AB-7549-9EE9-A974916FD447}" type="slidenum">
              <a:rPr lang="en-US" smtClean="0"/>
              <a:t>16</a:t>
            </a:fld>
            <a:endParaRPr lang="en-US"/>
          </a:p>
        </p:txBody>
      </p:sp>
    </p:spTree>
    <p:extLst>
      <p:ext uri="{BB962C8B-B14F-4D97-AF65-F5344CB8AC3E}">
        <p14:creationId xmlns:p14="http://schemas.microsoft.com/office/powerpoint/2010/main" val="2376778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P(Emergence) changes more sharply with Re than S . Black contours show when probability of emergence per year is between 1 in 10 and 1 in 1000 years</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a:br>
            <a:r>
              <a:rPr lang="en-US"/>
              <a:t>And note that changing Re can be effective to reduce the probability of evolving high transmissibility after spillover (during outbreaks), while reducing spillovers will only reduce the probability of emergence before spillover.</a:t>
            </a:r>
          </a:p>
          <a:p>
            <a:endParaRPr lang="en-US"/>
          </a:p>
        </p:txBody>
      </p:sp>
      <p:sp>
        <p:nvSpPr>
          <p:cNvPr id="4" name="Slide Number Placeholder 3"/>
          <p:cNvSpPr>
            <a:spLocks noGrp="1"/>
          </p:cNvSpPr>
          <p:nvPr>
            <p:ph type="sldNum" sz="quarter" idx="5"/>
          </p:nvPr>
        </p:nvSpPr>
        <p:spPr/>
        <p:txBody>
          <a:bodyPr/>
          <a:lstStyle/>
          <a:p>
            <a:fld id="{D25E994C-DB96-6D4C-B809-6B2AAF83BD72}" type="slidenum">
              <a:rPr lang="en-US" smtClean="0"/>
              <a:t>17</a:t>
            </a:fld>
            <a:endParaRPr lang="en-US"/>
          </a:p>
        </p:txBody>
      </p:sp>
    </p:spTree>
    <p:extLst>
      <p:ext uri="{BB962C8B-B14F-4D97-AF65-F5344CB8AC3E}">
        <p14:creationId xmlns:p14="http://schemas.microsoft.com/office/powerpoint/2010/main" val="16962402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39CDE4-B4AB-7549-9EE9-A974916FD447}" type="slidenum">
              <a:rPr lang="en-US" smtClean="0"/>
              <a:t>20</a:t>
            </a:fld>
            <a:endParaRPr lang="en-US"/>
          </a:p>
        </p:txBody>
      </p:sp>
    </p:spTree>
    <p:extLst>
      <p:ext uri="{BB962C8B-B14F-4D97-AF65-F5344CB8AC3E}">
        <p14:creationId xmlns:p14="http://schemas.microsoft.com/office/powerpoint/2010/main" val="1624697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D7C6-88CC-BFF5-4C03-B40A8ED1F8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98B42B-7917-0E89-090B-E9FA02092B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AC3380-38CF-BC96-8E0E-71E00A41036B}"/>
              </a:ext>
            </a:extLst>
          </p:cNvPr>
          <p:cNvSpPr>
            <a:spLocks noGrp="1"/>
          </p:cNvSpPr>
          <p:nvPr>
            <p:ph type="dt" sz="half" idx="10"/>
          </p:nvPr>
        </p:nvSpPr>
        <p:spPr/>
        <p:txBody>
          <a:bodyPr/>
          <a:lstStyle/>
          <a:p>
            <a:fld id="{9F4AEB3C-D287-6F42-BE4A-5B2D28C015D5}" type="datetimeFigureOut">
              <a:rPr lang="en-US" smtClean="0"/>
              <a:t>8/15/26</a:t>
            </a:fld>
            <a:endParaRPr lang="en-US"/>
          </a:p>
        </p:txBody>
      </p:sp>
      <p:sp>
        <p:nvSpPr>
          <p:cNvPr id="5" name="Footer Placeholder 4">
            <a:extLst>
              <a:ext uri="{FF2B5EF4-FFF2-40B4-BE49-F238E27FC236}">
                <a16:creationId xmlns:a16="http://schemas.microsoft.com/office/drawing/2014/main" id="{41A50776-167E-8F9C-9CD8-EEA0856CB9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B1E455-9C79-A599-0114-FB1DE1335B39}"/>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1222008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402BD-BF88-797E-20ED-550E32232F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5CF567-301C-36D7-C8B4-2631A83A58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F786A9-7808-A913-07FB-4327452977E6}"/>
              </a:ext>
            </a:extLst>
          </p:cNvPr>
          <p:cNvSpPr>
            <a:spLocks noGrp="1"/>
          </p:cNvSpPr>
          <p:nvPr>
            <p:ph type="dt" sz="half" idx="10"/>
          </p:nvPr>
        </p:nvSpPr>
        <p:spPr/>
        <p:txBody>
          <a:bodyPr/>
          <a:lstStyle/>
          <a:p>
            <a:fld id="{9F4AEB3C-D287-6F42-BE4A-5B2D28C015D5}" type="datetimeFigureOut">
              <a:rPr lang="en-US" smtClean="0"/>
              <a:t>8/15/26</a:t>
            </a:fld>
            <a:endParaRPr lang="en-US"/>
          </a:p>
        </p:txBody>
      </p:sp>
      <p:sp>
        <p:nvSpPr>
          <p:cNvPr id="5" name="Footer Placeholder 4">
            <a:extLst>
              <a:ext uri="{FF2B5EF4-FFF2-40B4-BE49-F238E27FC236}">
                <a16:creationId xmlns:a16="http://schemas.microsoft.com/office/drawing/2014/main" id="{5C5F2AAA-C3BB-3204-6E84-799ABBC626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7393A3-1E69-F62F-7B1C-EDB2B3D6BF46}"/>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1676330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D49BF-5E6A-C9F7-95C1-27CCC26692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F6A07A-B59D-5126-A354-FD622DC99C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54FA70-379A-C6A8-2532-FC9291E44CDB}"/>
              </a:ext>
            </a:extLst>
          </p:cNvPr>
          <p:cNvSpPr>
            <a:spLocks noGrp="1"/>
          </p:cNvSpPr>
          <p:nvPr>
            <p:ph type="dt" sz="half" idx="10"/>
          </p:nvPr>
        </p:nvSpPr>
        <p:spPr/>
        <p:txBody>
          <a:bodyPr/>
          <a:lstStyle/>
          <a:p>
            <a:fld id="{9F4AEB3C-D287-6F42-BE4A-5B2D28C015D5}" type="datetimeFigureOut">
              <a:rPr lang="en-US" smtClean="0"/>
              <a:t>8/15/26</a:t>
            </a:fld>
            <a:endParaRPr lang="en-US"/>
          </a:p>
        </p:txBody>
      </p:sp>
      <p:sp>
        <p:nvSpPr>
          <p:cNvPr id="5" name="Footer Placeholder 4">
            <a:extLst>
              <a:ext uri="{FF2B5EF4-FFF2-40B4-BE49-F238E27FC236}">
                <a16:creationId xmlns:a16="http://schemas.microsoft.com/office/drawing/2014/main" id="{F0CDFB9D-E54C-15B0-4A03-4E7E5445A7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F0961C-FE5C-F284-F926-5787D47EC4CE}"/>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2694934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5E2CB-09AB-3985-45B1-03F56D78A3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F742A-F7BF-0F0E-EB94-C9CF15F0C7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EEAA22-3D19-F976-4A55-52D3828D1C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DA03894-E80B-0CED-82F2-60615E22669A}"/>
              </a:ext>
            </a:extLst>
          </p:cNvPr>
          <p:cNvSpPr>
            <a:spLocks noGrp="1"/>
          </p:cNvSpPr>
          <p:nvPr>
            <p:ph type="dt" sz="half" idx="10"/>
          </p:nvPr>
        </p:nvSpPr>
        <p:spPr/>
        <p:txBody>
          <a:bodyPr/>
          <a:lstStyle/>
          <a:p>
            <a:fld id="{9F4AEB3C-D287-6F42-BE4A-5B2D28C015D5}" type="datetimeFigureOut">
              <a:rPr lang="en-US" smtClean="0"/>
              <a:t>8/15/26</a:t>
            </a:fld>
            <a:endParaRPr lang="en-US"/>
          </a:p>
        </p:txBody>
      </p:sp>
      <p:sp>
        <p:nvSpPr>
          <p:cNvPr id="6" name="Footer Placeholder 5">
            <a:extLst>
              <a:ext uri="{FF2B5EF4-FFF2-40B4-BE49-F238E27FC236}">
                <a16:creationId xmlns:a16="http://schemas.microsoft.com/office/drawing/2014/main" id="{E733161B-4454-76A8-DAFD-83201C2165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007763-07A5-F62F-B3F6-A31968851DED}"/>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3331637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9C15A-43D7-0335-3903-7A2994653C8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FDE1F8-3830-6DB0-CF0C-72A018BD80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C0ADD8-3714-2C78-4AF9-F0E439079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03009D-030B-9929-BD26-F075F7901C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50F4AF-C5EF-AB02-E310-1BEE72144C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25B477-9C19-070B-AF21-4018B1538699}"/>
              </a:ext>
            </a:extLst>
          </p:cNvPr>
          <p:cNvSpPr>
            <a:spLocks noGrp="1"/>
          </p:cNvSpPr>
          <p:nvPr>
            <p:ph type="dt" sz="half" idx="10"/>
          </p:nvPr>
        </p:nvSpPr>
        <p:spPr/>
        <p:txBody>
          <a:bodyPr/>
          <a:lstStyle/>
          <a:p>
            <a:fld id="{9F4AEB3C-D287-6F42-BE4A-5B2D28C015D5}" type="datetimeFigureOut">
              <a:rPr lang="en-US" smtClean="0"/>
              <a:t>8/15/26</a:t>
            </a:fld>
            <a:endParaRPr lang="en-US"/>
          </a:p>
        </p:txBody>
      </p:sp>
      <p:sp>
        <p:nvSpPr>
          <p:cNvPr id="8" name="Footer Placeholder 7">
            <a:extLst>
              <a:ext uri="{FF2B5EF4-FFF2-40B4-BE49-F238E27FC236}">
                <a16:creationId xmlns:a16="http://schemas.microsoft.com/office/drawing/2014/main" id="{44D99333-02D1-5C8A-9B7D-59B7B576DD7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271834-8AD2-7B7C-0210-14E417FAB7F4}"/>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2172501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01719-0E7A-5914-6487-F6BB559490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77AF9A-27F1-83A9-7C42-B371FF199387}"/>
              </a:ext>
            </a:extLst>
          </p:cNvPr>
          <p:cNvSpPr>
            <a:spLocks noGrp="1"/>
          </p:cNvSpPr>
          <p:nvPr>
            <p:ph type="dt" sz="half" idx="10"/>
          </p:nvPr>
        </p:nvSpPr>
        <p:spPr/>
        <p:txBody>
          <a:bodyPr/>
          <a:lstStyle/>
          <a:p>
            <a:fld id="{9F4AEB3C-D287-6F42-BE4A-5B2D28C015D5}" type="datetimeFigureOut">
              <a:rPr lang="en-US" smtClean="0"/>
              <a:t>8/15/26</a:t>
            </a:fld>
            <a:endParaRPr lang="en-US"/>
          </a:p>
        </p:txBody>
      </p:sp>
      <p:sp>
        <p:nvSpPr>
          <p:cNvPr id="4" name="Footer Placeholder 3">
            <a:extLst>
              <a:ext uri="{FF2B5EF4-FFF2-40B4-BE49-F238E27FC236}">
                <a16:creationId xmlns:a16="http://schemas.microsoft.com/office/drawing/2014/main" id="{89A8AC50-8C81-6B95-9434-8CA397273D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A991FB-4151-2185-8E35-DD7BF24B5C28}"/>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1685982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8E1DD-DC06-A859-CE2E-5B13E35154A6}"/>
              </a:ext>
            </a:extLst>
          </p:cNvPr>
          <p:cNvSpPr>
            <a:spLocks noGrp="1"/>
          </p:cNvSpPr>
          <p:nvPr>
            <p:ph type="dt" sz="half" idx="10"/>
          </p:nvPr>
        </p:nvSpPr>
        <p:spPr/>
        <p:txBody>
          <a:bodyPr/>
          <a:lstStyle/>
          <a:p>
            <a:fld id="{9F4AEB3C-D287-6F42-BE4A-5B2D28C015D5}" type="datetimeFigureOut">
              <a:rPr lang="en-US" smtClean="0"/>
              <a:t>8/15/26</a:t>
            </a:fld>
            <a:endParaRPr lang="en-US"/>
          </a:p>
        </p:txBody>
      </p:sp>
      <p:sp>
        <p:nvSpPr>
          <p:cNvPr id="3" name="Footer Placeholder 2">
            <a:extLst>
              <a:ext uri="{FF2B5EF4-FFF2-40B4-BE49-F238E27FC236}">
                <a16:creationId xmlns:a16="http://schemas.microsoft.com/office/drawing/2014/main" id="{023E51B7-3F99-3C20-1895-809895DB39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FA8AB8-A6A3-A50A-9768-2378BEB6805A}"/>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1208627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9B771-CF1C-8F04-4A6C-FDA42F7018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D75E002-EB52-614C-608C-F10888C30E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4DDB4B-D327-48C9-5C9F-CC860A5048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C41353-5254-AC5B-C1B6-724372AB18A1}"/>
              </a:ext>
            </a:extLst>
          </p:cNvPr>
          <p:cNvSpPr>
            <a:spLocks noGrp="1"/>
          </p:cNvSpPr>
          <p:nvPr>
            <p:ph type="dt" sz="half" idx="10"/>
          </p:nvPr>
        </p:nvSpPr>
        <p:spPr/>
        <p:txBody>
          <a:bodyPr/>
          <a:lstStyle/>
          <a:p>
            <a:fld id="{9F4AEB3C-D287-6F42-BE4A-5B2D28C015D5}" type="datetimeFigureOut">
              <a:rPr lang="en-US" smtClean="0"/>
              <a:t>8/15/26</a:t>
            </a:fld>
            <a:endParaRPr lang="en-US"/>
          </a:p>
        </p:txBody>
      </p:sp>
      <p:sp>
        <p:nvSpPr>
          <p:cNvPr id="6" name="Footer Placeholder 5">
            <a:extLst>
              <a:ext uri="{FF2B5EF4-FFF2-40B4-BE49-F238E27FC236}">
                <a16:creationId xmlns:a16="http://schemas.microsoft.com/office/drawing/2014/main" id="{34738968-3994-CCF4-BDEB-CBD76B519D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E2C3F6-2D1B-8DFB-0E4B-0D3730DBF98C}"/>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3454509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5C242-EEB6-B026-ECEF-2A118F1B53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C47F9C-0C34-CEAD-CC1F-A416F80D49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C7A842-37F5-4C73-8AFB-C5DDD22DAE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7DD8CC-E229-24E8-1EAC-C9E08C9D79F2}"/>
              </a:ext>
            </a:extLst>
          </p:cNvPr>
          <p:cNvSpPr>
            <a:spLocks noGrp="1"/>
          </p:cNvSpPr>
          <p:nvPr>
            <p:ph type="dt" sz="half" idx="10"/>
          </p:nvPr>
        </p:nvSpPr>
        <p:spPr/>
        <p:txBody>
          <a:bodyPr/>
          <a:lstStyle/>
          <a:p>
            <a:fld id="{9F4AEB3C-D287-6F42-BE4A-5B2D28C015D5}" type="datetimeFigureOut">
              <a:rPr lang="en-US" smtClean="0"/>
              <a:t>8/15/26</a:t>
            </a:fld>
            <a:endParaRPr lang="en-US"/>
          </a:p>
        </p:txBody>
      </p:sp>
      <p:sp>
        <p:nvSpPr>
          <p:cNvPr id="6" name="Footer Placeholder 5">
            <a:extLst>
              <a:ext uri="{FF2B5EF4-FFF2-40B4-BE49-F238E27FC236}">
                <a16:creationId xmlns:a16="http://schemas.microsoft.com/office/drawing/2014/main" id="{ED6BD736-D24C-4843-2FA4-56810FC0A0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BCBEC4-15A8-6F81-219E-D91AA26BCAC4}"/>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2000042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583E5-D6D8-0CC7-011D-03BFA3522F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7AF8E72-15B5-1EAE-A4DA-993871D899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27A40B-ECDF-08C0-4ABD-865A250FD546}"/>
              </a:ext>
            </a:extLst>
          </p:cNvPr>
          <p:cNvSpPr>
            <a:spLocks noGrp="1"/>
          </p:cNvSpPr>
          <p:nvPr>
            <p:ph type="dt" sz="half" idx="10"/>
          </p:nvPr>
        </p:nvSpPr>
        <p:spPr/>
        <p:txBody>
          <a:bodyPr/>
          <a:lstStyle/>
          <a:p>
            <a:fld id="{9F4AEB3C-D287-6F42-BE4A-5B2D28C015D5}" type="datetimeFigureOut">
              <a:rPr lang="en-US" smtClean="0"/>
              <a:t>8/15/26</a:t>
            </a:fld>
            <a:endParaRPr lang="en-US"/>
          </a:p>
        </p:txBody>
      </p:sp>
      <p:sp>
        <p:nvSpPr>
          <p:cNvPr id="5" name="Footer Placeholder 4">
            <a:extLst>
              <a:ext uri="{FF2B5EF4-FFF2-40B4-BE49-F238E27FC236}">
                <a16:creationId xmlns:a16="http://schemas.microsoft.com/office/drawing/2014/main" id="{6DAEE222-FD56-7254-FEAB-6B71027E75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E583CC-998C-CA52-0ABA-53DC643F305B}"/>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1078069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B50F-97CF-6F42-8AE1-0A278C0D97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E4D9DF-D115-7F16-E12C-832DD8CDEF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B8C706-696F-B784-A286-471E1470DE29}"/>
              </a:ext>
            </a:extLst>
          </p:cNvPr>
          <p:cNvSpPr>
            <a:spLocks noGrp="1"/>
          </p:cNvSpPr>
          <p:nvPr>
            <p:ph type="dt" sz="half" idx="10"/>
          </p:nvPr>
        </p:nvSpPr>
        <p:spPr/>
        <p:txBody>
          <a:bodyPr/>
          <a:lstStyle/>
          <a:p>
            <a:fld id="{9F4AEB3C-D287-6F42-BE4A-5B2D28C015D5}" type="datetimeFigureOut">
              <a:rPr lang="en-US" smtClean="0"/>
              <a:t>8/15/26</a:t>
            </a:fld>
            <a:endParaRPr lang="en-US"/>
          </a:p>
        </p:txBody>
      </p:sp>
      <p:sp>
        <p:nvSpPr>
          <p:cNvPr id="5" name="Footer Placeholder 4">
            <a:extLst>
              <a:ext uri="{FF2B5EF4-FFF2-40B4-BE49-F238E27FC236}">
                <a16:creationId xmlns:a16="http://schemas.microsoft.com/office/drawing/2014/main" id="{5952B4E6-3381-649D-DABB-E7E1A27D4B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BB8360-2E58-E301-C821-0C4445A4AB3B}"/>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1102060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F46775-75EC-3E19-A447-C896E2277E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1FC488-96AC-A18B-1986-766C4BFBC1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66EF7B-0BD9-815A-83FB-633B268308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4AEB3C-D287-6F42-BE4A-5B2D28C015D5}" type="datetimeFigureOut">
              <a:rPr lang="en-US" smtClean="0"/>
              <a:t>8/15/26</a:t>
            </a:fld>
            <a:endParaRPr lang="en-US"/>
          </a:p>
        </p:txBody>
      </p:sp>
      <p:sp>
        <p:nvSpPr>
          <p:cNvPr id="5" name="Footer Placeholder 4">
            <a:extLst>
              <a:ext uri="{FF2B5EF4-FFF2-40B4-BE49-F238E27FC236}">
                <a16:creationId xmlns:a16="http://schemas.microsoft.com/office/drawing/2014/main" id="{2E20AC3F-B9B5-A662-0099-F4E9555365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2CF9C97-AC91-2476-E8B3-66968D3266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61924E-C2E5-5547-8ACF-1B62CB380C8F}" type="slidenum">
              <a:rPr lang="en-US" smtClean="0"/>
              <a:t>‹#›</a:t>
            </a:fld>
            <a:endParaRPr lang="en-US"/>
          </a:p>
        </p:txBody>
      </p:sp>
    </p:spTree>
    <p:extLst>
      <p:ext uri="{BB962C8B-B14F-4D97-AF65-F5344CB8AC3E}">
        <p14:creationId xmlns:p14="http://schemas.microsoft.com/office/powerpoint/2010/main" val="1568675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1.jp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image" Target="../media/image30.jpg"/></Relationships>
</file>

<file path=ppt/slides/_rels/slide19.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jp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03B73FD3-898E-1B10-048C-68BA9681EDDA}"/>
              </a:ext>
            </a:extLst>
          </p:cNvPr>
          <p:cNvGrpSpPr/>
          <p:nvPr/>
        </p:nvGrpSpPr>
        <p:grpSpPr>
          <a:xfrm>
            <a:off x="984897" y="1342148"/>
            <a:ext cx="14547593" cy="4943731"/>
            <a:chOff x="984897" y="1342148"/>
            <a:chExt cx="14547593" cy="4943731"/>
          </a:xfrm>
        </p:grpSpPr>
        <p:grpSp>
          <p:nvGrpSpPr>
            <p:cNvPr id="216" name="Group 215">
              <a:extLst>
                <a:ext uri="{FF2B5EF4-FFF2-40B4-BE49-F238E27FC236}">
                  <a16:creationId xmlns:a16="http://schemas.microsoft.com/office/drawing/2014/main" id="{D1527B7D-8789-CF98-B79C-14B3134CA600}"/>
                </a:ext>
              </a:extLst>
            </p:cNvPr>
            <p:cNvGrpSpPr/>
            <p:nvPr/>
          </p:nvGrpSpPr>
          <p:grpSpPr>
            <a:xfrm>
              <a:off x="984897" y="1342148"/>
              <a:ext cx="14547593" cy="4943731"/>
              <a:chOff x="1238086" y="1247004"/>
              <a:chExt cx="14547593" cy="4943731"/>
            </a:xfrm>
          </p:grpSpPr>
          <p:sp>
            <p:nvSpPr>
              <p:cNvPr id="159" name="Oval 158">
                <a:extLst>
                  <a:ext uri="{FF2B5EF4-FFF2-40B4-BE49-F238E27FC236}">
                    <a16:creationId xmlns:a16="http://schemas.microsoft.com/office/drawing/2014/main" id="{793654B1-09F7-914A-4372-4477727602E5}"/>
                  </a:ext>
                </a:extLst>
              </p:cNvPr>
              <p:cNvSpPr/>
              <p:nvPr/>
            </p:nvSpPr>
            <p:spPr>
              <a:xfrm rot="16200000">
                <a:off x="2385499" y="2946892"/>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64" name="Straight Connector 163">
                <a:extLst>
                  <a:ext uri="{FF2B5EF4-FFF2-40B4-BE49-F238E27FC236}">
                    <a16:creationId xmlns:a16="http://schemas.microsoft.com/office/drawing/2014/main" id="{6D39167A-5DAF-347A-F44C-A5278029CD4B}"/>
                  </a:ext>
                </a:extLst>
              </p:cNvPr>
              <p:cNvCxnSpPr>
                <a:cxnSpLocks/>
              </p:cNvCxnSpPr>
              <p:nvPr/>
            </p:nvCxnSpPr>
            <p:spPr>
              <a:xfrm>
                <a:off x="8282580" y="5116987"/>
                <a:ext cx="1265813" cy="0"/>
              </a:xfrm>
              <a:prstGeom prst="line">
                <a:avLst/>
              </a:prstGeom>
              <a:ln w="762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65" name="Straight Arrow Connector 164">
                <a:extLst>
                  <a:ext uri="{FF2B5EF4-FFF2-40B4-BE49-F238E27FC236}">
                    <a16:creationId xmlns:a16="http://schemas.microsoft.com/office/drawing/2014/main" id="{D5899919-559D-9DAC-AEFE-50D199ED9E19}"/>
                  </a:ext>
                </a:extLst>
              </p:cNvPr>
              <p:cNvCxnSpPr>
                <a:cxnSpLocks/>
              </p:cNvCxnSpPr>
              <p:nvPr/>
            </p:nvCxnSpPr>
            <p:spPr>
              <a:xfrm>
                <a:off x="8594264" y="3921860"/>
                <a:ext cx="426816" cy="2381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6" name="Straight Arrow Connector 165">
                <a:extLst>
                  <a:ext uri="{FF2B5EF4-FFF2-40B4-BE49-F238E27FC236}">
                    <a16:creationId xmlns:a16="http://schemas.microsoft.com/office/drawing/2014/main" id="{75101F24-4E80-F7CC-6A1C-76647FA7F6FC}"/>
                  </a:ext>
                </a:extLst>
              </p:cNvPr>
              <p:cNvCxnSpPr>
                <a:cxnSpLocks/>
              </p:cNvCxnSpPr>
              <p:nvPr/>
            </p:nvCxnSpPr>
            <p:spPr>
              <a:xfrm rot="16200000">
                <a:off x="8661955" y="3377088"/>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7" name="Oval 166">
                <a:extLst>
                  <a:ext uri="{FF2B5EF4-FFF2-40B4-BE49-F238E27FC236}">
                    <a16:creationId xmlns:a16="http://schemas.microsoft.com/office/drawing/2014/main" id="{14FCA540-76C8-D269-71D8-43529744B158}"/>
                  </a:ext>
                </a:extLst>
              </p:cNvPr>
              <p:cNvSpPr/>
              <p:nvPr/>
            </p:nvSpPr>
            <p:spPr>
              <a:xfrm rot="16200000">
                <a:off x="9073295" y="4112199"/>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68" name="Oval 167">
                <a:extLst>
                  <a:ext uri="{FF2B5EF4-FFF2-40B4-BE49-F238E27FC236}">
                    <a16:creationId xmlns:a16="http://schemas.microsoft.com/office/drawing/2014/main" id="{3D1AE3C9-6178-E961-4FBC-849255AB36B5}"/>
                  </a:ext>
                </a:extLst>
              </p:cNvPr>
              <p:cNvSpPr/>
              <p:nvPr/>
            </p:nvSpPr>
            <p:spPr>
              <a:xfrm rot="16200000">
                <a:off x="9069116" y="3305878"/>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69" name="TextBox 168">
                <a:extLst>
                  <a:ext uri="{FF2B5EF4-FFF2-40B4-BE49-F238E27FC236}">
                    <a16:creationId xmlns:a16="http://schemas.microsoft.com/office/drawing/2014/main" id="{768D7BA3-78C7-C583-714E-12C68ACFEB89}"/>
                  </a:ext>
                </a:extLst>
              </p:cNvPr>
              <p:cNvSpPr txBox="1"/>
              <p:nvPr/>
            </p:nvSpPr>
            <p:spPr>
              <a:xfrm>
                <a:off x="8579503" y="2782614"/>
                <a:ext cx="126204" cy="400110"/>
              </a:xfrm>
              <a:prstGeom prst="rect">
                <a:avLst/>
              </a:prstGeom>
              <a:noFill/>
              <a:ln>
                <a:noFill/>
              </a:ln>
            </p:spPr>
            <p:txBody>
              <a:bodyPr wrap="square" rtlCol="0">
                <a:spAutoFit/>
              </a:bodyPr>
              <a:lstStyle/>
              <a:p>
                <a:pPr algn="ctr"/>
                <a:r>
                  <a:rPr lang="en-US" sz="2000" dirty="0"/>
                  <a:t>†</a:t>
                </a:r>
              </a:p>
            </p:txBody>
          </p:sp>
          <p:sp>
            <p:nvSpPr>
              <p:cNvPr id="172" name="Oval 171">
                <a:extLst>
                  <a:ext uri="{FF2B5EF4-FFF2-40B4-BE49-F238E27FC236}">
                    <a16:creationId xmlns:a16="http://schemas.microsoft.com/office/drawing/2014/main" id="{F5F407D0-DFD3-7E0A-B24B-CC7FFF533F43}"/>
                  </a:ext>
                </a:extLst>
              </p:cNvPr>
              <p:cNvSpPr/>
              <p:nvPr/>
            </p:nvSpPr>
            <p:spPr>
              <a:xfrm rot="16200000">
                <a:off x="9101476" y="1924136"/>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75" name="Straight Arrow Connector 174">
                <a:extLst>
                  <a:ext uri="{FF2B5EF4-FFF2-40B4-BE49-F238E27FC236}">
                    <a16:creationId xmlns:a16="http://schemas.microsoft.com/office/drawing/2014/main" id="{90D9C743-7788-8549-BF5A-106A06BD7D75}"/>
                  </a:ext>
                </a:extLst>
              </p:cNvPr>
              <p:cNvCxnSpPr>
                <a:cxnSpLocks/>
              </p:cNvCxnSpPr>
              <p:nvPr/>
            </p:nvCxnSpPr>
            <p:spPr>
              <a:xfrm>
                <a:off x="8627208" y="3831850"/>
                <a:ext cx="540885" cy="24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6" name="Oval 175">
                <a:extLst>
                  <a:ext uri="{FF2B5EF4-FFF2-40B4-BE49-F238E27FC236}">
                    <a16:creationId xmlns:a16="http://schemas.microsoft.com/office/drawing/2014/main" id="{95034C7F-6387-D041-1149-34C315D26CEE}"/>
                  </a:ext>
                </a:extLst>
              </p:cNvPr>
              <p:cNvSpPr/>
              <p:nvPr/>
            </p:nvSpPr>
            <p:spPr>
              <a:xfrm rot="16200000">
                <a:off x="9233188" y="3751229"/>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77" name="Straight Arrow Connector 176">
                <a:extLst>
                  <a:ext uri="{FF2B5EF4-FFF2-40B4-BE49-F238E27FC236}">
                    <a16:creationId xmlns:a16="http://schemas.microsoft.com/office/drawing/2014/main" id="{5EBCA062-509A-A1D2-C198-2F2230EC2665}"/>
                  </a:ext>
                </a:extLst>
              </p:cNvPr>
              <p:cNvCxnSpPr>
                <a:cxnSpLocks/>
              </p:cNvCxnSpPr>
              <p:nvPr/>
            </p:nvCxnSpPr>
            <p:spPr>
              <a:xfrm>
                <a:off x="8622256" y="2425722"/>
                <a:ext cx="433654" cy="15356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9" name="Oval 178">
                <a:extLst>
                  <a:ext uri="{FF2B5EF4-FFF2-40B4-BE49-F238E27FC236}">
                    <a16:creationId xmlns:a16="http://schemas.microsoft.com/office/drawing/2014/main" id="{4F0E3060-02C0-622D-E7E5-41E44DE431DE}"/>
                  </a:ext>
                </a:extLst>
              </p:cNvPr>
              <p:cNvSpPr/>
              <p:nvPr/>
            </p:nvSpPr>
            <p:spPr>
              <a:xfrm rot="16200000">
                <a:off x="9096231" y="2488863"/>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87" name="Straight Arrow Connector 186">
                <a:extLst>
                  <a:ext uri="{FF2B5EF4-FFF2-40B4-BE49-F238E27FC236}">
                    <a16:creationId xmlns:a16="http://schemas.microsoft.com/office/drawing/2014/main" id="{328E47AE-B61E-DF57-6FA7-AD31E4D61430}"/>
                  </a:ext>
                </a:extLst>
              </p:cNvPr>
              <p:cNvCxnSpPr>
                <a:cxnSpLocks/>
              </p:cNvCxnSpPr>
              <p:nvPr/>
            </p:nvCxnSpPr>
            <p:spPr>
              <a:xfrm>
                <a:off x="9561567" y="3831310"/>
                <a:ext cx="540885" cy="24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8" name="Oval 187">
                <a:extLst>
                  <a:ext uri="{FF2B5EF4-FFF2-40B4-BE49-F238E27FC236}">
                    <a16:creationId xmlns:a16="http://schemas.microsoft.com/office/drawing/2014/main" id="{5771C15F-65FC-A007-4944-1977A8E3B058}"/>
                  </a:ext>
                </a:extLst>
              </p:cNvPr>
              <p:cNvSpPr/>
              <p:nvPr/>
            </p:nvSpPr>
            <p:spPr>
              <a:xfrm rot="16200000">
                <a:off x="10167547" y="3750689"/>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89" name="Straight Arrow Connector 188">
                <a:extLst>
                  <a:ext uri="{FF2B5EF4-FFF2-40B4-BE49-F238E27FC236}">
                    <a16:creationId xmlns:a16="http://schemas.microsoft.com/office/drawing/2014/main" id="{6A4BAC27-4677-F1AA-7328-02F4FA888B5B}"/>
                  </a:ext>
                </a:extLst>
              </p:cNvPr>
              <p:cNvCxnSpPr>
                <a:cxnSpLocks/>
              </p:cNvCxnSpPr>
              <p:nvPr/>
            </p:nvCxnSpPr>
            <p:spPr>
              <a:xfrm>
                <a:off x="9548886" y="3948525"/>
                <a:ext cx="426816" cy="2381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0" name="Oval 189">
                <a:extLst>
                  <a:ext uri="{FF2B5EF4-FFF2-40B4-BE49-F238E27FC236}">
                    <a16:creationId xmlns:a16="http://schemas.microsoft.com/office/drawing/2014/main" id="{0910D8A5-A5AF-FDA9-29CD-B2840E410CA2}"/>
                  </a:ext>
                </a:extLst>
              </p:cNvPr>
              <p:cNvSpPr/>
              <p:nvPr/>
            </p:nvSpPr>
            <p:spPr>
              <a:xfrm rot="16200000">
                <a:off x="10027917" y="4138864"/>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91" name="Straight Arrow Connector 190">
                <a:extLst>
                  <a:ext uri="{FF2B5EF4-FFF2-40B4-BE49-F238E27FC236}">
                    <a16:creationId xmlns:a16="http://schemas.microsoft.com/office/drawing/2014/main" id="{860DD5D1-6A71-A6D6-6660-28C967466A3A}"/>
                  </a:ext>
                </a:extLst>
              </p:cNvPr>
              <p:cNvCxnSpPr>
                <a:cxnSpLocks/>
              </p:cNvCxnSpPr>
              <p:nvPr/>
            </p:nvCxnSpPr>
            <p:spPr>
              <a:xfrm rot="16200000">
                <a:off x="9624373" y="3359886"/>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2" name="Oval 191">
                <a:extLst>
                  <a:ext uri="{FF2B5EF4-FFF2-40B4-BE49-F238E27FC236}">
                    <a16:creationId xmlns:a16="http://schemas.microsoft.com/office/drawing/2014/main" id="{A3B4DCC0-E374-7EDE-EAB1-18C43C0ABCB1}"/>
                  </a:ext>
                </a:extLst>
              </p:cNvPr>
              <p:cNvSpPr/>
              <p:nvPr/>
            </p:nvSpPr>
            <p:spPr>
              <a:xfrm rot="16200000">
                <a:off x="10031534" y="3288676"/>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200" name="Straight Arrow Connector 199">
                <a:extLst>
                  <a:ext uri="{FF2B5EF4-FFF2-40B4-BE49-F238E27FC236}">
                    <a16:creationId xmlns:a16="http://schemas.microsoft.com/office/drawing/2014/main" id="{87AAD0B6-3A58-9587-C5BC-6E63A916433D}"/>
                  </a:ext>
                </a:extLst>
              </p:cNvPr>
              <p:cNvCxnSpPr>
                <a:cxnSpLocks/>
              </p:cNvCxnSpPr>
              <p:nvPr/>
            </p:nvCxnSpPr>
            <p:spPr>
              <a:xfrm rot="16200000">
                <a:off x="9424133" y="2924703"/>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1" name="Oval 200">
                <a:extLst>
                  <a:ext uri="{FF2B5EF4-FFF2-40B4-BE49-F238E27FC236}">
                    <a16:creationId xmlns:a16="http://schemas.microsoft.com/office/drawing/2014/main" id="{30C41D28-94C1-225C-125B-2E13848DB554}"/>
                  </a:ext>
                </a:extLst>
              </p:cNvPr>
              <p:cNvSpPr/>
              <p:nvPr/>
            </p:nvSpPr>
            <p:spPr>
              <a:xfrm rot="16200000">
                <a:off x="9831294" y="2853493"/>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06" name="TextBox 205">
                <a:extLst>
                  <a:ext uri="{FF2B5EF4-FFF2-40B4-BE49-F238E27FC236}">
                    <a16:creationId xmlns:a16="http://schemas.microsoft.com/office/drawing/2014/main" id="{DAFE5707-75A0-6B07-2A52-416053AE3998}"/>
                  </a:ext>
                </a:extLst>
              </p:cNvPr>
              <p:cNvSpPr txBox="1"/>
              <p:nvPr/>
            </p:nvSpPr>
            <p:spPr>
              <a:xfrm>
                <a:off x="9354743" y="2361251"/>
                <a:ext cx="126204" cy="400110"/>
              </a:xfrm>
              <a:prstGeom prst="rect">
                <a:avLst/>
              </a:prstGeom>
              <a:noFill/>
              <a:ln>
                <a:noFill/>
              </a:ln>
            </p:spPr>
            <p:txBody>
              <a:bodyPr wrap="square" rtlCol="0">
                <a:spAutoFit/>
              </a:bodyPr>
              <a:lstStyle/>
              <a:p>
                <a:pPr algn="ctr"/>
                <a:r>
                  <a:rPr lang="en-US" sz="2000" dirty="0"/>
                  <a:t>†</a:t>
                </a:r>
              </a:p>
            </p:txBody>
          </p:sp>
          <p:cxnSp>
            <p:nvCxnSpPr>
              <p:cNvPr id="207" name="Straight Arrow Connector 206">
                <a:extLst>
                  <a:ext uri="{FF2B5EF4-FFF2-40B4-BE49-F238E27FC236}">
                    <a16:creationId xmlns:a16="http://schemas.microsoft.com/office/drawing/2014/main" id="{79A2112D-390F-B45B-B068-49172549DB0D}"/>
                  </a:ext>
                </a:extLst>
              </p:cNvPr>
              <p:cNvCxnSpPr>
                <a:cxnSpLocks/>
              </p:cNvCxnSpPr>
              <p:nvPr/>
            </p:nvCxnSpPr>
            <p:spPr>
              <a:xfrm flipV="1">
                <a:off x="9392838" y="1765082"/>
                <a:ext cx="390420" cy="17954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8" name="Straight Arrow Connector 207">
                <a:extLst>
                  <a:ext uri="{FF2B5EF4-FFF2-40B4-BE49-F238E27FC236}">
                    <a16:creationId xmlns:a16="http://schemas.microsoft.com/office/drawing/2014/main" id="{410C5F03-8DAF-E3B2-520D-0E5C891A0B2B}"/>
                  </a:ext>
                </a:extLst>
              </p:cNvPr>
              <p:cNvCxnSpPr>
                <a:cxnSpLocks/>
              </p:cNvCxnSpPr>
              <p:nvPr/>
            </p:nvCxnSpPr>
            <p:spPr>
              <a:xfrm>
                <a:off x="9392838" y="2059364"/>
                <a:ext cx="383025" cy="1454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9" name="Oval 208">
                <a:extLst>
                  <a:ext uri="{FF2B5EF4-FFF2-40B4-BE49-F238E27FC236}">
                    <a16:creationId xmlns:a16="http://schemas.microsoft.com/office/drawing/2014/main" id="{662AD3C9-CB81-D32F-C2DD-B3D35C7F7688}"/>
                  </a:ext>
                </a:extLst>
              </p:cNvPr>
              <p:cNvSpPr/>
              <p:nvPr/>
            </p:nvSpPr>
            <p:spPr>
              <a:xfrm rot="16200000">
                <a:off x="9831295" y="1609587"/>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11" name="Oval 210">
                <a:extLst>
                  <a:ext uri="{FF2B5EF4-FFF2-40B4-BE49-F238E27FC236}">
                    <a16:creationId xmlns:a16="http://schemas.microsoft.com/office/drawing/2014/main" id="{D1031FF9-7E61-613B-59EF-4CC899DB4344}"/>
                  </a:ext>
                </a:extLst>
              </p:cNvPr>
              <p:cNvSpPr/>
              <p:nvPr/>
            </p:nvSpPr>
            <p:spPr>
              <a:xfrm rot="16200000">
                <a:off x="9831295" y="2155636"/>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grpSp>
            <p:nvGrpSpPr>
              <p:cNvPr id="215" name="Group 214">
                <a:extLst>
                  <a:ext uri="{FF2B5EF4-FFF2-40B4-BE49-F238E27FC236}">
                    <a16:creationId xmlns:a16="http://schemas.microsoft.com/office/drawing/2014/main" id="{EEA83CA1-0AC1-17B2-201A-6DE4E1D80C09}"/>
                  </a:ext>
                </a:extLst>
              </p:cNvPr>
              <p:cNvGrpSpPr/>
              <p:nvPr/>
            </p:nvGrpSpPr>
            <p:grpSpPr>
              <a:xfrm>
                <a:off x="1238086" y="1247004"/>
                <a:ext cx="14547593" cy="4943731"/>
                <a:chOff x="1238086" y="1247004"/>
                <a:chExt cx="14547593" cy="4943731"/>
              </a:xfrm>
            </p:grpSpPr>
            <p:grpSp>
              <p:nvGrpSpPr>
                <p:cNvPr id="106" name="Group 105">
                  <a:extLst>
                    <a:ext uri="{FF2B5EF4-FFF2-40B4-BE49-F238E27FC236}">
                      <a16:creationId xmlns:a16="http://schemas.microsoft.com/office/drawing/2014/main" id="{67FC4C23-BB79-276B-3E7E-EB3ADEFA41FF}"/>
                    </a:ext>
                  </a:extLst>
                </p:cNvPr>
                <p:cNvGrpSpPr/>
                <p:nvPr/>
              </p:nvGrpSpPr>
              <p:grpSpPr>
                <a:xfrm>
                  <a:off x="1842394" y="1885167"/>
                  <a:ext cx="7311566" cy="4305568"/>
                  <a:chOff x="2446934" y="2740383"/>
                  <a:chExt cx="7311566" cy="4305568"/>
                </a:xfrm>
              </p:grpSpPr>
              <p:cxnSp>
                <p:nvCxnSpPr>
                  <p:cNvPr id="107" name="Straight Connector 106">
                    <a:extLst>
                      <a:ext uri="{FF2B5EF4-FFF2-40B4-BE49-F238E27FC236}">
                        <a16:creationId xmlns:a16="http://schemas.microsoft.com/office/drawing/2014/main" id="{547853EB-63B5-32BD-F203-4D25AF96B194}"/>
                      </a:ext>
                    </a:extLst>
                  </p:cNvPr>
                  <p:cNvCxnSpPr>
                    <a:cxnSpLocks/>
                  </p:cNvCxnSpPr>
                  <p:nvPr/>
                </p:nvCxnSpPr>
                <p:spPr>
                  <a:xfrm>
                    <a:off x="4184703" y="2740383"/>
                    <a:ext cx="0" cy="3046911"/>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08" name="Straight Arrow Connector 107">
                    <a:extLst>
                      <a:ext uri="{FF2B5EF4-FFF2-40B4-BE49-F238E27FC236}">
                        <a16:creationId xmlns:a16="http://schemas.microsoft.com/office/drawing/2014/main" id="{B767572C-2DF1-248C-4159-C3BD1E29EB54}"/>
                      </a:ext>
                    </a:extLst>
                  </p:cNvPr>
                  <p:cNvCxnSpPr>
                    <a:cxnSpLocks/>
                  </p:cNvCxnSpPr>
                  <p:nvPr/>
                </p:nvCxnSpPr>
                <p:spPr>
                  <a:xfrm flipV="1">
                    <a:off x="3848326" y="3735980"/>
                    <a:ext cx="670250" cy="40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9" name="Oval 108">
                    <a:extLst>
                      <a:ext uri="{FF2B5EF4-FFF2-40B4-BE49-F238E27FC236}">
                        <a16:creationId xmlns:a16="http://schemas.microsoft.com/office/drawing/2014/main" id="{A390BFC6-F8AF-A0D9-FBB7-0E4522218BEE}"/>
                      </a:ext>
                    </a:extLst>
                  </p:cNvPr>
                  <p:cNvSpPr/>
                  <p:nvPr/>
                </p:nvSpPr>
                <p:spPr>
                  <a:xfrm rot="16200000">
                    <a:off x="3358925" y="3418532"/>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10" name="Oval 109">
                    <a:extLst>
                      <a:ext uri="{FF2B5EF4-FFF2-40B4-BE49-F238E27FC236}">
                        <a16:creationId xmlns:a16="http://schemas.microsoft.com/office/drawing/2014/main" id="{A1F0329F-4EAE-116D-5C6B-A0DE97CF2EAA}"/>
                      </a:ext>
                    </a:extLst>
                  </p:cNvPr>
                  <p:cNvSpPr/>
                  <p:nvPr/>
                </p:nvSpPr>
                <p:spPr>
                  <a:xfrm rot="16200000">
                    <a:off x="4629399" y="3623731"/>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11" name="Straight Arrow Connector 110">
                    <a:extLst>
                      <a:ext uri="{FF2B5EF4-FFF2-40B4-BE49-F238E27FC236}">
                        <a16:creationId xmlns:a16="http://schemas.microsoft.com/office/drawing/2014/main" id="{7B54396E-3B97-AB79-B69C-D2BD02A1F19D}"/>
                      </a:ext>
                    </a:extLst>
                  </p:cNvPr>
                  <p:cNvCxnSpPr>
                    <a:cxnSpLocks/>
                  </p:cNvCxnSpPr>
                  <p:nvPr/>
                </p:nvCxnSpPr>
                <p:spPr>
                  <a:xfrm rot="16200000">
                    <a:off x="5191665" y="3457246"/>
                    <a:ext cx="4621" cy="4964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2" name="Oval 111">
                    <a:extLst>
                      <a:ext uri="{FF2B5EF4-FFF2-40B4-BE49-F238E27FC236}">
                        <a16:creationId xmlns:a16="http://schemas.microsoft.com/office/drawing/2014/main" id="{57B0214E-7A57-2B29-0D93-428B11919086}"/>
                      </a:ext>
                    </a:extLst>
                  </p:cNvPr>
                  <p:cNvSpPr/>
                  <p:nvPr/>
                </p:nvSpPr>
                <p:spPr>
                  <a:xfrm rot="16200000">
                    <a:off x="5560333" y="3609355"/>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13" name="Straight Arrow Connector 112">
                    <a:extLst>
                      <a:ext uri="{FF2B5EF4-FFF2-40B4-BE49-F238E27FC236}">
                        <a16:creationId xmlns:a16="http://schemas.microsoft.com/office/drawing/2014/main" id="{53A37E4A-CA27-E046-22CF-6AFA99D03093}"/>
                      </a:ext>
                    </a:extLst>
                  </p:cNvPr>
                  <p:cNvCxnSpPr>
                    <a:cxnSpLocks/>
                  </p:cNvCxnSpPr>
                  <p:nvPr/>
                </p:nvCxnSpPr>
                <p:spPr>
                  <a:xfrm rot="16200000" flipH="1">
                    <a:off x="5974460" y="3757373"/>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4" name="Straight Arrow Connector 113">
                    <a:extLst>
                      <a:ext uri="{FF2B5EF4-FFF2-40B4-BE49-F238E27FC236}">
                        <a16:creationId xmlns:a16="http://schemas.microsoft.com/office/drawing/2014/main" id="{511FF752-73D9-F895-C4ED-AF71AA4719BE}"/>
                      </a:ext>
                    </a:extLst>
                  </p:cNvPr>
                  <p:cNvCxnSpPr>
                    <a:cxnSpLocks/>
                  </p:cNvCxnSpPr>
                  <p:nvPr/>
                </p:nvCxnSpPr>
                <p:spPr>
                  <a:xfrm rot="16200000">
                    <a:off x="5974459" y="3211034"/>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5" name="Oval 114">
                    <a:extLst>
                      <a:ext uri="{FF2B5EF4-FFF2-40B4-BE49-F238E27FC236}">
                        <a16:creationId xmlns:a16="http://schemas.microsoft.com/office/drawing/2014/main" id="{8AA20FC3-493E-940C-259A-812572622B47}"/>
                      </a:ext>
                    </a:extLst>
                  </p:cNvPr>
                  <p:cNvSpPr/>
                  <p:nvPr/>
                </p:nvSpPr>
                <p:spPr>
                  <a:xfrm rot="16200000">
                    <a:off x="6401409" y="4119749"/>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16" name="Oval 115">
                    <a:extLst>
                      <a:ext uri="{FF2B5EF4-FFF2-40B4-BE49-F238E27FC236}">
                        <a16:creationId xmlns:a16="http://schemas.microsoft.com/office/drawing/2014/main" id="{62FEC8A2-8E1F-7C20-D50E-D7EDC3617E1F}"/>
                      </a:ext>
                    </a:extLst>
                  </p:cNvPr>
                  <p:cNvSpPr/>
                  <p:nvPr/>
                </p:nvSpPr>
                <p:spPr>
                  <a:xfrm rot="16200000">
                    <a:off x="6401408" y="3127712"/>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17" name="Straight Arrow Connector 116">
                    <a:extLst>
                      <a:ext uri="{FF2B5EF4-FFF2-40B4-BE49-F238E27FC236}">
                        <a16:creationId xmlns:a16="http://schemas.microsoft.com/office/drawing/2014/main" id="{8E85F423-90FE-923E-71A6-F29293D6DE80}"/>
                      </a:ext>
                    </a:extLst>
                  </p:cNvPr>
                  <p:cNvCxnSpPr>
                    <a:cxnSpLocks/>
                  </p:cNvCxnSpPr>
                  <p:nvPr/>
                </p:nvCxnSpPr>
                <p:spPr>
                  <a:xfrm rot="16200000">
                    <a:off x="6949297" y="3967641"/>
                    <a:ext cx="4621" cy="4964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8" name="Oval 117">
                    <a:extLst>
                      <a:ext uri="{FF2B5EF4-FFF2-40B4-BE49-F238E27FC236}">
                        <a16:creationId xmlns:a16="http://schemas.microsoft.com/office/drawing/2014/main" id="{BEA73DE7-1FA5-10D9-26BF-D394BF5EC172}"/>
                      </a:ext>
                    </a:extLst>
                  </p:cNvPr>
                  <p:cNvSpPr/>
                  <p:nvPr/>
                </p:nvSpPr>
                <p:spPr>
                  <a:xfrm rot="16200000">
                    <a:off x="7317965" y="4119750"/>
                    <a:ext cx="205539" cy="1905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cxnSp>
                <p:nvCxnSpPr>
                  <p:cNvPr id="119" name="Straight Arrow Connector 118">
                    <a:extLst>
                      <a:ext uri="{FF2B5EF4-FFF2-40B4-BE49-F238E27FC236}">
                        <a16:creationId xmlns:a16="http://schemas.microsoft.com/office/drawing/2014/main" id="{4CDD9716-20E7-4FBE-687F-5B02661D63DF}"/>
                      </a:ext>
                    </a:extLst>
                  </p:cNvPr>
                  <p:cNvCxnSpPr>
                    <a:cxnSpLocks/>
                  </p:cNvCxnSpPr>
                  <p:nvPr/>
                </p:nvCxnSpPr>
                <p:spPr>
                  <a:xfrm rot="16200000" flipH="1">
                    <a:off x="7724903" y="4318090"/>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0" name="Straight Arrow Connector 119">
                    <a:extLst>
                      <a:ext uri="{FF2B5EF4-FFF2-40B4-BE49-F238E27FC236}">
                        <a16:creationId xmlns:a16="http://schemas.microsoft.com/office/drawing/2014/main" id="{D9CDD8D6-4956-1BEA-F71A-DB1288E47751}"/>
                      </a:ext>
                    </a:extLst>
                  </p:cNvPr>
                  <p:cNvCxnSpPr>
                    <a:cxnSpLocks/>
                  </p:cNvCxnSpPr>
                  <p:nvPr/>
                </p:nvCxnSpPr>
                <p:spPr>
                  <a:xfrm rot="16200000">
                    <a:off x="7724902" y="3642355"/>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1" name="Straight Arrow Connector 120">
                    <a:extLst>
                      <a:ext uri="{FF2B5EF4-FFF2-40B4-BE49-F238E27FC236}">
                        <a16:creationId xmlns:a16="http://schemas.microsoft.com/office/drawing/2014/main" id="{35CEF616-DC19-165E-6DA1-08A2043CFAD3}"/>
                      </a:ext>
                    </a:extLst>
                  </p:cNvPr>
                  <p:cNvCxnSpPr>
                    <a:cxnSpLocks/>
                  </p:cNvCxnSpPr>
                  <p:nvPr/>
                </p:nvCxnSpPr>
                <p:spPr>
                  <a:xfrm rot="16200000">
                    <a:off x="6942108" y="2946849"/>
                    <a:ext cx="4621" cy="4964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2" name="Oval 121">
                    <a:extLst>
                      <a:ext uri="{FF2B5EF4-FFF2-40B4-BE49-F238E27FC236}">
                        <a16:creationId xmlns:a16="http://schemas.microsoft.com/office/drawing/2014/main" id="{B7D1A13B-BE5A-90C8-36D2-50A3564DFA40}"/>
                      </a:ext>
                    </a:extLst>
                  </p:cNvPr>
                  <p:cNvSpPr/>
                  <p:nvPr/>
                </p:nvSpPr>
                <p:spPr>
                  <a:xfrm rot="16200000">
                    <a:off x="7310776" y="3098958"/>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23" name="Oval 122">
                    <a:extLst>
                      <a:ext uri="{FF2B5EF4-FFF2-40B4-BE49-F238E27FC236}">
                        <a16:creationId xmlns:a16="http://schemas.microsoft.com/office/drawing/2014/main" id="{E70AA289-EAA0-76E8-C8C4-27695CD0C5AE}"/>
                      </a:ext>
                    </a:extLst>
                  </p:cNvPr>
                  <p:cNvSpPr/>
                  <p:nvPr/>
                </p:nvSpPr>
                <p:spPr>
                  <a:xfrm rot="16200000">
                    <a:off x="8146925" y="4606445"/>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25" name="Straight Arrow Connector 124">
                    <a:extLst>
                      <a:ext uri="{FF2B5EF4-FFF2-40B4-BE49-F238E27FC236}">
                        <a16:creationId xmlns:a16="http://schemas.microsoft.com/office/drawing/2014/main" id="{DB2B1A8A-4784-ADB5-944F-11D95C43C9F8}"/>
                      </a:ext>
                    </a:extLst>
                  </p:cNvPr>
                  <p:cNvCxnSpPr>
                    <a:cxnSpLocks/>
                  </p:cNvCxnSpPr>
                  <p:nvPr/>
                </p:nvCxnSpPr>
                <p:spPr>
                  <a:xfrm flipV="1">
                    <a:off x="8430212" y="4712935"/>
                    <a:ext cx="477136" cy="252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7" name="Oval 126">
                    <a:extLst>
                      <a:ext uri="{FF2B5EF4-FFF2-40B4-BE49-F238E27FC236}">
                        <a16:creationId xmlns:a16="http://schemas.microsoft.com/office/drawing/2014/main" id="{D89106AD-99F0-BEA7-3D25-F5ADA1A2DC37}"/>
                      </a:ext>
                    </a:extLst>
                  </p:cNvPr>
                  <p:cNvSpPr/>
                  <p:nvPr/>
                </p:nvSpPr>
                <p:spPr>
                  <a:xfrm rot="16200000">
                    <a:off x="8955175" y="4605906"/>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28" name="Oval 127">
                    <a:extLst>
                      <a:ext uri="{FF2B5EF4-FFF2-40B4-BE49-F238E27FC236}">
                        <a16:creationId xmlns:a16="http://schemas.microsoft.com/office/drawing/2014/main" id="{CEB63060-5916-7D54-AC18-4EA3FF4E6DC9}"/>
                      </a:ext>
                    </a:extLst>
                  </p:cNvPr>
                  <p:cNvSpPr/>
                  <p:nvPr/>
                </p:nvSpPr>
                <p:spPr>
                  <a:xfrm rot="16200000">
                    <a:off x="8139271" y="3506584"/>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cxnSp>
                <p:nvCxnSpPr>
                  <p:cNvPr id="129" name="Straight Arrow Connector 128">
                    <a:extLst>
                      <a:ext uri="{FF2B5EF4-FFF2-40B4-BE49-F238E27FC236}">
                        <a16:creationId xmlns:a16="http://schemas.microsoft.com/office/drawing/2014/main" id="{C721E705-6C7A-D900-894C-9125A2650F8B}"/>
                      </a:ext>
                    </a:extLst>
                  </p:cNvPr>
                  <p:cNvCxnSpPr>
                    <a:cxnSpLocks/>
                  </p:cNvCxnSpPr>
                  <p:nvPr/>
                </p:nvCxnSpPr>
                <p:spPr>
                  <a:xfrm>
                    <a:off x="8442914" y="3666883"/>
                    <a:ext cx="444206" cy="1562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0" name="Straight Arrow Connector 129">
                    <a:extLst>
                      <a:ext uri="{FF2B5EF4-FFF2-40B4-BE49-F238E27FC236}">
                        <a16:creationId xmlns:a16="http://schemas.microsoft.com/office/drawing/2014/main" id="{FD535AA8-A946-010F-1A05-9D5E88F27802}"/>
                      </a:ext>
                    </a:extLst>
                  </p:cNvPr>
                  <p:cNvCxnSpPr>
                    <a:cxnSpLocks/>
                  </p:cNvCxnSpPr>
                  <p:nvPr/>
                </p:nvCxnSpPr>
                <p:spPr>
                  <a:xfrm flipV="1">
                    <a:off x="8443598" y="3293164"/>
                    <a:ext cx="417620" cy="2286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1" name="Oval 130">
                    <a:extLst>
                      <a:ext uri="{FF2B5EF4-FFF2-40B4-BE49-F238E27FC236}">
                        <a16:creationId xmlns:a16="http://schemas.microsoft.com/office/drawing/2014/main" id="{E888EAB1-430F-2920-1613-50854B9B258F}"/>
                      </a:ext>
                    </a:extLst>
                  </p:cNvPr>
                  <p:cNvSpPr/>
                  <p:nvPr/>
                </p:nvSpPr>
                <p:spPr>
                  <a:xfrm rot="16200000">
                    <a:off x="8937035" y="3750140"/>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2" name="Oval 131">
                    <a:extLst>
                      <a:ext uri="{FF2B5EF4-FFF2-40B4-BE49-F238E27FC236}">
                        <a16:creationId xmlns:a16="http://schemas.microsoft.com/office/drawing/2014/main" id="{96646942-01A2-2116-E917-6D326A4652E7}"/>
                      </a:ext>
                    </a:extLst>
                  </p:cNvPr>
                  <p:cNvSpPr/>
                  <p:nvPr/>
                </p:nvSpPr>
                <p:spPr>
                  <a:xfrm rot="16200000">
                    <a:off x="8925548" y="3175931"/>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3" name="TextBox 132">
                    <a:extLst>
                      <a:ext uri="{FF2B5EF4-FFF2-40B4-BE49-F238E27FC236}">
                        <a16:creationId xmlns:a16="http://schemas.microsoft.com/office/drawing/2014/main" id="{3E06C445-5EE5-982B-1D4B-6E0D6D9FE7EB}"/>
                      </a:ext>
                    </a:extLst>
                  </p:cNvPr>
                  <p:cNvSpPr txBox="1"/>
                  <p:nvPr/>
                </p:nvSpPr>
                <p:spPr>
                  <a:xfrm>
                    <a:off x="7589645" y="2999232"/>
                    <a:ext cx="126204" cy="400110"/>
                  </a:xfrm>
                  <a:prstGeom prst="rect">
                    <a:avLst/>
                  </a:prstGeom>
                  <a:noFill/>
                  <a:ln>
                    <a:noFill/>
                  </a:ln>
                </p:spPr>
                <p:txBody>
                  <a:bodyPr wrap="square" rtlCol="0">
                    <a:spAutoFit/>
                  </a:bodyPr>
                  <a:lstStyle/>
                  <a:p>
                    <a:pPr algn="ctr"/>
                    <a:r>
                      <a:rPr lang="en-US" sz="2000" dirty="0"/>
                      <a:t>†</a:t>
                    </a:r>
                  </a:p>
                </p:txBody>
              </p:sp>
              <p:cxnSp>
                <p:nvCxnSpPr>
                  <p:cNvPr id="134" name="Straight Connector 133">
                    <a:extLst>
                      <a:ext uri="{FF2B5EF4-FFF2-40B4-BE49-F238E27FC236}">
                        <a16:creationId xmlns:a16="http://schemas.microsoft.com/office/drawing/2014/main" id="{856F4B32-8AE8-17DD-3378-BCDDB1E82441}"/>
                      </a:ext>
                    </a:extLst>
                  </p:cNvPr>
                  <p:cNvCxnSpPr>
                    <a:cxnSpLocks/>
                  </p:cNvCxnSpPr>
                  <p:nvPr/>
                </p:nvCxnSpPr>
                <p:spPr>
                  <a:xfrm>
                    <a:off x="7826868" y="2740383"/>
                    <a:ext cx="0" cy="3044952"/>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135" name="TextBox 134">
                    <a:extLst>
                      <a:ext uri="{FF2B5EF4-FFF2-40B4-BE49-F238E27FC236}">
                        <a16:creationId xmlns:a16="http://schemas.microsoft.com/office/drawing/2014/main" id="{5AB3D564-D6BE-DED0-8E0D-AEC723C4F688}"/>
                      </a:ext>
                    </a:extLst>
                  </p:cNvPr>
                  <p:cNvSpPr txBox="1"/>
                  <p:nvPr/>
                </p:nvSpPr>
                <p:spPr>
                  <a:xfrm>
                    <a:off x="3395544" y="5792685"/>
                    <a:ext cx="1574982" cy="523220"/>
                  </a:xfrm>
                  <a:prstGeom prst="rect">
                    <a:avLst/>
                  </a:prstGeom>
                  <a:noFill/>
                  <a:ln>
                    <a:noFill/>
                  </a:ln>
                </p:spPr>
                <p:txBody>
                  <a:bodyPr wrap="square" rtlCol="0">
                    <a:spAutoFit/>
                  </a:bodyPr>
                  <a:lstStyle/>
                  <a:p>
                    <a:pPr algn="ctr"/>
                    <a:r>
                      <a:rPr lang="en-US" sz="1400" b="1" dirty="0"/>
                      <a:t>Introduction </a:t>
                    </a:r>
                  </a:p>
                  <a:p>
                    <a:pPr algn="ctr"/>
                    <a:r>
                      <a:rPr lang="en-US" sz="1400" b="1" dirty="0"/>
                      <a:t>(from reservoir)</a:t>
                    </a:r>
                  </a:p>
                </p:txBody>
              </p:sp>
              <p:sp>
                <p:nvSpPr>
                  <p:cNvPr id="137" name="Oval 136">
                    <a:extLst>
                      <a:ext uri="{FF2B5EF4-FFF2-40B4-BE49-F238E27FC236}">
                        <a16:creationId xmlns:a16="http://schemas.microsoft.com/office/drawing/2014/main" id="{FF15BF4F-481B-3187-1C2B-9013AE67DED5}"/>
                      </a:ext>
                    </a:extLst>
                  </p:cNvPr>
                  <p:cNvSpPr/>
                  <p:nvPr/>
                </p:nvSpPr>
                <p:spPr>
                  <a:xfrm rot="16200000">
                    <a:off x="2439414" y="3738069"/>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8" name="Oval 137">
                    <a:extLst>
                      <a:ext uri="{FF2B5EF4-FFF2-40B4-BE49-F238E27FC236}">
                        <a16:creationId xmlns:a16="http://schemas.microsoft.com/office/drawing/2014/main" id="{80F4F73C-4AB8-2EF2-CDD1-39E4CD09695D}"/>
                      </a:ext>
                    </a:extLst>
                  </p:cNvPr>
                  <p:cNvSpPr/>
                  <p:nvPr/>
                </p:nvSpPr>
                <p:spPr>
                  <a:xfrm rot="16200000">
                    <a:off x="2555163" y="4291130"/>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9" name="Oval 138">
                    <a:extLst>
                      <a:ext uri="{FF2B5EF4-FFF2-40B4-BE49-F238E27FC236}">
                        <a16:creationId xmlns:a16="http://schemas.microsoft.com/office/drawing/2014/main" id="{6674CD5A-85B1-A96D-E85D-7614DE52E6A0}"/>
                      </a:ext>
                    </a:extLst>
                  </p:cNvPr>
                  <p:cNvSpPr/>
                  <p:nvPr/>
                </p:nvSpPr>
                <p:spPr>
                  <a:xfrm rot="16200000">
                    <a:off x="3329867" y="4236050"/>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43" name="Arc 142">
                    <a:extLst>
                      <a:ext uri="{FF2B5EF4-FFF2-40B4-BE49-F238E27FC236}">
                        <a16:creationId xmlns:a16="http://schemas.microsoft.com/office/drawing/2014/main" id="{4F3251BE-6E2D-9AB2-8258-B300B6D88E94}"/>
                      </a:ext>
                    </a:extLst>
                  </p:cNvPr>
                  <p:cNvSpPr/>
                  <p:nvPr/>
                </p:nvSpPr>
                <p:spPr>
                  <a:xfrm rot="18967714">
                    <a:off x="3424584" y="5498985"/>
                    <a:ext cx="1572016" cy="1546965"/>
                  </a:xfrm>
                  <a:prstGeom prst="arc">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4" name="Arc 143">
                    <a:extLst>
                      <a:ext uri="{FF2B5EF4-FFF2-40B4-BE49-F238E27FC236}">
                        <a16:creationId xmlns:a16="http://schemas.microsoft.com/office/drawing/2014/main" id="{39E14055-3B41-4F4F-3D48-F62EAA04D45E}"/>
                      </a:ext>
                    </a:extLst>
                  </p:cNvPr>
                  <p:cNvSpPr/>
                  <p:nvPr/>
                </p:nvSpPr>
                <p:spPr>
                  <a:xfrm rot="18967714">
                    <a:off x="6998425" y="5498986"/>
                    <a:ext cx="1572016" cy="1546965"/>
                  </a:xfrm>
                  <a:prstGeom prst="arc">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46" name="Straight Connector 145">
                    <a:extLst>
                      <a:ext uri="{FF2B5EF4-FFF2-40B4-BE49-F238E27FC236}">
                        <a16:creationId xmlns:a16="http://schemas.microsoft.com/office/drawing/2014/main" id="{18AC724A-2105-C7FA-127F-ADD4E7B6977A}"/>
                      </a:ext>
                    </a:extLst>
                  </p:cNvPr>
                  <p:cNvCxnSpPr>
                    <a:cxnSpLocks/>
                  </p:cNvCxnSpPr>
                  <p:nvPr/>
                </p:nvCxnSpPr>
                <p:spPr>
                  <a:xfrm>
                    <a:off x="4134599" y="6432385"/>
                    <a:ext cx="369226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732BE42D-AF1E-AA7F-E29E-790BCF2FBF47}"/>
                      </a:ext>
                    </a:extLst>
                  </p:cNvPr>
                  <p:cNvCxnSpPr>
                    <a:cxnSpLocks/>
                  </p:cNvCxnSpPr>
                  <p:nvPr/>
                </p:nvCxnSpPr>
                <p:spPr>
                  <a:xfrm>
                    <a:off x="7826868" y="6350966"/>
                    <a:ext cx="0" cy="16283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8" name="Straight Connector 147">
                    <a:extLst>
                      <a:ext uri="{FF2B5EF4-FFF2-40B4-BE49-F238E27FC236}">
                        <a16:creationId xmlns:a16="http://schemas.microsoft.com/office/drawing/2014/main" id="{5307CD68-6FCF-CA86-D36D-91A9E79FA1E0}"/>
                      </a:ext>
                    </a:extLst>
                  </p:cNvPr>
                  <p:cNvCxnSpPr>
                    <a:cxnSpLocks/>
                  </p:cNvCxnSpPr>
                  <p:nvPr/>
                </p:nvCxnSpPr>
                <p:spPr>
                  <a:xfrm>
                    <a:off x="4134599" y="6603574"/>
                    <a:ext cx="4616111" cy="0"/>
                  </a:xfrm>
                  <a:prstGeom prst="line">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49" name="TextBox 148">
                    <a:extLst>
                      <a:ext uri="{FF2B5EF4-FFF2-40B4-BE49-F238E27FC236}">
                        <a16:creationId xmlns:a16="http://schemas.microsoft.com/office/drawing/2014/main" id="{3876EB1D-A29E-6C10-5865-92ED16B2BD2E}"/>
                      </a:ext>
                    </a:extLst>
                  </p:cNvPr>
                  <p:cNvSpPr txBox="1"/>
                  <p:nvPr/>
                </p:nvSpPr>
                <p:spPr>
                  <a:xfrm>
                    <a:off x="7820982" y="6300922"/>
                    <a:ext cx="1009579" cy="261610"/>
                  </a:xfrm>
                  <a:prstGeom prst="rect">
                    <a:avLst/>
                  </a:prstGeom>
                  <a:noFill/>
                  <a:ln>
                    <a:noFill/>
                  </a:ln>
                </p:spPr>
                <p:txBody>
                  <a:bodyPr wrap="square" rtlCol="0">
                    <a:spAutoFit/>
                  </a:bodyPr>
                  <a:lstStyle/>
                  <a:p>
                    <a:pPr algn="ctr"/>
                    <a:r>
                      <a:rPr lang="en-US" sz="1100" b="1" dirty="0"/>
                      <a:t>Extinction</a:t>
                    </a:r>
                  </a:p>
                </p:txBody>
              </p:sp>
              <p:sp>
                <p:nvSpPr>
                  <p:cNvPr id="150" name="TextBox 149">
                    <a:extLst>
                      <a:ext uri="{FF2B5EF4-FFF2-40B4-BE49-F238E27FC236}">
                        <a16:creationId xmlns:a16="http://schemas.microsoft.com/office/drawing/2014/main" id="{2105312A-2811-6FA3-9C4B-15595A7956AD}"/>
                      </a:ext>
                    </a:extLst>
                  </p:cNvPr>
                  <p:cNvSpPr txBox="1"/>
                  <p:nvPr/>
                </p:nvSpPr>
                <p:spPr>
                  <a:xfrm>
                    <a:off x="8748921" y="6451212"/>
                    <a:ext cx="1009579" cy="261610"/>
                  </a:xfrm>
                  <a:prstGeom prst="rect">
                    <a:avLst/>
                  </a:prstGeom>
                  <a:solidFill>
                    <a:schemeClr val="bg1"/>
                  </a:solidFill>
                  <a:ln>
                    <a:noFill/>
                  </a:ln>
                </p:spPr>
                <p:txBody>
                  <a:bodyPr wrap="square" rtlCol="0">
                    <a:spAutoFit/>
                  </a:bodyPr>
                  <a:lstStyle/>
                  <a:p>
                    <a:pPr algn="ctr"/>
                    <a:r>
                      <a:rPr lang="en-US" sz="1100" b="1" dirty="0"/>
                      <a:t>Emergence</a:t>
                    </a:r>
                  </a:p>
                </p:txBody>
              </p:sp>
              <p:sp>
                <p:nvSpPr>
                  <p:cNvPr id="151" name="TextBox 150">
                    <a:extLst>
                      <a:ext uri="{FF2B5EF4-FFF2-40B4-BE49-F238E27FC236}">
                        <a16:creationId xmlns:a16="http://schemas.microsoft.com/office/drawing/2014/main" id="{140B8080-6EC5-8543-A468-F358343D18C5}"/>
                      </a:ext>
                    </a:extLst>
                  </p:cNvPr>
                  <p:cNvSpPr txBox="1"/>
                  <p:nvPr/>
                </p:nvSpPr>
                <p:spPr>
                  <a:xfrm>
                    <a:off x="6938841" y="5789424"/>
                    <a:ext cx="1776053" cy="523220"/>
                  </a:xfrm>
                  <a:prstGeom prst="rect">
                    <a:avLst/>
                  </a:prstGeom>
                  <a:noFill/>
                  <a:ln>
                    <a:noFill/>
                  </a:ln>
                </p:spPr>
                <p:txBody>
                  <a:bodyPr wrap="square" rtlCol="0">
                    <a:spAutoFit/>
                  </a:bodyPr>
                  <a:lstStyle/>
                  <a:p>
                    <a:pPr algn="ctr"/>
                    <a:r>
                      <a:rPr lang="en-US" sz="1400" b="1" dirty="0"/>
                      <a:t>Incipient epidemic (R &gt; 1)</a:t>
                    </a:r>
                  </a:p>
                </p:txBody>
              </p:sp>
              <p:sp>
                <p:nvSpPr>
                  <p:cNvPr id="153" name="TextBox 152">
                    <a:extLst>
                      <a:ext uri="{FF2B5EF4-FFF2-40B4-BE49-F238E27FC236}">
                        <a16:creationId xmlns:a16="http://schemas.microsoft.com/office/drawing/2014/main" id="{A9F78D6C-3B49-29A5-CE07-4EEE3C163F0E}"/>
                      </a:ext>
                    </a:extLst>
                  </p:cNvPr>
                  <p:cNvSpPr txBox="1"/>
                  <p:nvPr/>
                </p:nvSpPr>
                <p:spPr>
                  <a:xfrm>
                    <a:off x="4924545" y="5486584"/>
                    <a:ext cx="2114496" cy="415498"/>
                  </a:xfrm>
                  <a:prstGeom prst="rect">
                    <a:avLst/>
                  </a:prstGeom>
                  <a:noFill/>
                  <a:ln>
                    <a:noFill/>
                  </a:ln>
                </p:spPr>
                <p:txBody>
                  <a:bodyPr wrap="square" rtlCol="0">
                    <a:spAutoFit/>
                  </a:bodyPr>
                  <a:lstStyle/>
                  <a:p>
                    <a:pPr algn="ctr"/>
                    <a:r>
                      <a:rPr lang="en-US" sz="1050" b="1" dirty="0"/>
                      <a:t>Adaptation in stuttering chains of transmission, R</a:t>
                    </a:r>
                    <a:r>
                      <a:rPr lang="en-US" sz="1050" b="1" baseline="-25000" dirty="0"/>
                      <a:t>0</a:t>
                    </a:r>
                    <a:r>
                      <a:rPr lang="en-US" sz="1050" b="1" dirty="0"/>
                      <a:t> increasing</a:t>
                    </a:r>
                  </a:p>
                </p:txBody>
              </p:sp>
              <p:cxnSp>
                <p:nvCxnSpPr>
                  <p:cNvPr id="154" name="Straight Connector 153">
                    <a:extLst>
                      <a:ext uri="{FF2B5EF4-FFF2-40B4-BE49-F238E27FC236}">
                        <a16:creationId xmlns:a16="http://schemas.microsoft.com/office/drawing/2014/main" id="{43596572-EDB5-F70A-FE44-8645FCB5779B}"/>
                      </a:ext>
                    </a:extLst>
                  </p:cNvPr>
                  <p:cNvCxnSpPr>
                    <a:cxnSpLocks/>
                  </p:cNvCxnSpPr>
                  <p:nvPr/>
                </p:nvCxnSpPr>
                <p:spPr>
                  <a:xfrm>
                    <a:off x="5258164" y="5972203"/>
                    <a:ext cx="1265813" cy="0"/>
                  </a:xfrm>
                  <a:prstGeom prst="line">
                    <a:avLst/>
                  </a:prstGeom>
                  <a:ln w="762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sp>
              <p:nvSpPr>
                <p:cNvPr id="160" name="TextBox 159">
                  <a:extLst>
                    <a:ext uri="{FF2B5EF4-FFF2-40B4-BE49-F238E27FC236}">
                      <a16:creationId xmlns:a16="http://schemas.microsoft.com/office/drawing/2014/main" id="{020E1E56-676C-FA37-8080-5D93CBB60251}"/>
                    </a:ext>
                  </a:extLst>
                </p:cNvPr>
                <p:cNvSpPr txBox="1"/>
                <p:nvPr/>
              </p:nvSpPr>
              <p:spPr>
                <a:xfrm>
                  <a:off x="1238086" y="1248793"/>
                  <a:ext cx="2309863" cy="584775"/>
                </a:xfrm>
                <a:prstGeom prst="rect">
                  <a:avLst/>
                </a:prstGeom>
                <a:noFill/>
                <a:ln>
                  <a:noFill/>
                </a:ln>
              </p:spPr>
              <p:txBody>
                <a:bodyPr wrap="square" rtlCol="0">
                  <a:spAutoFit/>
                </a:bodyPr>
                <a:lstStyle/>
                <a:p>
                  <a:pPr algn="ctr"/>
                  <a:r>
                    <a:rPr lang="en-US" sz="1600" b="1" dirty="0"/>
                    <a:t>Endemic circulation in </a:t>
                  </a:r>
                </a:p>
                <a:p>
                  <a:pPr algn="ctr"/>
                  <a:r>
                    <a:rPr lang="en-US" sz="1600" b="1" dirty="0"/>
                    <a:t>animal reservoir </a:t>
                  </a:r>
                </a:p>
              </p:txBody>
            </p:sp>
            <p:sp>
              <p:nvSpPr>
                <p:cNvPr id="161" name="TextBox 160">
                  <a:extLst>
                    <a:ext uri="{FF2B5EF4-FFF2-40B4-BE49-F238E27FC236}">
                      <a16:creationId xmlns:a16="http://schemas.microsoft.com/office/drawing/2014/main" id="{96955136-28CE-4DCC-B296-ED358254BFC0}"/>
                    </a:ext>
                  </a:extLst>
                </p:cNvPr>
                <p:cNvSpPr txBox="1"/>
                <p:nvPr/>
              </p:nvSpPr>
              <p:spPr>
                <a:xfrm>
                  <a:off x="3691790" y="1247004"/>
                  <a:ext cx="3389966" cy="584775"/>
                </a:xfrm>
                <a:prstGeom prst="rect">
                  <a:avLst/>
                </a:prstGeom>
                <a:noFill/>
                <a:ln>
                  <a:noFill/>
                </a:ln>
              </p:spPr>
              <p:txBody>
                <a:bodyPr wrap="square" rtlCol="0">
                  <a:spAutoFit/>
                </a:bodyPr>
                <a:lstStyle/>
                <a:p>
                  <a:pPr algn="ctr"/>
                  <a:r>
                    <a:rPr lang="en-US" sz="1600" b="1" dirty="0"/>
                    <a:t>Stuttering transmission in humans</a:t>
                  </a:r>
                </a:p>
                <a:p>
                  <a:pPr algn="ctr"/>
                  <a:r>
                    <a:rPr lang="en-US" sz="1600" b="1" dirty="0"/>
                    <a:t>R &lt; 1 </a:t>
                  </a:r>
                </a:p>
              </p:txBody>
            </p:sp>
            <p:sp>
              <p:nvSpPr>
                <p:cNvPr id="162" name="TextBox 161">
                  <a:extLst>
                    <a:ext uri="{FF2B5EF4-FFF2-40B4-BE49-F238E27FC236}">
                      <a16:creationId xmlns:a16="http://schemas.microsoft.com/office/drawing/2014/main" id="{FDE279AB-D3D0-DE5B-D5B5-F2FE74947854}"/>
                    </a:ext>
                  </a:extLst>
                </p:cNvPr>
                <p:cNvSpPr txBox="1"/>
                <p:nvPr/>
              </p:nvSpPr>
              <p:spPr>
                <a:xfrm>
                  <a:off x="7315504" y="1251030"/>
                  <a:ext cx="3576492" cy="584775"/>
                </a:xfrm>
                <a:prstGeom prst="rect">
                  <a:avLst/>
                </a:prstGeom>
                <a:noFill/>
                <a:ln>
                  <a:noFill/>
                </a:ln>
              </p:spPr>
              <p:txBody>
                <a:bodyPr wrap="square" rtlCol="0">
                  <a:spAutoFit/>
                </a:bodyPr>
                <a:lstStyle/>
                <a:p>
                  <a:pPr algn="ctr"/>
                  <a:r>
                    <a:rPr lang="en-US" sz="1600" b="1" dirty="0"/>
                    <a:t>Sustainable transmission in humans</a:t>
                  </a:r>
                </a:p>
                <a:p>
                  <a:pPr algn="ctr"/>
                  <a:r>
                    <a:rPr lang="en-US" sz="1600" b="1" dirty="0"/>
                    <a:t>R &gt; 1 </a:t>
                  </a:r>
                </a:p>
              </p:txBody>
            </p:sp>
            <p:sp>
              <p:nvSpPr>
                <p:cNvPr id="163" name="TextBox 162">
                  <a:extLst>
                    <a:ext uri="{FF2B5EF4-FFF2-40B4-BE49-F238E27FC236}">
                      <a16:creationId xmlns:a16="http://schemas.microsoft.com/office/drawing/2014/main" id="{E5368BB6-AC58-CDE0-A470-85ED24849CBE}"/>
                    </a:ext>
                  </a:extLst>
                </p:cNvPr>
                <p:cNvSpPr txBox="1"/>
                <p:nvPr/>
              </p:nvSpPr>
              <p:spPr>
                <a:xfrm>
                  <a:off x="7391275" y="4629727"/>
                  <a:ext cx="3113629" cy="415498"/>
                </a:xfrm>
                <a:prstGeom prst="rect">
                  <a:avLst/>
                </a:prstGeom>
                <a:noFill/>
                <a:ln>
                  <a:noFill/>
                </a:ln>
              </p:spPr>
              <p:txBody>
                <a:bodyPr wrap="square" rtlCol="0">
                  <a:spAutoFit/>
                </a:bodyPr>
                <a:lstStyle/>
                <a:p>
                  <a:pPr algn="ctr"/>
                  <a:r>
                    <a:rPr lang="en-US" sz="1050" b="1" dirty="0"/>
                    <a:t>Further evolution to high </a:t>
                  </a:r>
                </a:p>
                <a:p>
                  <a:pPr algn="ctr"/>
                  <a:r>
                    <a:rPr lang="en-US" sz="1050" b="1" dirty="0"/>
                    <a:t>transmissibility, R</a:t>
                  </a:r>
                  <a:r>
                    <a:rPr lang="en-US" sz="1050" b="1" baseline="-25000" dirty="0"/>
                    <a:t>0</a:t>
                  </a:r>
                  <a:r>
                    <a:rPr lang="en-US" sz="1050" b="1" dirty="0"/>
                    <a:t> increasing</a:t>
                  </a:r>
                </a:p>
              </p:txBody>
            </p:sp>
            <p:sp>
              <p:nvSpPr>
                <p:cNvPr id="186" name="TextBox 185">
                  <a:extLst>
                    <a:ext uri="{FF2B5EF4-FFF2-40B4-BE49-F238E27FC236}">
                      <a16:creationId xmlns:a16="http://schemas.microsoft.com/office/drawing/2014/main" id="{36F8EAF0-FC6F-5DF8-794E-F77776E68F45}"/>
                    </a:ext>
                  </a:extLst>
                </p:cNvPr>
                <p:cNvSpPr txBox="1"/>
                <p:nvPr/>
              </p:nvSpPr>
              <p:spPr>
                <a:xfrm>
                  <a:off x="9688635" y="4963098"/>
                  <a:ext cx="6097044" cy="307777"/>
                </a:xfrm>
                <a:prstGeom prst="rect">
                  <a:avLst/>
                </a:prstGeom>
                <a:noFill/>
                <a:ln>
                  <a:noFill/>
                </a:ln>
              </p:spPr>
              <p:txBody>
                <a:bodyPr wrap="square">
                  <a:spAutoFit/>
                </a:bodyPr>
                <a:lstStyle/>
                <a:p>
                  <a:r>
                    <a:rPr lang="en-US" sz="1400" b="1" dirty="0"/>
                    <a:t>(R &gt;&gt; 1)</a:t>
                  </a:r>
                  <a:endParaRPr lang="en-US" sz="1400" dirty="0"/>
                </a:p>
              </p:txBody>
            </p:sp>
            <p:cxnSp>
              <p:nvCxnSpPr>
                <p:cNvPr id="212" name="Straight Connector 211">
                  <a:extLst>
                    <a:ext uri="{FF2B5EF4-FFF2-40B4-BE49-F238E27FC236}">
                      <a16:creationId xmlns:a16="http://schemas.microsoft.com/office/drawing/2014/main" id="{4696FF82-5FD3-A5FF-177E-6A370DA491AA}"/>
                    </a:ext>
                  </a:extLst>
                </p:cNvPr>
                <p:cNvCxnSpPr>
                  <a:cxnSpLocks/>
                </p:cNvCxnSpPr>
                <p:nvPr/>
              </p:nvCxnSpPr>
              <p:spPr>
                <a:xfrm>
                  <a:off x="3523879" y="5903301"/>
                  <a:ext cx="6024514" cy="0"/>
                </a:xfrm>
                <a:prstGeom prst="line">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13" name="TextBox 212">
                  <a:extLst>
                    <a:ext uri="{FF2B5EF4-FFF2-40B4-BE49-F238E27FC236}">
                      <a16:creationId xmlns:a16="http://schemas.microsoft.com/office/drawing/2014/main" id="{344B319D-3D37-3814-D0AD-D4FA237E6E09}"/>
                    </a:ext>
                  </a:extLst>
                </p:cNvPr>
                <p:cNvSpPr txBox="1"/>
                <p:nvPr/>
              </p:nvSpPr>
              <p:spPr>
                <a:xfrm>
                  <a:off x="9513048" y="5758135"/>
                  <a:ext cx="1573547" cy="261610"/>
                </a:xfrm>
                <a:prstGeom prst="rect">
                  <a:avLst/>
                </a:prstGeom>
                <a:noFill/>
                <a:ln>
                  <a:noFill/>
                </a:ln>
              </p:spPr>
              <p:txBody>
                <a:bodyPr wrap="square" rtlCol="0">
                  <a:spAutoFit/>
                </a:bodyPr>
                <a:lstStyle/>
                <a:p>
                  <a:pPr algn="ctr"/>
                  <a:r>
                    <a:rPr lang="en-US" sz="1100" b="1" dirty="0"/>
                    <a:t>Continued evolution</a:t>
                  </a:r>
                </a:p>
              </p:txBody>
            </p:sp>
          </p:grpSp>
        </p:grpSp>
        <p:cxnSp>
          <p:nvCxnSpPr>
            <p:cNvPr id="224" name="Straight Arrow Connector 223">
              <a:extLst>
                <a:ext uri="{FF2B5EF4-FFF2-40B4-BE49-F238E27FC236}">
                  <a16:creationId xmlns:a16="http://schemas.microsoft.com/office/drawing/2014/main" id="{AF2C7288-54B9-3F0C-90A0-0BC0D81396A3}"/>
                </a:ext>
              </a:extLst>
            </p:cNvPr>
            <p:cNvCxnSpPr>
              <a:cxnSpLocks/>
            </p:cNvCxnSpPr>
            <p:nvPr/>
          </p:nvCxnSpPr>
          <p:spPr>
            <a:xfrm flipV="1">
              <a:off x="8377084" y="2176925"/>
              <a:ext cx="417620" cy="2286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234" name="Straight Arrow Connector 233">
            <a:extLst>
              <a:ext uri="{FF2B5EF4-FFF2-40B4-BE49-F238E27FC236}">
                <a16:creationId xmlns:a16="http://schemas.microsoft.com/office/drawing/2014/main" id="{1AFCC05D-645E-29A3-395E-2CC646CE360F}"/>
              </a:ext>
            </a:extLst>
          </p:cNvPr>
          <p:cNvCxnSpPr>
            <a:cxnSpLocks/>
          </p:cNvCxnSpPr>
          <p:nvPr/>
        </p:nvCxnSpPr>
        <p:spPr>
          <a:xfrm rot="5400000" flipV="1">
            <a:off x="9163549" y="4283017"/>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5" name="Oval 234">
            <a:extLst>
              <a:ext uri="{FF2B5EF4-FFF2-40B4-BE49-F238E27FC236}">
                <a16:creationId xmlns:a16="http://schemas.microsoft.com/office/drawing/2014/main" id="{AC0CA690-66A5-3C7A-EA8F-DE95068B7E64}"/>
              </a:ext>
            </a:extLst>
          </p:cNvPr>
          <p:cNvSpPr/>
          <p:nvPr/>
        </p:nvSpPr>
        <p:spPr>
          <a:xfrm rot="16200000">
            <a:off x="9578105" y="4608798"/>
            <a:ext cx="205539" cy="190500"/>
          </a:xfrm>
          <a:prstGeom prst="ellipse">
            <a:avLst/>
          </a:prstGeom>
          <a:solidFill>
            <a:srgbClr val="730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Tree>
    <p:extLst>
      <p:ext uri="{BB962C8B-B14F-4D97-AF65-F5344CB8AC3E}">
        <p14:creationId xmlns:p14="http://schemas.microsoft.com/office/powerpoint/2010/main" val="3593147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287AA-25F3-133F-3F7D-D3FAA47B2C9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0DEAF34-AC63-7218-7960-F8FED9412245}"/>
              </a:ext>
            </a:extLst>
          </p:cNvPr>
          <p:cNvGrpSpPr/>
          <p:nvPr/>
        </p:nvGrpSpPr>
        <p:grpSpPr>
          <a:xfrm>
            <a:off x="984897" y="1342148"/>
            <a:ext cx="9848509" cy="4943731"/>
            <a:chOff x="984897" y="1342148"/>
            <a:chExt cx="9848509" cy="4943731"/>
          </a:xfrm>
        </p:grpSpPr>
        <p:grpSp>
          <p:nvGrpSpPr>
            <p:cNvPr id="216" name="Group 215">
              <a:extLst>
                <a:ext uri="{FF2B5EF4-FFF2-40B4-BE49-F238E27FC236}">
                  <a16:creationId xmlns:a16="http://schemas.microsoft.com/office/drawing/2014/main" id="{715AC17F-ABFD-0797-ABBD-8EB90C49B816}"/>
                </a:ext>
              </a:extLst>
            </p:cNvPr>
            <p:cNvGrpSpPr/>
            <p:nvPr/>
          </p:nvGrpSpPr>
          <p:grpSpPr>
            <a:xfrm>
              <a:off x="984897" y="1342148"/>
              <a:ext cx="9848509" cy="4943731"/>
              <a:chOff x="1238086" y="1247004"/>
              <a:chExt cx="9848509" cy="4943731"/>
            </a:xfrm>
          </p:grpSpPr>
          <p:sp>
            <p:nvSpPr>
              <p:cNvPr id="159" name="Oval 158">
                <a:extLst>
                  <a:ext uri="{FF2B5EF4-FFF2-40B4-BE49-F238E27FC236}">
                    <a16:creationId xmlns:a16="http://schemas.microsoft.com/office/drawing/2014/main" id="{AC35FB95-1553-3411-12AA-CEDD56E44A19}"/>
                  </a:ext>
                </a:extLst>
              </p:cNvPr>
              <p:cNvSpPr/>
              <p:nvPr/>
            </p:nvSpPr>
            <p:spPr>
              <a:xfrm rot="16200000">
                <a:off x="2385499" y="2946892"/>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64" name="Straight Connector 163">
                <a:extLst>
                  <a:ext uri="{FF2B5EF4-FFF2-40B4-BE49-F238E27FC236}">
                    <a16:creationId xmlns:a16="http://schemas.microsoft.com/office/drawing/2014/main" id="{0351C070-38BC-8362-0091-993EFD8113EF}"/>
                  </a:ext>
                </a:extLst>
              </p:cNvPr>
              <p:cNvCxnSpPr>
                <a:cxnSpLocks/>
              </p:cNvCxnSpPr>
              <p:nvPr/>
            </p:nvCxnSpPr>
            <p:spPr>
              <a:xfrm>
                <a:off x="8282580" y="5116987"/>
                <a:ext cx="1265813" cy="0"/>
              </a:xfrm>
              <a:prstGeom prst="line">
                <a:avLst/>
              </a:prstGeom>
              <a:ln w="762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65" name="Straight Arrow Connector 164">
                <a:extLst>
                  <a:ext uri="{FF2B5EF4-FFF2-40B4-BE49-F238E27FC236}">
                    <a16:creationId xmlns:a16="http://schemas.microsoft.com/office/drawing/2014/main" id="{77D62AAB-E806-D0CC-7CBB-BD20169610ED}"/>
                  </a:ext>
                </a:extLst>
              </p:cNvPr>
              <p:cNvCxnSpPr>
                <a:cxnSpLocks/>
              </p:cNvCxnSpPr>
              <p:nvPr/>
            </p:nvCxnSpPr>
            <p:spPr>
              <a:xfrm>
                <a:off x="8594264" y="3921860"/>
                <a:ext cx="426816" cy="2381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6" name="Straight Arrow Connector 165">
                <a:extLst>
                  <a:ext uri="{FF2B5EF4-FFF2-40B4-BE49-F238E27FC236}">
                    <a16:creationId xmlns:a16="http://schemas.microsoft.com/office/drawing/2014/main" id="{9976075E-7DF3-CD98-5C63-38B2F61115FF}"/>
                  </a:ext>
                </a:extLst>
              </p:cNvPr>
              <p:cNvCxnSpPr>
                <a:cxnSpLocks/>
              </p:cNvCxnSpPr>
              <p:nvPr/>
            </p:nvCxnSpPr>
            <p:spPr>
              <a:xfrm rot="16200000">
                <a:off x="8661955" y="3377088"/>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7" name="Oval 166">
                <a:extLst>
                  <a:ext uri="{FF2B5EF4-FFF2-40B4-BE49-F238E27FC236}">
                    <a16:creationId xmlns:a16="http://schemas.microsoft.com/office/drawing/2014/main" id="{B2571F7B-1BFB-7F7C-D3A5-1A5531A5C108}"/>
                  </a:ext>
                </a:extLst>
              </p:cNvPr>
              <p:cNvSpPr/>
              <p:nvPr/>
            </p:nvSpPr>
            <p:spPr>
              <a:xfrm rot="16200000">
                <a:off x="9073295" y="4112199"/>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68" name="Oval 167">
                <a:extLst>
                  <a:ext uri="{FF2B5EF4-FFF2-40B4-BE49-F238E27FC236}">
                    <a16:creationId xmlns:a16="http://schemas.microsoft.com/office/drawing/2014/main" id="{30F8AFCA-DEE6-0BD6-9348-E33BDEF2D70A}"/>
                  </a:ext>
                </a:extLst>
              </p:cNvPr>
              <p:cNvSpPr/>
              <p:nvPr/>
            </p:nvSpPr>
            <p:spPr>
              <a:xfrm rot="16200000">
                <a:off x="9069116" y="3305878"/>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69" name="TextBox 168">
                <a:extLst>
                  <a:ext uri="{FF2B5EF4-FFF2-40B4-BE49-F238E27FC236}">
                    <a16:creationId xmlns:a16="http://schemas.microsoft.com/office/drawing/2014/main" id="{137A152B-CAFD-7032-8669-EE2D40C496D5}"/>
                  </a:ext>
                </a:extLst>
              </p:cNvPr>
              <p:cNvSpPr txBox="1"/>
              <p:nvPr/>
            </p:nvSpPr>
            <p:spPr>
              <a:xfrm>
                <a:off x="8579503" y="2782614"/>
                <a:ext cx="126204" cy="400110"/>
              </a:xfrm>
              <a:prstGeom prst="rect">
                <a:avLst/>
              </a:prstGeom>
              <a:noFill/>
              <a:ln>
                <a:noFill/>
              </a:ln>
            </p:spPr>
            <p:txBody>
              <a:bodyPr wrap="square" rtlCol="0">
                <a:spAutoFit/>
              </a:bodyPr>
              <a:lstStyle/>
              <a:p>
                <a:pPr algn="ctr"/>
                <a:r>
                  <a:rPr lang="en-US" sz="2000" dirty="0"/>
                  <a:t>†</a:t>
                </a:r>
              </a:p>
            </p:txBody>
          </p:sp>
          <p:sp>
            <p:nvSpPr>
              <p:cNvPr id="172" name="Oval 171">
                <a:extLst>
                  <a:ext uri="{FF2B5EF4-FFF2-40B4-BE49-F238E27FC236}">
                    <a16:creationId xmlns:a16="http://schemas.microsoft.com/office/drawing/2014/main" id="{629C198E-B39E-FEBD-186F-3A29B80C80D8}"/>
                  </a:ext>
                </a:extLst>
              </p:cNvPr>
              <p:cNvSpPr/>
              <p:nvPr/>
            </p:nvSpPr>
            <p:spPr>
              <a:xfrm rot="16200000">
                <a:off x="9101476" y="1924136"/>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75" name="Straight Arrow Connector 174">
                <a:extLst>
                  <a:ext uri="{FF2B5EF4-FFF2-40B4-BE49-F238E27FC236}">
                    <a16:creationId xmlns:a16="http://schemas.microsoft.com/office/drawing/2014/main" id="{6FB06F86-F371-FB63-EBAB-FD330F59D79B}"/>
                  </a:ext>
                </a:extLst>
              </p:cNvPr>
              <p:cNvCxnSpPr>
                <a:cxnSpLocks/>
              </p:cNvCxnSpPr>
              <p:nvPr/>
            </p:nvCxnSpPr>
            <p:spPr>
              <a:xfrm>
                <a:off x="8627208" y="3831850"/>
                <a:ext cx="540885" cy="24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6" name="Oval 175">
                <a:extLst>
                  <a:ext uri="{FF2B5EF4-FFF2-40B4-BE49-F238E27FC236}">
                    <a16:creationId xmlns:a16="http://schemas.microsoft.com/office/drawing/2014/main" id="{E36365B6-584E-483E-060E-02E37F0C9BE4}"/>
                  </a:ext>
                </a:extLst>
              </p:cNvPr>
              <p:cNvSpPr/>
              <p:nvPr/>
            </p:nvSpPr>
            <p:spPr>
              <a:xfrm rot="16200000">
                <a:off x="9233188" y="3751229"/>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77" name="Straight Arrow Connector 176">
                <a:extLst>
                  <a:ext uri="{FF2B5EF4-FFF2-40B4-BE49-F238E27FC236}">
                    <a16:creationId xmlns:a16="http://schemas.microsoft.com/office/drawing/2014/main" id="{7E962474-83C0-F466-C986-964DAC920D98}"/>
                  </a:ext>
                </a:extLst>
              </p:cNvPr>
              <p:cNvCxnSpPr>
                <a:cxnSpLocks/>
              </p:cNvCxnSpPr>
              <p:nvPr/>
            </p:nvCxnSpPr>
            <p:spPr>
              <a:xfrm>
                <a:off x="8622256" y="2425722"/>
                <a:ext cx="433654" cy="15356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9" name="Oval 178">
                <a:extLst>
                  <a:ext uri="{FF2B5EF4-FFF2-40B4-BE49-F238E27FC236}">
                    <a16:creationId xmlns:a16="http://schemas.microsoft.com/office/drawing/2014/main" id="{3C4A11FE-4D76-6BFF-43B0-BC0CDF57C348}"/>
                  </a:ext>
                </a:extLst>
              </p:cNvPr>
              <p:cNvSpPr/>
              <p:nvPr/>
            </p:nvSpPr>
            <p:spPr>
              <a:xfrm rot="16200000">
                <a:off x="9096231" y="2488863"/>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87" name="Straight Arrow Connector 186">
                <a:extLst>
                  <a:ext uri="{FF2B5EF4-FFF2-40B4-BE49-F238E27FC236}">
                    <a16:creationId xmlns:a16="http://schemas.microsoft.com/office/drawing/2014/main" id="{E44FD4F7-0BE0-ECCA-AE1C-E41876FE07BA}"/>
                  </a:ext>
                </a:extLst>
              </p:cNvPr>
              <p:cNvCxnSpPr>
                <a:cxnSpLocks/>
              </p:cNvCxnSpPr>
              <p:nvPr/>
            </p:nvCxnSpPr>
            <p:spPr>
              <a:xfrm>
                <a:off x="9561567" y="3831310"/>
                <a:ext cx="540885" cy="24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8" name="Oval 187">
                <a:extLst>
                  <a:ext uri="{FF2B5EF4-FFF2-40B4-BE49-F238E27FC236}">
                    <a16:creationId xmlns:a16="http://schemas.microsoft.com/office/drawing/2014/main" id="{64A80EF0-82B9-7F70-71F0-9DC6BEACFB8B}"/>
                  </a:ext>
                </a:extLst>
              </p:cNvPr>
              <p:cNvSpPr/>
              <p:nvPr/>
            </p:nvSpPr>
            <p:spPr>
              <a:xfrm rot="16200000">
                <a:off x="10167547" y="3750689"/>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89" name="Straight Arrow Connector 188">
                <a:extLst>
                  <a:ext uri="{FF2B5EF4-FFF2-40B4-BE49-F238E27FC236}">
                    <a16:creationId xmlns:a16="http://schemas.microsoft.com/office/drawing/2014/main" id="{F4432FC9-D17F-AE8A-8A08-200D4366996A}"/>
                  </a:ext>
                </a:extLst>
              </p:cNvPr>
              <p:cNvCxnSpPr>
                <a:cxnSpLocks/>
              </p:cNvCxnSpPr>
              <p:nvPr/>
            </p:nvCxnSpPr>
            <p:spPr>
              <a:xfrm>
                <a:off x="9548886" y="3948525"/>
                <a:ext cx="426816" cy="2381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0" name="Oval 189">
                <a:extLst>
                  <a:ext uri="{FF2B5EF4-FFF2-40B4-BE49-F238E27FC236}">
                    <a16:creationId xmlns:a16="http://schemas.microsoft.com/office/drawing/2014/main" id="{4673555A-FAB7-B13B-76D9-A15DDDCBF673}"/>
                  </a:ext>
                </a:extLst>
              </p:cNvPr>
              <p:cNvSpPr/>
              <p:nvPr/>
            </p:nvSpPr>
            <p:spPr>
              <a:xfrm rot="16200000">
                <a:off x="10027917" y="4138864"/>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91" name="Straight Arrow Connector 190">
                <a:extLst>
                  <a:ext uri="{FF2B5EF4-FFF2-40B4-BE49-F238E27FC236}">
                    <a16:creationId xmlns:a16="http://schemas.microsoft.com/office/drawing/2014/main" id="{01AA7AD9-6F41-F9ED-BCC5-37B8CD07582F}"/>
                  </a:ext>
                </a:extLst>
              </p:cNvPr>
              <p:cNvCxnSpPr>
                <a:cxnSpLocks/>
              </p:cNvCxnSpPr>
              <p:nvPr/>
            </p:nvCxnSpPr>
            <p:spPr>
              <a:xfrm rot="16200000">
                <a:off x="9624373" y="3359886"/>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2" name="Oval 191">
                <a:extLst>
                  <a:ext uri="{FF2B5EF4-FFF2-40B4-BE49-F238E27FC236}">
                    <a16:creationId xmlns:a16="http://schemas.microsoft.com/office/drawing/2014/main" id="{1820779C-883F-1E90-5730-8A75FEF6D32A}"/>
                  </a:ext>
                </a:extLst>
              </p:cNvPr>
              <p:cNvSpPr/>
              <p:nvPr/>
            </p:nvSpPr>
            <p:spPr>
              <a:xfrm rot="16200000">
                <a:off x="10031534" y="3288676"/>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200" name="Straight Arrow Connector 199">
                <a:extLst>
                  <a:ext uri="{FF2B5EF4-FFF2-40B4-BE49-F238E27FC236}">
                    <a16:creationId xmlns:a16="http://schemas.microsoft.com/office/drawing/2014/main" id="{28C6453B-673A-DA97-ADE5-BD4166D5FE8E}"/>
                  </a:ext>
                </a:extLst>
              </p:cNvPr>
              <p:cNvCxnSpPr>
                <a:cxnSpLocks/>
              </p:cNvCxnSpPr>
              <p:nvPr/>
            </p:nvCxnSpPr>
            <p:spPr>
              <a:xfrm rot="16200000">
                <a:off x="9424133" y="2924703"/>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1" name="Oval 200">
                <a:extLst>
                  <a:ext uri="{FF2B5EF4-FFF2-40B4-BE49-F238E27FC236}">
                    <a16:creationId xmlns:a16="http://schemas.microsoft.com/office/drawing/2014/main" id="{7094595A-14E7-E2D1-5832-75748BD5D6AD}"/>
                  </a:ext>
                </a:extLst>
              </p:cNvPr>
              <p:cNvSpPr/>
              <p:nvPr/>
            </p:nvSpPr>
            <p:spPr>
              <a:xfrm rot="16200000">
                <a:off x="9831294" y="2853493"/>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06" name="TextBox 205">
                <a:extLst>
                  <a:ext uri="{FF2B5EF4-FFF2-40B4-BE49-F238E27FC236}">
                    <a16:creationId xmlns:a16="http://schemas.microsoft.com/office/drawing/2014/main" id="{E780CE48-6FB0-5C9F-45AA-F12B6DF7C7EB}"/>
                  </a:ext>
                </a:extLst>
              </p:cNvPr>
              <p:cNvSpPr txBox="1"/>
              <p:nvPr/>
            </p:nvSpPr>
            <p:spPr>
              <a:xfrm>
                <a:off x="9354743" y="2361251"/>
                <a:ext cx="126204" cy="400110"/>
              </a:xfrm>
              <a:prstGeom prst="rect">
                <a:avLst/>
              </a:prstGeom>
              <a:noFill/>
              <a:ln>
                <a:noFill/>
              </a:ln>
            </p:spPr>
            <p:txBody>
              <a:bodyPr wrap="square" rtlCol="0">
                <a:spAutoFit/>
              </a:bodyPr>
              <a:lstStyle/>
              <a:p>
                <a:pPr algn="ctr"/>
                <a:r>
                  <a:rPr lang="en-US" sz="2000" dirty="0"/>
                  <a:t>†</a:t>
                </a:r>
              </a:p>
            </p:txBody>
          </p:sp>
          <p:cxnSp>
            <p:nvCxnSpPr>
              <p:cNvPr id="207" name="Straight Arrow Connector 206">
                <a:extLst>
                  <a:ext uri="{FF2B5EF4-FFF2-40B4-BE49-F238E27FC236}">
                    <a16:creationId xmlns:a16="http://schemas.microsoft.com/office/drawing/2014/main" id="{DA3B5BB5-3601-E564-80B6-E19B591AF3AA}"/>
                  </a:ext>
                </a:extLst>
              </p:cNvPr>
              <p:cNvCxnSpPr>
                <a:cxnSpLocks/>
              </p:cNvCxnSpPr>
              <p:nvPr/>
            </p:nvCxnSpPr>
            <p:spPr>
              <a:xfrm flipV="1">
                <a:off x="9392838" y="1765082"/>
                <a:ext cx="390420" cy="17954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8" name="Straight Arrow Connector 207">
                <a:extLst>
                  <a:ext uri="{FF2B5EF4-FFF2-40B4-BE49-F238E27FC236}">
                    <a16:creationId xmlns:a16="http://schemas.microsoft.com/office/drawing/2014/main" id="{972F3A39-C1F6-F77B-46A9-A5B5CB887BE9}"/>
                  </a:ext>
                </a:extLst>
              </p:cNvPr>
              <p:cNvCxnSpPr>
                <a:cxnSpLocks/>
              </p:cNvCxnSpPr>
              <p:nvPr/>
            </p:nvCxnSpPr>
            <p:spPr>
              <a:xfrm>
                <a:off x="9392838" y="2059364"/>
                <a:ext cx="383025" cy="1454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9" name="Oval 208">
                <a:extLst>
                  <a:ext uri="{FF2B5EF4-FFF2-40B4-BE49-F238E27FC236}">
                    <a16:creationId xmlns:a16="http://schemas.microsoft.com/office/drawing/2014/main" id="{216571C0-2DD7-DB77-F736-A75037E557DB}"/>
                  </a:ext>
                </a:extLst>
              </p:cNvPr>
              <p:cNvSpPr/>
              <p:nvPr/>
            </p:nvSpPr>
            <p:spPr>
              <a:xfrm rot="16200000">
                <a:off x="9831295" y="1609587"/>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11" name="Oval 210">
                <a:extLst>
                  <a:ext uri="{FF2B5EF4-FFF2-40B4-BE49-F238E27FC236}">
                    <a16:creationId xmlns:a16="http://schemas.microsoft.com/office/drawing/2014/main" id="{36A85248-14B9-7484-4D2B-E0ABCB14E4C8}"/>
                  </a:ext>
                </a:extLst>
              </p:cNvPr>
              <p:cNvSpPr/>
              <p:nvPr/>
            </p:nvSpPr>
            <p:spPr>
              <a:xfrm rot="16200000">
                <a:off x="9831295" y="2155636"/>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grpSp>
            <p:nvGrpSpPr>
              <p:cNvPr id="215" name="Group 214">
                <a:extLst>
                  <a:ext uri="{FF2B5EF4-FFF2-40B4-BE49-F238E27FC236}">
                    <a16:creationId xmlns:a16="http://schemas.microsoft.com/office/drawing/2014/main" id="{68874CBF-E268-9DD0-2956-6D35D9D7A170}"/>
                  </a:ext>
                </a:extLst>
              </p:cNvPr>
              <p:cNvGrpSpPr/>
              <p:nvPr/>
            </p:nvGrpSpPr>
            <p:grpSpPr>
              <a:xfrm>
                <a:off x="1238086" y="1247004"/>
                <a:ext cx="9848509" cy="4943731"/>
                <a:chOff x="1238086" y="1247004"/>
                <a:chExt cx="9848509" cy="4943731"/>
              </a:xfrm>
            </p:grpSpPr>
            <p:grpSp>
              <p:nvGrpSpPr>
                <p:cNvPr id="106" name="Group 105">
                  <a:extLst>
                    <a:ext uri="{FF2B5EF4-FFF2-40B4-BE49-F238E27FC236}">
                      <a16:creationId xmlns:a16="http://schemas.microsoft.com/office/drawing/2014/main" id="{0585F9CA-6971-B107-2603-BF599706D066}"/>
                    </a:ext>
                  </a:extLst>
                </p:cNvPr>
                <p:cNvGrpSpPr/>
                <p:nvPr/>
              </p:nvGrpSpPr>
              <p:grpSpPr>
                <a:xfrm>
                  <a:off x="1842394" y="1885167"/>
                  <a:ext cx="7311566" cy="4305568"/>
                  <a:chOff x="2446934" y="2740383"/>
                  <a:chExt cx="7311566" cy="4305568"/>
                </a:xfrm>
              </p:grpSpPr>
              <p:cxnSp>
                <p:nvCxnSpPr>
                  <p:cNvPr id="107" name="Straight Connector 106">
                    <a:extLst>
                      <a:ext uri="{FF2B5EF4-FFF2-40B4-BE49-F238E27FC236}">
                        <a16:creationId xmlns:a16="http://schemas.microsoft.com/office/drawing/2014/main" id="{2CE19BC3-EEBE-7315-74B3-090546C1C24B}"/>
                      </a:ext>
                    </a:extLst>
                  </p:cNvPr>
                  <p:cNvCxnSpPr>
                    <a:cxnSpLocks/>
                  </p:cNvCxnSpPr>
                  <p:nvPr/>
                </p:nvCxnSpPr>
                <p:spPr>
                  <a:xfrm>
                    <a:off x="4184703" y="2740383"/>
                    <a:ext cx="0" cy="3046911"/>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08" name="Straight Arrow Connector 107">
                    <a:extLst>
                      <a:ext uri="{FF2B5EF4-FFF2-40B4-BE49-F238E27FC236}">
                        <a16:creationId xmlns:a16="http://schemas.microsoft.com/office/drawing/2014/main" id="{0E245324-8054-1B3A-8F60-E3F2B91E4898}"/>
                      </a:ext>
                    </a:extLst>
                  </p:cNvPr>
                  <p:cNvCxnSpPr>
                    <a:cxnSpLocks/>
                  </p:cNvCxnSpPr>
                  <p:nvPr/>
                </p:nvCxnSpPr>
                <p:spPr>
                  <a:xfrm flipV="1">
                    <a:off x="3848326" y="3735980"/>
                    <a:ext cx="670250" cy="40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9" name="Oval 108">
                    <a:extLst>
                      <a:ext uri="{FF2B5EF4-FFF2-40B4-BE49-F238E27FC236}">
                        <a16:creationId xmlns:a16="http://schemas.microsoft.com/office/drawing/2014/main" id="{91D63570-9C78-8BFA-AD24-D5E3A1FCA232}"/>
                      </a:ext>
                    </a:extLst>
                  </p:cNvPr>
                  <p:cNvSpPr/>
                  <p:nvPr/>
                </p:nvSpPr>
                <p:spPr>
                  <a:xfrm rot="16200000">
                    <a:off x="3358925" y="3418532"/>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10" name="Oval 109">
                    <a:extLst>
                      <a:ext uri="{FF2B5EF4-FFF2-40B4-BE49-F238E27FC236}">
                        <a16:creationId xmlns:a16="http://schemas.microsoft.com/office/drawing/2014/main" id="{81453BCA-CE5D-B745-5C1C-CEDED53DA6FD}"/>
                      </a:ext>
                    </a:extLst>
                  </p:cNvPr>
                  <p:cNvSpPr/>
                  <p:nvPr/>
                </p:nvSpPr>
                <p:spPr>
                  <a:xfrm rot="16200000">
                    <a:off x="4629399" y="3623731"/>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11" name="Straight Arrow Connector 110">
                    <a:extLst>
                      <a:ext uri="{FF2B5EF4-FFF2-40B4-BE49-F238E27FC236}">
                        <a16:creationId xmlns:a16="http://schemas.microsoft.com/office/drawing/2014/main" id="{8F41AFB3-A1E5-5985-6332-3CB63888773E}"/>
                      </a:ext>
                    </a:extLst>
                  </p:cNvPr>
                  <p:cNvCxnSpPr>
                    <a:cxnSpLocks/>
                  </p:cNvCxnSpPr>
                  <p:nvPr/>
                </p:nvCxnSpPr>
                <p:spPr>
                  <a:xfrm rot="16200000">
                    <a:off x="5191665" y="3457246"/>
                    <a:ext cx="4621" cy="4964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2" name="Oval 111">
                    <a:extLst>
                      <a:ext uri="{FF2B5EF4-FFF2-40B4-BE49-F238E27FC236}">
                        <a16:creationId xmlns:a16="http://schemas.microsoft.com/office/drawing/2014/main" id="{F96084AF-C0A5-37C6-C9A7-CC1E3D5BCD17}"/>
                      </a:ext>
                    </a:extLst>
                  </p:cNvPr>
                  <p:cNvSpPr/>
                  <p:nvPr/>
                </p:nvSpPr>
                <p:spPr>
                  <a:xfrm rot="16200000">
                    <a:off x="5560333" y="3609355"/>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13" name="Straight Arrow Connector 112">
                    <a:extLst>
                      <a:ext uri="{FF2B5EF4-FFF2-40B4-BE49-F238E27FC236}">
                        <a16:creationId xmlns:a16="http://schemas.microsoft.com/office/drawing/2014/main" id="{46751385-AC3C-9F0D-1C66-F692D019DB5D}"/>
                      </a:ext>
                    </a:extLst>
                  </p:cNvPr>
                  <p:cNvCxnSpPr>
                    <a:cxnSpLocks/>
                  </p:cNvCxnSpPr>
                  <p:nvPr/>
                </p:nvCxnSpPr>
                <p:spPr>
                  <a:xfrm rot="16200000" flipH="1">
                    <a:off x="5974460" y="3757373"/>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4" name="Straight Arrow Connector 113">
                    <a:extLst>
                      <a:ext uri="{FF2B5EF4-FFF2-40B4-BE49-F238E27FC236}">
                        <a16:creationId xmlns:a16="http://schemas.microsoft.com/office/drawing/2014/main" id="{57031911-41BA-BD5C-462B-1C31BA1F231C}"/>
                      </a:ext>
                    </a:extLst>
                  </p:cNvPr>
                  <p:cNvCxnSpPr>
                    <a:cxnSpLocks/>
                  </p:cNvCxnSpPr>
                  <p:nvPr/>
                </p:nvCxnSpPr>
                <p:spPr>
                  <a:xfrm rot="16200000">
                    <a:off x="5974459" y="3211034"/>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5" name="Oval 114">
                    <a:extLst>
                      <a:ext uri="{FF2B5EF4-FFF2-40B4-BE49-F238E27FC236}">
                        <a16:creationId xmlns:a16="http://schemas.microsoft.com/office/drawing/2014/main" id="{24EB0441-694A-870D-E7E8-98DE59A1AD09}"/>
                      </a:ext>
                    </a:extLst>
                  </p:cNvPr>
                  <p:cNvSpPr/>
                  <p:nvPr/>
                </p:nvSpPr>
                <p:spPr>
                  <a:xfrm rot="16200000">
                    <a:off x="6401409" y="4119749"/>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16" name="Oval 115">
                    <a:extLst>
                      <a:ext uri="{FF2B5EF4-FFF2-40B4-BE49-F238E27FC236}">
                        <a16:creationId xmlns:a16="http://schemas.microsoft.com/office/drawing/2014/main" id="{E8BAD06B-0D7D-2881-348F-07DB1AC8A569}"/>
                      </a:ext>
                    </a:extLst>
                  </p:cNvPr>
                  <p:cNvSpPr/>
                  <p:nvPr/>
                </p:nvSpPr>
                <p:spPr>
                  <a:xfrm rot="16200000">
                    <a:off x="6401408" y="3127712"/>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17" name="Straight Arrow Connector 116">
                    <a:extLst>
                      <a:ext uri="{FF2B5EF4-FFF2-40B4-BE49-F238E27FC236}">
                        <a16:creationId xmlns:a16="http://schemas.microsoft.com/office/drawing/2014/main" id="{B0199B51-4B91-5045-9B08-8D19DAA90E81}"/>
                      </a:ext>
                    </a:extLst>
                  </p:cNvPr>
                  <p:cNvCxnSpPr>
                    <a:cxnSpLocks/>
                  </p:cNvCxnSpPr>
                  <p:nvPr/>
                </p:nvCxnSpPr>
                <p:spPr>
                  <a:xfrm rot="16200000">
                    <a:off x="6949297" y="3967641"/>
                    <a:ext cx="4621" cy="4964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8" name="Oval 117">
                    <a:extLst>
                      <a:ext uri="{FF2B5EF4-FFF2-40B4-BE49-F238E27FC236}">
                        <a16:creationId xmlns:a16="http://schemas.microsoft.com/office/drawing/2014/main" id="{B4A64D96-BC6D-0354-0015-4BE2E9C9733E}"/>
                      </a:ext>
                    </a:extLst>
                  </p:cNvPr>
                  <p:cNvSpPr/>
                  <p:nvPr/>
                </p:nvSpPr>
                <p:spPr>
                  <a:xfrm rot="16200000">
                    <a:off x="7317965" y="4119750"/>
                    <a:ext cx="205539" cy="1905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cxnSp>
                <p:nvCxnSpPr>
                  <p:cNvPr id="119" name="Straight Arrow Connector 118">
                    <a:extLst>
                      <a:ext uri="{FF2B5EF4-FFF2-40B4-BE49-F238E27FC236}">
                        <a16:creationId xmlns:a16="http://schemas.microsoft.com/office/drawing/2014/main" id="{95062F31-BB3C-5980-0C61-ACCEC0C42488}"/>
                      </a:ext>
                    </a:extLst>
                  </p:cNvPr>
                  <p:cNvCxnSpPr>
                    <a:cxnSpLocks/>
                  </p:cNvCxnSpPr>
                  <p:nvPr/>
                </p:nvCxnSpPr>
                <p:spPr>
                  <a:xfrm rot="16200000" flipH="1">
                    <a:off x="7724903" y="4318090"/>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0" name="Straight Arrow Connector 119">
                    <a:extLst>
                      <a:ext uri="{FF2B5EF4-FFF2-40B4-BE49-F238E27FC236}">
                        <a16:creationId xmlns:a16="http://schemas.microsoft.com/office/drawing/2014/main" id="{F144B221-B26C-81C9-5FBA-E8301A98063A}"/>
                      </a:ext>
                    </a:extLst>
                  </p:cNvPr>
                  <p:cNvCxnSpPr>
                    <a:cxnSpLocks/>
                  </p:cNvCxnSpPr>
                  <p:nvPr/>
                </p:nvCxnSpPr>
                <p:spPr>
                  <a:xfrm rot="16200000">
                    <a:off x="7724902" y="3642355"/>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1" name="Straight Arrow Connector 120">
                    <a:extLst>
                      <a:ext uri="{FF2B5EF4-FFF2-40B4-BE49-F238E27FC236}">
                        <a16:creationId xmlns:a16="http://schemas.microsoft.com/office/drawing/2014/main" id="{4A414FE3-070C-686A-9501-62F896F158E1}"/>
                      </a:ext>
                    </a:extLst>
                  </p:cNvPr>
                  <p:cNvCxnSpPr>
                    <a:cxnSpLocks/>
                  </p:cNvCxnSpPr>
                  <p:nvPr/>
                </p:nvCxnSpPr>
                <p:spPr>
                  <a:xfrm rot="16200000">
                    <a:off x="6942108" y="2946849"/>
                    <a:ext cx="4621" cy="4964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2" name="Oval 121">
                    <a:extLst>
                      <a:ext uri="{FF2B5EF4-FFF2-40B4-BE49-F238E27FC236}">
                        <a16:creationId xmlns:a16="http://schemas.microsoft.com/office/drawing/2014/main" id="{9E4E8CDA-3D32-CF11-3DCE-37BB21A710A1}"/>
                      </a:ext>
                    </a:extLst>
                  </p:cNvPr>
                  <p:cNvSpPr/>
                  <p:nvPr/>
                </p:nvSpPr>
                <p:spPr>
                  <a:xfrm rot="16200000">
                    <a:off x="7310776" y="3098958"/>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23" name="Oval 122">
                    <a:extLst>
                      <a:ext uri="{FF2B5EF4-FFF2-40B4-BE49-F238E27FC236}">
                        <a16:creationId xmlns:a16="http://schemas.microsoft.com/office/drawing/2014/main" id="{0E4DE42D-477C-090B-5995-E851FE7D5F94}"/>
                      </a:ext>
                    </a:extLst>
                  </p:cNvPr>
                  <p:cNvSpPr/>
                  <p:nvPr/>
                </p:nvSpPr>
                <p:spPr>
                  <a:xfrm rot="16200000">
                    <a:off x="8146925" y="4606445"/>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25" name="Straight Arrow Connector 124">
                    <a:extLst>
                      <a:ext uri="{FF2B5EF4-FFF2-40B4-BE49-F238E27FC236}">
                        <a16:creationId xmlns:a16="http://schemas.microsoft.com/office/drawing/2014/main" id="{46452F7D-B640-134B-EF36-699738477ACB}"/>
                      </a:ext>
                    </a:extLst>
                  </p:cNvPr>
                  <p:cNvCxnSpPr>
                    <a:cxnSpLocks/>
                  </p:cNvCxnSpPr>
                  <p:nvPr/>
                </p:nvCxnSpPr>
                <p:spPr>
                  <a:xfrm flipV="1">
                    <a:off x="8430212" y="4712935"/>
                    <a:ext cx="477136" cy="252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7" name="Oval 126">
                    <a:extLst>
                      <a:ext uri="{FF2B5EF4-FFF2-40B4-BE49-F238E27FC236}">
                        <a16:creationId xmlns:a16="http://schemas.microsoft.com/office/drawing/2014/main" id="{D5FBF970-4642-D0B6-68E4-B8276C995DE5}"/>
                      </a:ext>
                    </a:extLst>
                  </p:cNvPr>
                  <p:cNvSpPr/>
                  <p:nvPr/>
                </p:nvSpPr>
                <p:spPr>
                  <a:xfrm rot="16200000">
                    <a:off x="8955175" y="4605906"/>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28" name="Oval 127">
                    <a:extLst>
                      <a:ext uri="{FF2B5EF4-FFF2-40B4-BE49-F238E27FC236}">
                        <a16:creationId xmlns:a16="http://schemas.microsoft.com/office/drawing/2014/main" id="{73121043-0AE8-B7DE-C3C0-5F8332AF36ED}"/>
                      </a:ext>
                    </a:extLst>
                  </p:cNvPr>
                  <p:cNvSpPr/>
                  <p:nvPr/>
                </p:nvSpPr>
                <p:spPr>
                  <a:xfrm rot="16200000">
                    <a:off x="8139271" y="3506584"/>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cxnSp>
                <p:nvCxnSpPr>
                  <p:cNvPr id="129" name="Straight Arrow Connector 128">
                    <a:extLst>
                      <a:ext uri="{FF2B5EF4-FFF2-40B4-BE49-F238E27FC236}">
                        <a16:creationId xmlns:a16="http://schemas.microsoft.com/office/drawing/2014/main" id="{812452A9-6E9A-5E50-AA4E-6B7370E612FF}"/>
                      </a:ext>
                    </a:extLst>
                  </p:cNvPr>
                  <p:cNvCxnSpPr>
                    <a:cxnSpLocks/>
                  </p:cNvCxnSpPr>
                  <p:nvPr/>
                </p:nvCxnSpPr>
                <p:spPr>
                  <a:xfrm>
                    <a:off x="8442914" y="3666883"/>
                    <a:ext cx="444206" cy="1562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0" name="Straight Arrow Connector 129">
                    <a:extLst>
                      <a:ext uri="{FF2B5EF4-FFF2-40B4-BE49-F238E27FC236}">
                        <a16:creationId xmlns:a16="http://schemas.microsoft.com/office/drawing/2014/main" id="{2E43C0FE-4DF3-C164-3E2D-53553BE612A7}"/>
                      </a:ext>
                    </a:extLst>
                  </p:cNvPr>
                  <p:cNvCxnSpPr>
                    <a:cxnSpLocks/>
                  </p:cNvCxnSpPr>
                  <p:nvPr/>
                </p:nvCxnSpPr>
                <p:spPr>
                  <a:xfrm flipV="1">
                    <a:off x="8443598" y="3293164"/>
                    <a:ext cx="417620" cy="2286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1" name="Oval 130">
                    <a:extLst>
                      <a:ext uri="{FF2B5EF4-FFF2-40B4-BE49-F238E27FC236}">
                        <a16:creationId xmlns:a16="http://schemas.microsoft.com/office/drawing/2014/main" id="{690CC561-D6C2-7961-D391-8514773B425B}"/>
                      </a:ext>
                    </a:extLst>
                  </p:cNvPr>
                  <p:cNvSpPr/>
                  <p:nvPr/>
                </p:nvSpPr>
                <p:spPr>
                  <a:xfrm rot="16200000">
                    <a:off x="8937035" y="3750140"/>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2" name="Oval 131">
                    <a:extLst>
                      <a:ext uri="{FF2B5EF4-FFF2-40B4-BE49-F238E27FC236}">
                        <a16:creationId xmlns:a16="http://schemas.microsoft.com/office/drawing/2014/main" id="{E44C94D3-CCE5-D6F5-48DF-A33568695178}"/>
                      </a:ext>
                    </a:extLst>
                  </p:cNvPr>
                  <p:cNvSpPr/>
                  <p:nvPr/>
                </p:nvSpPr>
                <p:spPr>
                  <a:xfrm rot="16200000">
                    <a:off x="8925548" y="3175931"/>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3" name="TextBox 132">
                    <a:extLst>
                      <a:ext uri="{FF2B5EF4-FFF2-40B4-BE49-F238E27FC236}">
                        <a16:creationId xmlns:a16="http://schemas.microsoft.com/office/drawing/2014/main" id="{601E2871-B7E9-A858-3712-1A5805D8997E}"/>
                      </a:ext>
                    </a:extLst>
                  </p:cNvPr>
                  <p:cNvSpPr txBox="1"/>
                  <p:nvPr/>
                </p:nvSpPr>
                <p:spPr>
                  <a:xfrm>
                    <a:off x="7589645" y="2999232"/>
                    <a:ext cx="126204" cy="400110"/>
                  </a:xfrm>
                  <a:prstGeom prst="rect">
                    <a:avLst/>
                  </a:prstGeom>
                  <a:noFill/>
                  <a:ln>
                    <a:noFill/>
                  </a:ln>
                </p:spPr>
                <p:txBody>
                  <a:bodyPr wrap="square" rtlCol="0">
                    <a:spAutoFit/>
                  </a:bodyPr>
                  <a:lstStyle/>
                  <a:p>
                    <a:pPr algn="ctr"/>
                    <a:r>
                      <a:rPr lang="en-US" sz="2000" dirty="0"/>
                      <a:t>†</a:t>
                    </a:r>
                  </a:p>
                </p:txBody>
              </p:sp>
              <p:cxnSp>
                <p:nvCxnSpPr>
                  <p:cNvPr id="134" name="Straight Connector 133">
                    <a:extLst>
                      <a:ext uri="{FF2B5EF4-FFF2-40B4-BE49-F238E27FC236}">
                        <a16:creationId xmlns:a16="http://schemas.microsoft.com/office/drawing/2014/main" id="{9909927C-AD71-0035-80AB-9FEEC4182175}"/>
                      </a:ext>
                    </a:extLst>
                  </p:cNvPr>
                  <p:cNvCxnSpPr>
                    <a:cxnSpLocks/>
                  </p:cNvCxnSpPr>
                  <p:nvPr/>
                </p:nvCxnSpPr>
                <p:spPr>
                  <a:xfrm>
                    <a:off x="7826868" y="2740383"/>
                    <a:ext cx="0" cy="3044952"/>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135" name="TextBox 134">
                    <a:extLst>
                      <a:ext uri="{FF2B5EF4-FFF2-40B4-BE49-F238E27FC236}">
                        <a16:creationId xmlns:a16="http://schemas.microsoft.com/office/drawing/2014/main" id="{DA963DF6-18B2-BD99-A9D2-7771DBC54008}"/>
                      </a:ext>
                    </a:extLst>
                  </p:cNvPr>
                  <p:cNvSpPr txBox="1"/>
                  <p:nvPr/>
                </p:nvSpPr>
                <p:spPr>
                  <a:xfrm>
                    <a:off x="3395544" y="5792685"/>
                    <a:ext cx="1574982" cy="523220"/>
                  </a:xfrm>
                  <a:prstGeom prst="rect">
                    <a:avLst/>
                  </a:prstGeom>
                  <a:noFill/>
                  <a:ln>
                    <a:noFill/>
                  </a:ln>
                </p:spPr>
                <p:txBody>
                  <a:bodyPr wrap="square" rtlCol="0">
                    <a:spAutoFit/>
                  </a:bodyPr>
                  <a:lstStyle/>
                  <a:p>
                    <a:pPr algn="ctr"/>
                    <a:r>
                      <a:rPr lang="en-US" sz="1400" b="1" dirty="0"/>
                      <a:t>Introduction </a:t>
                    </a:r>
                  </a:p>
                  <a:p>
                    <a:pPr algn="ctr"/>
                    <a:r>
                      <a:rPr lang="en-US" sz="1400" b="1" dirty="0"/>
                      <a:t>(from reservoir)</a:t>
                    </a:r>
                  </a:p>
                </p:txBody>
              </p:sp>
              <p:sp>
                <p:nvSpPr>
                  <p:cNvPr id="137" name="Oval 136">
                    <a:extLst>
                      <a:ext uri="{FF2B5EF4-FFF2-40B4-BE49-F238E27FC236}">
                        <a16:creationId xmlns:a16="http://schemas.microsoft.com/office/drawing/2014/main" id="{2E1867FB-45D0-20BD-FF72-A86098B7248F}"/>
                      </a:ext>
                    </a:extLst>
                  </p:cNvPr>
                  <p:cNvSpPr/>
                  <p:nvPr/>
                </p:nvSpPr>
                <p:spPr>
                  <a:xfrm rot="16200000">
                    <a:off x="2439414" y="3738069"/>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8" name="Oval 137">
                    <a:extLst>
                      <a:ext uri="{FF2B5EF4-FFF2-40B4-BE49-F238E27FC236}">
                        <a16:creationId xmlns:a16="http://schemas.microsoft.com/office/drawing/2014/main" id="{DB3E5187-DB9F-0599-32AB-D73D9D890BFE}"/>
                      </a:ext>
                    </a:extLst>
                  </p:cNvPr>
                  <p:cNvSpPr/>
                  <p:nvPr/>
                </p:nvSpPr>
                <p:spPr>
                  <a:xfrm rot="16200000">
                    <a:off x="2555163" y="4291130"/>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9" name="Oval 138">
                    <a:extLst>
                      <a:ext uri="{FF2B5EF4-FFF2-40B4-BE49-F238E27FC236}">
                        <a16:creationId xmlns:a16="http://schemas.microsoft.com/office/drawing/2014/main" id="{A7D902E3-C601-23F1-A5BC-86BB50E10977}"/>
                      </a:ext>
                    </a:extLst>
                  </p:cNvPr>
                  <p:cNvSpPr/>
                  <p:nvPr/>
                </p:nvSpPr>
                <p:spPr>
                  <a:xfrm rot="16200000">
                    <a:off x="3329867" y="4236050"/>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43" name="Arc 142">
                    <a:extLst>
                      <a:ext uri="{FF2B5EF4-FFF2-40B4-BE49-F238E27FC236}">
                        <a16:creationId xmlns:a16="http://schemas.microsoft.com/office/drawing/2014/main" id="{C0375CDE-28C1-AC03-0B39-FF4D4684DA46}"/>
                      </a:ext>
                    </a:extLst>
                  </p:cNvPr>
                  <p:cNvSpPr/>
                  <p:nvPr/>
                </p:nvSpPr>
                <p:spPr>
                  <a:xfrm rot="18967714">
                    <a:off x="3424584" y="5498985"/>
                    <a:ext cx="1572016" cy="1546965"/>
                  </a:xfrm>
                  <a:prstGeom prst="arc">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4" name="Arc 143">
                    <a:extLst>
                      <a:ext uri="{FF2B5EF4-FFF2-40B4-BE49-F238E27FC236}">
                        <a16:creationId xmlns:a16="http://schemas.microsoft.com/office/drawing/2014/main" id="{CE3CC70C-BC77-6DF2-9240-09926EFD2ED4}"/>
                      </a:ext>
                    </a:extLst>
                  </p:cNvPr>
                  <p:cNvSpPr/>
                  <p:nvPr/>
                </p:nvSpPr>
                <p:spPr>
                  <a:xfrm rot="18967714">
                    <a:off x="6998425" y="5498986"/>
                    <a:ext cx="1572016" cy="1546965"/>
                  </a:xfrm>
                  <a:prstGeom prst="arc">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46" name="Straight Connector 145">
                    <a:extLst>
                      <a:ext uri="{FF2B5EF4-FFF2-40B4-BE49-F238E27FC236}">
                        <a16:creationId xmlns:a16="http://schemas.microsoft.com/office/drawing/2014/main" id="{CC9B9772-BDA2-596F-165F-1F094BEA18B6}"/>
                      </a:ext>
                    </a:extLst>
                  </p:cNvPr>
                  <p:cNvCxnSpPr>
                    <a:cxnSpLocks/>
                  </p:cNvCxnSpPr>
                  <p:nvPr/>
                </p:nvCxnSpPr>
                <p:spPr>
                  <a:xfrm>
                    <a:off x="4134599" y="6432385"/>
                    <a:ext cx="369226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821FC8C9-CD11-C2FB-D2AC-09B08B573713}"/>
                      </a:ext>
                    </a:extLst>
                  </p:cNvPr>
                  <p:cNvCxnSpPr>
                    <a:cxnSpLocks/>
                  </p:cNvCxnSpPr>
                  <p:nvPr/>
                </p:nvCxnSpPr>
                <p:spPr>
                  <a:xfrm>
                    <a:off x="7826868" y="6350966"/>
                    <a:ext cx="0" cy="16283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8" name="Straight Connector 147">
                    <a:extLst>
                      <a:ext uri="{FF2B5EF4-FFF2-40B4-BE49-F238E27FC236}">
                        <a16:creationId xmlns:a16="http://schemas.microsoft.com/office/drawing/2014/main" id="{1BF0FB19-DE42-839C-B7C6-93CD5D1711D9}"/>
                      </a:ext>
                    </a:extLst>
                  </p:cNvPr>
                  <p:cNvCxnSpPr>
                    <a:cxnSpLocks/>
                  </p:cNvCxnSpPr>
                  <p:nvPr/>
                </p:nvCxnSpPr>
                <p:spPr>
                  <a:xfrm>
                    <a:off x="4134599" y="6603574"/>
                    <a:ext cx="4616111" cy="0"/>
                  </a:xfrm>
                  <a:prstGeom prst="line">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49" name="TextBox 148">
                    <a:extLst>
                      <a:ext uri="{FF2B5EF4-FFF2-40B4-BE49-F238E27FC236}">
                        <a16:creationId xmlns:a16="http://schemas.microsoft.com/office/drawing/2014/main" id="{50C382DB-A7C1-2AD5-C6A2-FF3328C61F42}"/>
                      </a:ext>
                    </a:extLst>
                  </p:cNvPr>
                  <p:cNvSpPr txBox="1"/>
                  <p:nvPr/>
                </p:nvSpPr>
                <p:spPr>
                  <a:xfrm>
                    <a:off x="7820982" y="6300922"/>
                    <a:ext cx="1009579" cy="261610"/>
                  </a:xfrm>
                  <a:prstGeom prst="rect">
                    <a:avLst/>
                  </a:prstGeom>
                  <a:noFill/>
                  <a:ln>
                    <a:noFill/>
                  </a:ln>
                </p:spPr>
                <p:txBody>
                  <a:bodyPr wrap="square" rtlCol="0">
                    <a:spAutoFit/>
                  </a:bodyPr>
                  <a:lstStyle/>
                  <a:p>
                    <a:pPr algn="ctr"/>
                    <a:r>
                      <a:rPr lang="en-US" sz="1100" b="1" dirty="0"/>
                      <a:t>Extinction</a:t>
                    </a:r>
                  </a:p>
                </p:txBody>
              </p:sp>
              <p:sp>
                <p:nvSpPr>
                  <p:cNvPr id="150" name="TextBox 149">
                    <a:extLst>
                      <a:ext uri="{FF2B5EF4-FFF2-40B4-BE49-F238E27FC236}">
                        <a16:creationId xmlns:a16="http://schemas.microsoft.com/office/drawing/2014/main" id="{0082C7C0-F5C3-B3D5-D70D-94367F4018D9}"/>
                      </a:ext>
                    </a:extLst>
                  </p:cNvPr>
                  <p:cNvSpPr txBox="1"/>
                  <p:nvPr/>
                </p:nvSpPr>
                <p:spPr>
                  <a:xfrm>
                    <a:off x="8748921" y="6451212"/>
                    <a:ext cx="1009579" cy="261610"/>
                  </a:xfrm>
                  <a:prstGeom prst="rect">
                    <a:avLst/>
                  </a:prstGeom>
                  <a:solidFill>
                    <a:schemeClr val="bg1"/>
                  </a:solidFill>
                  <a:ln>
                    <a:noFill/>
                  </a:ln>
                </p:spPr>
                <p:txBody>
                  <a:bodyPr wrap="square" rtlCol="0">
                    <a:spAutoFit/>
                  </a:bodyPr>
                  <a:lstStyle/>
                  <a:p>
                    <a:pPr algn="ctr"/>
                    <a:r>
                      <a:rPr lang="en-US" sz="1100" b="1" dirty="0"/>
                      <a:t>Emergence</a:t>
                    </a:r>
                  </a:p>
                </p:txBody>
              </p:sp>
              <p:sp>
                <p:nvSpPr>
                  <p:cNvPr id="151" name="TextBox 150">
                    <a:extLst>
                      <a:ext uri="{FF2B5EF4-FFF2-40B4-BE49-F238E27FC236}">
                        <a16:creationId xmlns:a16="http://schemas.microsoft.com/office/drawing/2014/main" id="{B2FDC18E-8D38-1D33-7D45-8954D16710CE}"/>
                      </a:ext>
                    </a:extLst>
                  </p:cNvPr>
                  <p:cNvSpPr txBox="1"/>
                  <p:nvPr/>
                </p:nvSpPr>
                <p:spPr>
                  <a:xfrm>
                    <a:off x="6938841" y="5789424"/>
                    <a:ext cx="1776053" cy="523220"/>
                  </a:xfrm>
                  <a:prstGeom prst="rect">
                    <a:avLst/>
                  </a:prstGeom>
                  <a:noFill/>
                  <a:ln>
                    <a:noFill/>
                  </a:ln>
                </p:spPr>
                <p:txBody>
                  <a:bodyPr wrap="square" rtlCol="0">
                    <a:spAutoFit/>
                  </a:bodyPr>
                  <a:lstStyle/>
                  <a:p>
                    <a:pPr algn="ctr"/>
                    <a:r>
                      <a:rPr lang="en-US" sz="1400" b="1" dirty="0"/>
                      <a:t>Incipient epidemic (R</a:t>
                    </a:r>
                    <a:r>
                      <a:rPr lang="en-US" sz="1400" b="1" baseline="-25000" dirty="0"/>
                      <a:t>e</a:t>
                    </a:r>
                    <a:r>
                      <a:rPr lang="en-US" sz="1400" b="1" dirty="0"/>
                      <a:t> &gt; 1)</a:t>
                    </a:r>
                  </a:p>
                </p:txBody>
              </p:sp>
              <p:sp>
                <p:nvSpPr>
                  <p:cNvPr id="153" name="TextBox 152">
                    <a:extLst>
                      <a:ext uri="{FF2B5EF4-FFF2-40B4-BE49-F238E27FC236}">
                        <a16:creationId xmlns:a16="http://schemas.microsoft.com/office/drawing/2014/main" id="{0FD0B7DA-AF16-7671-60C2-F1A1A1F7DBBD}"/>
                      </a:ext>
                    </a:extLst>
                  </p:cNvPr>
                  <p:cNvSpPr txBox="1"/>
                  <p:nvPr/>
                </p:nvSpPr>
                <p:spPr>
                  <a:xfrm>
                    <a:off x="4924545" y="5486584"/>
                    <a:ext cx="2114496" cy="415498"/>
                  </a:xfrm>
                  <a:prstGeom prst="rect">
                    <a:avLst/>
                  </a:prstGeom>
                  <a:noFill/>
                  <a:ln>
                    <a:noFill/>
                  </a:ln>
                </p:spPr>
                <p:txBody>
                  <a:bodyPr wrap="square" rtlCol="0">
                    <a:spAutoFit/>
                  </a:bodyPr>
                  <a:lstStyle/>
                  <a:p>
                    <a:pPr algn="ctr"/>
                    <a:r>
                      <a:rPr lang="en-US" sz="1050" b="1" dirty="0"/>
                      <a:t>Adaptation in stuttering chains of transmission, R</a:t>
                    </a:r>
                    <a:r>
                      <a:rPr lang="en-US" sz="1050" b="1" baseline="-25000" dirty="0"/>
                      <a:t>0</a:t>
                    </a:r>
                    <a:r>
                      <a:rPr lang="en-US" sz="1050" b="1" dirty="0"/>
                      <a:t> increasing</a:t>
                    </a:r>
                  </a:p>
                </p:txBody>
              </p:sp>
              <p:cxnSp>
                <p:nvCxnSpPr>
                  <p:cNvPr id="154" name="Straight Connector 153">
                    <a:extLst>
                      <a:ext uri="{FF2B5EF4-FFF2-40B4-BE49-F238E27FC236}">
                        <a16:creationId xmlns:a16="http://schemas.microsoft.com/office/drawing/2014/main" id="{717DE1A9-10F9-F2A3-0DFF-7EFC4EC66668}"/>
                      </a:ext>
                    </a:extLst>
                  </p:cNvPr>
                  <p:cNvCxnSpPr>
                    <a:cxnSpLocks/>
                  </p:cNvCxnSpPr>
                  <p:nvPr/>
                </p:nvCxnSpPr>
                <p:spPr>
                  <a:xfrm>
                    <a:off x="5258164" y="5972203"/>
                    <a:ext cx="1265813" cy="0"/>
                  </a:xfrm>
                  <a:prstGeom prst="line">
                    <a:avLst/>
                  </a:prstGeom>
                  <a:ln w="762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sp>
              <p:nvSpPr>
                <p:cNvPr id="160" name="TextBox 159">
                  <a:extLst>
                    <a:ext uri="{FF2B5EF4-FFF2-40B4-BE49-F238E27FC236}">
                      <a16:creationId xmlns:a16="http://schemas.microsoft.com/office/drawing/2014/main" id="{E03A00CC-55B0-E2AB-E8B4-D592AE09DB70}"/>
                    </a:ext>
                  </a:extLst>
                </p:cNvPr>
                <p:cNvSpPr txBox="1"/>
                <p:nvPr/>
              </p:nvSpPr>
              <p:spPr>
                <a:xfrm>
                  <a:off x="1238086" y="1248793"/>
                  <a:ext cx="2309863" cy="584775"/>
                </a:xfrm>
                <a:prstGeom prst="rect">
                  <a:avLst/>
                </a:prstGeom>
                <a:noFill/>
                <a:ln>
                  <a:noFill/>
                </a:ln>
              </p:spPr>
              <p:txBody>
                <a:bodyPr wrap="none" rtlCol="0">
                  <a:spAutoFit/>
                </a:bodyPr>
                <a:lstStyle/>
                <a:p>
                  <a:pPr algn="ctr"/>
                  <a:r>
                    <a:rPr lang="en-US" sz="1600" b="1" dirty="0"/>
                    <a:t>Endemic circulation in </a:t>
                  </a:r>
                </a:p>
                <a:p>
                  <a:pPr algn="ctr"/>
                  <a:r>
                    <a:rPr lang="en-US" sz="1600" b="1" dirty="0"/>
                    <a:t>animal reservoir </a:t>
                  </a:r>
                </a:p>
              </p:txBody>
            </p:sp>
            <p:sp>
              <p:nvSpPr>
                <p:cNvPr id="161" name="TextBox 160">
                  <a:extLst>
                    <a:ext uri="{FF2B5EF4-FFF2-40B4-BE49-F238E27FC236}">
                      <a16:creationId xmlns:a16="http://schemas.microsoft.com/office/drawing/2014/main" id="{EB4CD8A6-9AB3-AC64-7DA6-400B94189E06}"/>
                    </a:ext>
                  </a:extLst>
                </p:cNvPr>
                <p:cNvSpPr txBox="1"/>
                <p:nvPr/>
              </p:nvSpPr>
              <p:spPr>
                <a:xfrm>
                  <a:off x="3691790" y="1247004"/>
                  <a:ext cx="3389966" cy="584775"/>
                </a:xfrm>
                <a:prstGeom prst="rect">
                  <a:avLst/>
                </a:prstGeom>
                <a:noFill/>
                <a:ln>
                  <a:noFill/>
                </a:ln>
              </p:spPr>
              <p:txBody>
                <a:bodyPr wrap="none" rtlCol="0">
                  <a:spAutoFit/>
                </a:bodyPr>
                <a:lstStyle/>
                <a:p>
                  <a:pPr algn="ctr"/>
                  <a:r>
                    <a:rPr lang="en-US" sz="1600" b="1" dirty="0"/>
                    <a:t>Stuttering transmission in humans</a:t>
                  </a:r>
                </a:p>
                <a:p>
                  <a:pPr algn="ctr"/>
                  <a:r>
                    <a:rPr lang="en-US" sz="1600" b="1" dirty="0"/>
                    <a:t>R</a:t>
                  </a:r>
                  <a:r>
                    <a:rPr lang="en-US" sz="1600" b="1" baseline="-25000" dirty="0"/>
                    <a:t>e</a:t>
                  </a:r>
                  <a:r>
                    <a:rPr lang="en-US" sz="1600" b="1" dirty="0"/>
                    <a:t> &lt; 1 </a:t>
                  </a:r>
                </a:p>
              </p:txBody>
            </p:sp>
            <p:sp>
              <p:nvSpPr>
                <p:cNvPr id="162" name="TextBox 161">
                  <a:extLst>
                    <a:ext uri="{FF2B5EF4-FFF2-40B4-BE49-F238E27FC236}">
                      <a16:creationId xmlns:a16="http://schemas.microsoft.com/office/drawing/2014/main" id="{E2556A03-B9CB-A82A-1C7D-5D8826EDBE10}"/>
                    </a:ext>
                  </a:extLst>
                </p:cNvPr>
                <p:cNvSpPr txBox="1"/>
                <p:nvPr/>
              </p:nvSpPr>
              <p:spPr>
                <a:xfrm>
                  <a:off x="7315504" y="1251030"/>
                  <a:ext cx="3576492" cy="584775"/>
                </a:xfrm>
                <a:prstGeom prst="rect">
                  <a:avLst/>
                </a:prstGeom>
                <a:noFill/>
                <a:ln>
                  <a:noFill/>
                </a:ln>
              </p:spPr>
              <p:txBody>
                <a:bodyPr wrap="none" rtlCol="0">
                  <a:spAutoFit/>
                </a:bodyPr>
                <a:lstStyle/>
                <a:p>
                  <a:pPr algn="ctr"/>
                  <a:r>
                    <a:rPr lang="en-US" sz="1600" b="1" dirty="0"/>
                    <a:t>Sustainable transmission in humans</a:t>
                  </a:r>
                </a:p>
                <a:p>
                  <a:pPr algn="ctr"/>
                  <a:r>
                    <a:rPr lang="en-US" sz="1600" b="1" dirty="0"/>
                    <a:t>R</a:t>
                  </a:r>
                  <a:r>
                    <a:rPr lang="en-US" sz="1600" b="1" baseline="-25000" dirty="0"/>
                    <a:t>e</a:t>
                  </a:r>
                  <a:r>
                    <a:rPr lang="en-US" sz="1600" b="1" dirty="0"/>
                    <a:t> &gt; 1 </a:t>
                  </a:r>
                </a:p>
              </p:txBody>
            </p:sp>
            <p:sp>
              <p:nvSpPr>
                <p:cNvPr id="163" name="TextBox 162">
                  <a:extLst>
                    <a:ext uri="{FF2B5EF4-FFF2-40B4-BE49-F238E27FC236}">
                      <a16:creationId xmlns:a16="http://schemas.microsoft.com/office/drawing/2014/main" id="{65575A4D-8474-67A9-8E31-2345371AB00E}"/>
                    </a:ext>
                  </a:extLst>
                </p:cNvPr>
                <p:cNvSpPr txBox="1"/>
                <p:nvPr/>
              </p:nvSpPr>
              <p:spPr>
                <a:xfrm>
                  <a:off x="7391275" y="4629727"/>
                  <a:ext cx="3113629" cy="415498"/>
                </a:xfrm>
                <a:prstGeom prst="rect">
                  <a:avLst/>
                </a:prstGeom>
                <a:noFill/>
                <a:ln>
                  <a:noFill/>
                </a:ln>
              </p:spPr>
              <p:txBody>
                <a:bodyPr wrap="square" rtlCol="0">
                  <a:spAutoFit/>
                </a:bodyPr>
                <a:lstStyle/>
                <a:p>
                  <a:pPr algn="ctr"/>
                  <a:r>
                    <a:rPr lang="en-US" sz="1050" b="1" dirty="0"/>
                    <a:t>Further evolution to high </a:t>
                  </a:r>
                </a:p>
                <a:p>
                  <a:pPr algn="ctr"/>
                  <a:r>
                    <a:rPr lang="en-US" sz="1050" b="1" dirty="0"/>
                    <a:t>transmissibility, R</a:t>
                  </a:r>
                  <a:r>
                    <a:rPr lang="en-US" sz="1050" b="1" baseline="-25000" dirty="0"/>
                    <a:t>0</a:t>
                  </a:r>
                  <a:r>
                    <a:rPr lang="en-US" sz="1050" b="1" dirty="0"/>
                    <a:t> increasing</a:t>
                  </a:r>
                </a:p>
              </p:txBody>
            </p:sp>
            <p:sp>
              <p:nvSpPr>
                <p:cNvPr id="186" name="TextBox 185">
                  <a:extLst>
                    <a:ext uri="{FF2B5EF4-FFF2-40B4-BE49-F238E27FC236}">
                      <a16:creationId xmlns:a16="http://schemas.microsoft.com/office/drawing/2014/main" id="{91230F2C-2293-BAE5-A021-488491E25B68}"/>
                    </a:ext>
                  </a:extLst>
                </p:cNvPr>
                <p:cNvSpPr txBox="1"/>
                <p:nvPr/>
              </p:nvSpPr>
              <p:spPr>
                <a:xfrm>
                  <a:off x="9688635" y="4963098"/>
                  <a:ext cx="859124" cy="307777"/>
                </a:xfrm>
                <a:prstGeom prst="rect">
                  <a:avLst/>
                </a:prstGeom>
                <a:noFill/>
                <a:ln>
                  <a:noFill/>
                </a:ln>
              </p:spPr>
              <p:txBody>
                <a:bodyPr wrap="square">
                  <a:spAutoFit/>
                </a:bodyPr>
                <a:lstStyle/>
                <a:p>
                  <a:r>
                    <a:rPr lang="en-US" sz="1400" b="1" dirty="0"/>
                    <a:t>(R</a:t>
                  </a:r>
                  <a:r>
                    <a:rPr lang="en-US" sz="1400" b="1" baseline="-25000" dirty="0"/>
                    <a:t>e</a:t>
                  </a:r>
                  <a:r>
                    <a:rPr lang="en-US" sz="1400" b="1" dirty="0"/>
                    <a:t> &gt;&gt; 1)</a:t>
                  </a:r>
                  <a:endParaRPr lang="en-US" sz="1400" dirty="0"/>
                </a:p>
              </p:txBody>
            </p:sp>
            <p:cxnSp>
              <p:nvCxnSpPr>
                <p:cNvPr id="212" name="Straight Connector 211">
                  <a:extLst>
                    <a:ext uri="{FF2B5EF4-FFF2-40B4-BE49-F238E27FC236}">
                      <a16:creationId xmlns:a16="http://schemas.microsoft.com/office/drawing/2014/main" id="{2A49F2D6-759E-C699-3E62-8FA25EBC2BC0}"/>
                    </a:ext>
                  </a:extLst>
                </p:cNvPr>
                <p:cNvCxnSpPr>
                  <a:cxnSpLocks/>
                </p:cNvCxnSpPr>
                <p:nvPr/>
              </p:nvCxnSpPr>
              <p:spPr>
                <a:xfrm>
                  <a:off x="3523879" y="5903301"/>
                  <a:ext cx="6024514" cy="0"/>
                </a:xfrm>
                <a:prstGeom prst="line">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13" name="TextBox 212">
                  <a:extLst>
                    <a:ext uri="{FF2B5EF4-FFF2-40B4-BE49-F238E27FC236}">
                      <a16:creationId xmlns:a16="http://schemas.microsoft.com/office/drawing/2014/main" id="{C495D063-CC7D-6FC0-F5A1-D7E493B63264}"/>
                    </a:ext>
                  </a:extLst>
                </p:cNvPr>
                <p:cNvSpPr txBox="1"/>
                <p:nvPr/>
              </p:nvSpPr>
              <p:spPr>
                <a:xfrm>
                  <a:off x="9513048" y="5758135"/>
                  <a:ext cx="1573547" cy="261610"/>
                </a:xfrm>
                <a:prstGeom prst="rect">
                  <a:avLst/>
                </a:prstGeom>
                <a:noFill/>
                <a:ln>
                  <a:noFill/>
                </a:ln>
              </p:spPr>
              <p:txBody>
                <a:bodyPr wrap="square" rtlCol="0">
                  <a:spAutoFit/>
                </a:bodyPr>
                <a:lstStyle/>
                <a:p>
                  <a:pPr algn="ctr"/>
                  <a:r>
                    <a:rPr lang="en-US" sz="1100" b="1" dirty="0"/>
                    <a:t>Continued evolution</a:t>
                  </a:r>
                </a:p>
              </p:txBody>
            </p:sp>
          </p:grpSp>
        </p:grpSp>
        <p:cxnSp>
          <p:nvCxnSpPr>
            <p:cNvPr id="224" name="Straight Arrow Connector 223">
              <a:extLst>
                <a:ext uri="{FF2B5EF4-FFF2-40B4-BE49-F238E27FC236}">
                  <a16:creationId xmlns:a16="http://schemas.microsoft.com/office/drawing/2014/main" id="{2370D07E-6378-E613-B2D7-0941A4F25C13}"/>
                </a:ext>
              </a:extLst>
            </p:cNvPr>
            <p:cNvCxnSpPr>
              <a:cxnSpLocks/>
            </p:cNvCxnSpPr>
            <p:nvPr/>
          </p:nvCxnSpPr>
          <p:spPr>
            <a:xfrm flipV="1">
              <a:off x="8377084" y="2176925"/>
              <a:ext cx="417620" cy="2286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234" name="Straight Arrow Connector 233">
            <a:extLst>
              <a:ext uri="{FF2B5EF4-FFF2-40B4-BE49-F238E27FC236}">
                <a16:creationId xmlns:a16="http://schemas.microsoft.com/office/drawing/2014/main" id="{6052F874-20F1-8749-F81B-7DC2EC5AEE4B}"/>
              </a:ext>
            </a:extLst>
          </p:cNvPr>
          <p:cNvCxnSpPr>
            <a:cxnSpLocks/>
          </p:cNvCxnSpPr>
          <p:nvPr/>
        </p:nvCxnSpPr>
        <p:spPr>
          <a:xfrm rot="5400000" flipV="1">
            <a:off x="9163549" y="4283017"/>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5" name="Oval 234">
            <a:extLst>
              <a:ext uri="{FF2B5EF4-FFF2-40B4-BE49-F238E27FC236}">
                <a16:creationId xmlns:a16="http://schemas.microsoft.com/office/drawing/2014/main" id="{11EC0EC5-9EFE-4745-1529-62BF12CAC059}"/>
              </a:ext>
            </a:extLst>
          </p:cNvPr>
          <p:cNvSpPr/>
          <p:nvPr/>
        </p:nvSpPr>
        <p:spPr>
          <a:xfrm rot="16200000">
            <a:off x="9578105" y="4608798"/>
            <a:ext cx="205539" cy="1905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Tree>
    <p:extLst>
      <p:ext uri="{BB962C8B-B14F-4D97-AF65-F5344CB8AC3E}">
        <p14:creationId xmlns:p14="http://schemas.microsoft.com/office/powerpoint/2010/main" val="3876012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DC74391-2E8F-3DE3-D776-FC4D71CF1FEB}"/>
              </a:ext>
            </a:extLst>
          </p:cNvPr>
          <p:cNvGrpSpPr/>
          <p:nvPr/>
        </p:nvGrpSpPr>
        <p:grpSpPr>
          <a:xfrm>
            <a:off x="1013848" y="1341224"/>
            <a:ext cx="8844419" cy="4013114"/>
            <a:chOff x="1013848" y="1341224"/>
            <a:chExt cx="8844419" cy="4013114"/>
          </a:xfrm>
        </p:grpSpPr>
        <p:grpSp>
          <p:nvGrpSpPr>
            <p:cNvPr id="32" name="Group 31">
              <a:extLst>
                <a:ext uri="{FF2B5EF4-FFF2-40B4-BE49-F238E27FC236}">
                  <a16:creationId xmlns:a16="http://schemas.microsoft.com/office/drawing/2014/main" id="{88871441-A74F-C24F-B317-1BB3CEACAD3A}"/>
                </a:ext>
              </a:extLst>
            </p:cNvPr>
            <p:cNvGrpSpPr/>
            <p:nvPr/>
          </p:nvGrpSpPr>
          <p:grpSpPr>
            <a:xfrm>
              <a:off x="1013848" y="1341224"/>
              <a:ext cx="8844419" cy="4013114"/>
              <a:chOff x="1013848" y="1341224"/>
              <a:chExt cx="8844419" cy="4013114"/>
            </a:xfrm>
          </p:grpSpPr>
          <p:pic>
            <p:nvPicPr>
              <p:cNvPr id="28" name="Content Placeholder 24" descr="A graph showing the growth of the year&#10;&#10;AI-generated content may be incorrect.">
                <a:extLst>
                  <a:ext uri="{FF2B5EF4-FFF2-40B4-BE49-F238E27FC236}">
                    <a16:creationId xmlns:a16="http://schemas.microsoft.com/office/drawing/2014/main" id="{73343DC6-BFFD-64B6-3366-775891C322E8}"/>
                  </a:ext>
                </a:extLst>
              </p:cNvPr>
              <p:cNvPicPr>
                <a:picLocks noChangeAspect="1"/>
              </p:cNvPicPr>
              <p:nvPr/>
            </p:nvPicPr>
            <p:blipFill>
              <a:blip r:embed="rId2"/>
              <a:srcRect r="15893"/>
              <a:stretch>
                <a:fillRect/>
              </a:stretch>
            </p:blipFill>
            <p:spPr>
              <a:xfrm>
                <a:off x="1013848" y="1341224"/>
                <a:ext cx="8844419" cy="4013114"/>
              </a:xfrm>
              <a:prstGeom prst="rect">
                <a:avLst/>
              </a:prstGeom>
            </p:spPr>
          </p:pic>
          <p:pic>
            <p:nvPicPr>
              <p:cNvPr id="29" name="Picture 28" descr="A graph of numbers and text&#10;&#10;AI-generated content may be incorrect.">
                <a:extLst>
                  <a:ext uri="{FF2B5EF4-FFF2-40B4-BE49-F238E27FC236}">
                    <a16:creationId xmlns:a16="http://schemas.microsoft.com/office/drawing/2014/main" id="{0A0068A6-72ED-B99D-3C1B-A4291E32BE9E}"/>
                  </a:ext>
                </a:extLst>
              </p:cNvPr>
              <p:cNvPicPr>
                <a:picLocks noChangeAspect="1"/>
              </p:cNvPicPr>
              <p:nvPr/>
            </p:nvPicPr>
            <p:blipFill>
              <a:blip r:embed="rId3"/>
              <a:stretch>
                <a:fillRect/>
              </a:stretch>
            </p:blipFill>
            <p:spPr>
              <a:xfrm>
                <a:off x="6803190" y="2173424"/>
                <a:ext cx="1797485" cy="1797485"/>
              </a:xfrm>
              <a:prstGeom prst="rect">
                <a:avLst/>
              </a:prstGeom>
            </p:spPr>
          </p:pic>
        </p:grpSp>
        <p:cxnSp>
          <p:nvCxnSpPr>
            <p:cNvPr id="3" name="Straight Connector 2">
              <a:extLst>
                <a:ext uri="{FF2B5EF4-FFF2-40B4-BE49-F238E27FC236}">
                  <a16:creationId xmlns:a16="http://schemas.microsoft.com/office/drawing/2014/main" id="{F94DDD07-CF6C-554A-1832-E4FFDD8A6670}"/>
                </a:ext>
              </a:extLst>
            </p:cNvPr>
            <p:cNvCxnSpPr>
              <a:cxnSpLocks/>
            </p:cNvCxnSpPr>
            <p:nvPr/>
          </p:nvCxnSpPr>
          <p:spPr>
            <a:xfrm>
              <a:off x="4992130" y="1403350"/>
              <a:ext cx="0" cy="3428485"/>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503607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37055BD-49D1-500E-905B-C74BDE9FBB42}"/>
              </a:ext>
            </a:extLst>
          </p:cNvPr>
          <p:cNvGrpSpPr/>
          <p:nvPr/>
        </p:nvGrpSpPr>
        <p:grpSpPr>
          <a:xfrm>
            <a:off x="963826" y="696585"/>
            <a:ext cx="9564131" cy="5668550"/>
            <a:chOff x="963826" y="696585"/>
            <a:chExt cx="9564131" cy="5668550"/>
          </a:xfrm>
        </p:grpSpPr>
        <p:pic>
          <p:nvPicPr>
            <p:cNvPr id="7" name="Picture 6" descr="A graph of a line graph&#10;&#10;AI-generated content may be incorrect.">
              <a:extLst>
                <a:ext uri="{FF2B5EF4-FFF2-40B4-BE49-F238E27FC236}">
                  <a16:creationId xmlns:a16="http://schemas.microsoft.com/office/drawing/2014/main" id="{4B64B6E3-9609-C918-0F8E-E75EC745C9F6}"/>
                </a:ext>
              </a:extLst>
            </p:cNvPr>
            <p:cNvPicPr>
              <a:picLocks noChangeAspect="1"/>
            </p:cNvPicPr>
            <p:nvPr/>
          </p:nvPicPr>
          <p:blipFill>
            <a:blip r:embed="rId3"/>
            <a:srcRect r="10209"/>
            <a:stretch>
              <a:fillRect/>
            </a:stretch>
          </p:blipFill>
          <p:spPr>
            <a:xfrm>
              <a:off x="963826" y="696585"/>
              <a:ext cx="9564131" cy="5668550"/>
            </a:xfrm>
            <a:prstGeom prst="rect">
              <a:avLst/>
            </a:prstGeom>
          </p:spPr>
        </p:pic>
        <p:pic>
          <p:nvPicPr>
            <p:cNvPr id="9" name="Picture 8" descr="A number of different colored lines&#10;&#10;AI-generated content may be incorrect.">
              <a:extLst>
                <a:ext uri="{FF2B5EF4-FFF2-40B4-BE49-F238E27FC236}">
                  <a16:creationId xmlns:a16="http://schemas.microsoft.com/office/drawing/2014/main" id="{2C0D9B71-61FF-8276-9348-7A709391914B}"/>
                </a:ext>
              </a:extLst>
            </p:cNvPr>
            <p:cNvPicPr>
              <a:picLocks noChangeAspect="1"/>
            </p:cNvPicPr>
            <p:nvPr/>
          </p:nvPicPr>
          <p:blipFill>
            <a:blip r:embed="rId4"/>
            <a:stretch>
              <a:fillRect/>
            </a:stretch>
          </p:blipFill>
          <p:spPr>
            <a:xfrm>
              <a:off x="8466781" y="2713337"/>
              <a:ext cx="1287983" cy="2167581"/>
            </a:xfrm>
            <a:prstGeom prst="rect">
              <a:avLst/>
            </a:prstGeom>
          </p:spPr>
        </p:pic>
      </p:grpSp>
    </p:spTree>
    <p:extLst>
      <p:ext uri="{BB962C8B-B14F-4D97-AF65-F5344CB8AC3E}">
        <p14:creationId xmlns:p14="http://schemas.microsoft.com/office/powerpoint/2010/main" val="2258568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CB723-59E2-502B-FEBC-CAA3426DE96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6222C16-6F4C-4D6F-2717-E81BDF95BBC2}"/>
              </a:ext>
            </a:extLst>
          </p:cNvPr>
          <p:cNvPicPr>
            <a:picLocks noChangeAspect="1"/>
          </p:cNvPicPr>
          <p:nvPr/>
        </p:nvPicPr>
        <p:blipFill>
          <a:blip r:embed="rId3"/>
          <a:stretch>
            <a:fillRect/>
          </a:stretch>
        </p:blipFill>
        <p:spPr>
          <a:xfrm>
            <a:off x="2463699" y="0"/>
            <a:ext cx="7264601" cy="6858000"/>
          </a:xfrm>
          <a:prstGeom prst="rect">
            <a:avLst/>
          </a:prstGeom>
        </p:spPr>
      </p:pic>
    </p:spTree>
    <p:extLst>
      <p:ext uri="{BB962C8B-B14F-4D97-AF65-F5344CB8AC3E}">
        <p14:creationId xmlns:p14="http://schemas.microsoft.com/office/powerpoint/2010/main" val="1633833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D70B2796-FFFE-7C6D-79C1-28649DE0EC28}"/>
              </a:ext>
            </a:extLst>
          </p:cNvPr>
          <p:cNvGrpSpPr/>
          <p:nvPr/>
        </p:nvGrpSpPr>
        <p:grpSpPr>
          <a:xfrm>
            <a:off x="192024" y="2078502"/>
            <a:ext cx="12163226" cy="3722676"/>
            <a:chOff x="0" y="2435118"/>
            <a:chExt cx="12163226" cy="3722676"/>
          </a:xfrm>
        </p:grpSpPr>
        <p:grpSp>
          <p:nvGrpSpPr>
            <p:cNvPr id="34" name="Group 33">
              <a:extLst>
                <a:ext uri="{FF2B5EF4-FFF2-40B4-BE49-F238E27FC236}">
                  <a16:creationId xmlns:a16="http://schemas.microsoft.com/office/drawing/2014/main" id="{1CCCDD69-578D-B7AD-2921-4587EF92A0AF}"/>
                </a:ext>
              </a:extLst>
            </p:cNvPr>
            <p:cNvGrpSpPr/>
            <p:nvPr/>
          </p:nvGrpSpPr>
          <p:grpSpPr>
            <a:xfrm>
              <a:off x="0" y="2435118"/>
              <a:ext cx="12163226" cy="3722676"/>
              <a:chOff x="0" y="2435118"/>
              <a:chExt cx="12163226" cy="3722676"/>
            </a:xfrm>
          </p:grpSpPr>
          <p:pic>
            <p:nvPicPr>
              <p:cNvPr id="29" name="Picture 28">
                <a:extLst>
                  <a:ext uri="{FF2B5EF4-FFF2-40B4-BE49-F238E27FC236}">
                    <a16:creationId xmlns:a16="http://schemas.microsoft.com/office/drawing/2014/main" id="{1512DFB1-97EB-F6DA-D661-C2E5EB5ECF86}"/>
                  </a:ext>
                </a:extLst>
              </p:cNvPr>
              <p:cNvPicPr>
                <a:picLocks noChangeAspect="1"/>
              </p:cNvPicPr>
              <p:nvPr/>
            </p:nvPicPr>
            <p:blipFill>
              <a:blip r:embed="rId2"/>
              <a:srcRect l="5319" r="10215" b="11630"/>
              <a:stretch>
                <a:fillRect/>
              </a:stretch>
            </p:blipFill>
            <p:spPr>
              <a:xfrm>
                <a:off x="570677" y="2468694"/>
                <a:ext cx="5714433" cy="3018801"/>
              </a:xfrm>
              <a:prstGeom prst="rect">
                <a:avLst/>
              </a:prstGeom>
            </p:spPr>
          </p:pic>
          <p:pic>
            <p:nvPicPr>
              <p:cNvPr id="32" name="Picture 31">
                <a:extLst>
                  <a:ext uri="{FF2B5EF4-FFF2-40B4-BE49-F238E27FC236}">
                    <a16:creationId xmlns:a16="http://schemas.microsoft.com/office/drawing/2014/main" id="{93932FA3-B3A7-EB61-7E70-6F40741C32E2}"/>
                  </a:ext>
                </a:extLst>
              </p:cNvPr>
              <p:cNvPicPr>
                <a:picLocks noChangeAspect="1"/>
              </p:cNvPicPr>
              <p:nvPr/>
            </p:nvPicPr>
            <p:blipFill>
              <a:blip r:embed="rId3"/>
              <a:srcRect l="5473" r="11691" b="12085"/>
              <a:stretch>
                <a:fillRect/>
              </a:stretch>
            </p:blipFill>
            <p:spPr>
              <a:xfrm>
                <a:off x="6529818" y="2461268"/>
                <a:ext cx="5630925" cy="3017520"/>
              </a:xfrm>
              <a:prstGeom prst="rect">
                <a:avLst/>
              </a:prstGeom>
            </p:spPr>
          </p:pic>
          <p:sp>
            <p:nvSpPr>
              <p:cNvPr id="15" name="TextBox 14">
                <a:extLst>
                  <a:ext uri="{FF2B5EF4-FFF2-40B4-BE49-F238E27FC236}">
                    <a16:creationId xmlns:a16="http://schemas.microsoft.com/office/drawing/2014/main" id="{9F56868A-1893-E010-F015-FEEF4B52AD52}"/>
                  </a:ext>
                </a:extLst>
              </p:cNvPr>
              <p:cNvSpPr txBox="1"/>
              <p:nvPr/>
            </p:nvSpPr>
            <p:spPr>
              <a:xfrm>
                <a:off x="6399320" y="5481904"/>
                <a:ext cx="5763906" cy="369332"/>
              </a:xfrm>
              <a:prstGeom prst="rect">
                <a:avLst/>
              </a:prstGeom>
              <a:solidFill>
                <a:schemeClr val="bg1"/>
              </a:solidFill>
            </p:spPr>
            <p:txBody>
              <a:bodyPr wrap="square" rtlCol="0">
                <a:spAutoFit/>
              </a:bodyPr>
              <a:lstStyle/>
              <a:p>
                <a:r>
                  <a:rPr lang="en-US" dirty="0"/>
                  <a:t>    0.5 		                   1.0                                                 1.5</a:t>
                </a:r>
              </a:p>
            </p:txBody>
          </p:sp>
          <p:grpSp>
            <p:nvGrpSpPr>
              <p:cNvPr id="11" name="Group 10">
                <a:extLst>
                  <a:ext uri="{FF2B5EF4-FFF2-40B4-BE49-F238E27FC236}">
                    <a16:creationId xmlns:a16="http://schemas.microsoft.com/office/drawing/2014/main" id="{28E27F22-55E1-A936-9412-05394F5C50C2}"/>
                  </a:ext>
                </a:extLst>
              </p:cNvPr>
              <p:cNvGrpSpPr/>
              <p:nvPr/>
            </p:nvGrpSpPr>
            <p:grpSpPr>
              <a:xfrm>
                <a:off x="0" y="2435118"/>
                <a:ext cx="7928937" cy="3722676"/>
                <a:chOff x="0" y="2435118"/>
                <a:chExt cx="7928937" cy="3722676"/>
              </a:xfrm>
            </p:grpSpPr>
            <p:grpSp>
              <p:nvGrpSpPr>
                <p:cNvPr id="12" name="Group 11">
                  <a:extLst>
                    <a:ext uri="{FF2B5EF4-FFF2-40B4-BE49-F238E27FC236}">
                      <a16:creationId xmlns:a16="http://schemas.microsoft.com/office/drawing/2014/main" id="{E8650BF4-2865-C398-62C3-5D18AE3EC069}"/>
                    </a:ext>
                  </a:extLst>
                </p:cNvPr>
                <p:cNvGrpSpPr/>
                <p:nvPr/>
              </p:nvGrpSpPr>
              <p:grpSpPr>
                <a:xfrm>
                  <a:off x="0" y="2450406"/>
                  <a:ext cx="7928937" cy="3707388"/>
                  <a:chOff x="-119032" y="1697952"/>
                  <a:chExt cx="7928937" cy="3707388"/>
                </a:xfrm>
              </p:grpSpPr>
              <p:sp>
                <p:nvSpPr>
                  <p:cNvPr id="2" name="TextBox 1">
                    <a:extLst>
                      <a:ext uri="{FF2B5EF4-FFF2-40B4-BE49-F238E27FC236}">
                        <a16:creationId xmlns:a16="http://schemas.microsoft.com/office/drawing/2014/main" id="{F3C98B5B-062C-A2BF-295D-62BFDF487946}"/>
                      </a:ext>
                    </a:extLst>
                  </p:cNvPr>
                  <p:cNvSpPr txBox="1"/>
                  <p:nvPr/>
                </p:nvSpPr>
                <p:spPr>
                  <a:xfrm rot="16200000">
                    <a:off x="-1360782" y="3025585"/>
                    <a:ext cx="2883610" cy="400110"/>
                  </a:xfrm>
                  <a:prstGeom prst="rect">
                    <a:avLst/>
                  </a:prstGeom>
                  <a:solidFill>
                    <a:schemeClr val="bg1"/>
                  </a:solidFill>
                </p:spPr>
                <p:txBody>
                  <a:bodyPr wrap="none" rtlCol="0">
                    <a:spAutoFit/>
                  </a:bodyPr>
                  <a:lstStyle/>
                  <a:p>
                    <a:r>
                      <a:rPr lang="en-US" sz="2000" dirty="0"/>
                      <a:t>Log10  P(evolving high R)</a:t>
                    </a:r>
                  </a:p>
                </p:txBody>
              </p:sp>
              <p:sp>
                <p:nvSpPr>
                  <p:cNvPr id="7" name="TextBox 6">
                    <a:extLst>
                      <a:ext uri="{FF2B5EF4-FFF2-40B4-BE49-F238E27FC236}">
                        <a16:creationId xmlns:a16="http://schemas.microsoft.com/office/drawing/2014/main" id="{F3264DF4-6C01-C89B-D42F-148F8FBD64CD}"/>
                      </a:ext>
                    </a:extLst>
                  </p:cNvPr>
                  <p:cNvSpPr txBox="1"/>
                  <p:nvPr/>
                </p:nvSpPr>
                <p:spPr>
                  <a:xfrm>
                    <a:off x="142484" y="1697952"/>
                    <a:ext cx="549692" cy="3385542"/>
                  </a:xfrm>
                  <a:prstGeom prst="rect">
                    <a:avLst/>
                  </a:prstGeom>
                  <a:noFill/>
                </p:spPr>
                <p:txBody>
                  <a:bodyPr wrap="square" rtlCol="0">
                    <a:spAutoFit/>
                  </a:bodyPr>
                  <a:lstStyle/>
                  <a:p>
                    <a:r>
                      <a:rPr lang="en-US" dirty="0"/>
                      <a:t>  0</a:t>
                    </a:r>
                  </a:p>
                  <a:p>
                    <a:endParaRPr lang="en-US" sz="1200" dirty="0"/>
                  </a:p>
                  <a:p>
                    <a:endParaRPr lang="en-US" sz="2800" dirty="0"/>
                  </a:p>
                  <a:p>
                    <a:r>
                      <a:rPr lang="en-US" dirty="0"/>
                      <a:t>-2</a:t>
                    </a:r>
                  </a:p>
                  <a:p>
                    <a:endParaRPr lang="en-US" sz="2000" dirty="0"/>
                  </a:p>
                  <a:p>
                    <a:endParaRPr lang="en-US" sz="2000" dirty="0"/>
                  </a:p>
                  <a:p>
                    <a:r>
                      <a:rPr lang="en-US" dirty="0"/>
                      <a:t>-4</a:t>
                    </a:r>
                  </a:p>
                  <a:p>
                    <a:endParaRPr lang="en-US" sz="2400" dirty="0"/>
                  </a:p>
                  <a:p>
                    <a:endParaRPr lang="en-US" dirty="0"/>
                  </a:p>
                  <a:p>
                    <a:r>
                      <a:rPr lang="en-US" dirty="0"/>
                      <a:t>-6	</a:t>
                    </a:r>
                  </a:p>
                </p:txBody>
              </p:sp>
              <p:sp>
                <p:nvSpPr>
                  <p:cNvPr id="4" name="TextBox 3">
                    <a:extLst>
                      <a:ext uri="{FF2B5EF4-FFF2-40B4-BE49-F238E27FC236}">
                        <a16:creationId xmlns:a16="http://schemas.microsoft.com/office/drawing/2014/main" id="{729920F5-A91D-F6E0-4C60-2EF14B48AC3E}"/>
                      </a:ext>
                    </a:extLst>
                  </p:cNvPr>
                  <p:cNvSpPr txBox="1"/>
                  <p:nvPr/>
                </p:nvSpPr>
                <p:spPr>
                  <a:xfrm>
                    <a:off x="4750670" y="5005230"/>
                    <a:ext cx="3059235" cy="400110"/>
                  </a:xfrm>
                  <a:prstGeom prst="rect">
                    <a:avLst/>
                  </a:prstGeom>
                  <a:noFill/>
                </p:spPr>
                <p:txBody>
                  <a:bodyPr wrap="none" rtlCol="0">
                    <a:spAutoFit/>
                  </a:bodyPr>
                  <a:lstStyle/>
                  <a:p>
                    <a:r>
                      <a:rPr lang="en-US" sz="2000" dirty="0"/>
                      <a:t>R</a:t>
                    </a:r>
                    <a:r>
                      <a:rPr lang="en-US" sz="2000" baseline="-25000" dirty="0"/>
                      <a:t>e</a:t>
                    </a:r>
                    <a:r>
                      <a:rPr lang="en-US" sz="2000" dirty="0"/>
                      <a:t> of introduced pathogen</a:t>
                    </a:r>
                  </a:p>
                </p:txBody>
              </p:sp>
            </p:grpSp>
            <p:sp>
              <p:nvSpPr>
                <p:cNvPr id="14" name="TextBox 13">
                  <a:extLst>
                    <a:ext uri="{FF2B5EF4-FFF2-40B4-BE49-F238E27FC236}">
                      <a16:creationId xmlns:a16="http://schemas.microsoft.com/office/drawing/2014/main" id="{D0B89A90-C124-A0DD-9F43-D7F46D94AFFE}"/>
                    </a:ext>
                  </a:extLst>
                </p:cNvPr>
                <p:cNvSpPr txBox="1"/>
                <p:nvPr/>
              </p:nvSpPr>
              <p:spPr>
                <a:xfrm>
                  <a:off x="6218884" y="2450406"/>
                  <a:ext cx="549692" cy="3385542"/>
                </a:xfrm>
                <a:prstGeom prst="rect">
                  <a:avLst/>
                </a:prstGeom>
                <a:noFill/>
              </p:spPr>
              <p:txBody>
                <a:bodyPr wrap="square" rtlCol="0">
                  <a:spAutoFit/>
                </a:bodyPr>
                <a:lstStyle/>
                <a:p>
                  <a:r>
                    <a:rPr lang="en-US" dirty="0"/>
                    <a:t>  0</a:t>
                  </a:r>
                </a:p>
                <a:p>
                  <a:endParaRPr lang="en-US" sz="1200" dirty="0"/>
                </a:p>
                <a:p>
                  <a:endParaRPr lang="en-US" sz="2800" dirty="0"/>
                </a:p>
                <a:p>
                  <a:r>
                    <a:rPr lang="en-US" dirty="0"/>
                    <a:t>-2</a:t>
                  </a:r>
                </a:p>
                <a:p>
                  <a:endParaRPr lang="en-US" sz="2000" dirty="0"/>
                </a:p>
                <a:p>
                  <a:endParaRPr lang="en-US" sz="2000" dirty="0"/>
                </a:p>
                <a:p>
                  <a:r>
                    <a:rPr lang="en-US" dirty="0"/>
                    <a:t>-4</a:t>
                  </a:r>
                </a:p>
                <a:p>
                  <a:endParaRPr lang="en-US" sz="2400" dirty="0"/>
                </a:p>
                <a:p>
                  <a:endParaRPr lang="en-US" dirty="0"/>
                </a:p>
                <a:p>
                  <a:r>
                    <a:rPr lang="en-US" dirty="0"/>
                    <a:t>-6	</a:t>
                  </a:r>
                </a:p>
              </p:txBody>
            </p:sp>
            <p:sp>
              <p:nvSpPr>
                <p:cNvPr id="22" name="TextBox 21">
                  <a:extLst>
                    <a:ext uri="{FF2B5EF4-FFF2-40B4-BE49-F238E27FC236}">
                      <a16:creationId xmlns:a16="http://schemas.microsoft.com/office/drawing/2014/main" id="{86612374-5672-2AFA-FDEC-A67678705303}"/>
                    </a:ext>
                  </a:extLst>
                </p:cNvPr>
                <p:cNvSpPr txBox="1"/>
                <p:nvPr/>
              </p:nvSpPr>
              <p:spPr>
                <a:xfrm>
                  <a:off x="568194" y="2435118"/>
                  <a:ext cx="375616" cy="338554"/>
                </a:xfrm>
                <a:prstGeom prst="rect">
                  <a:avLst/>
                </a:prstGeom>
                <a:noFill/>
              </p:spPr>
              <p:txBody>
                <a:bodyPr wrap="none" rtlCol="0">
                  <a:spAutoFit/>
                </a:bodyPr>
                <a:lstStyle/>
                <a:p>
                  <a:r>
                    <a:rPr lang="en-US" sz="1600" b="1" dirty="0"/>
                    <a:t>A.</a:t>
                  </a:r>
                </a:p>
              </p:txBody>
            </p:sp>
            <p:sp>
              <p:nvSpPr>
                <p:cNvPr id="23" name="TextBox 22">
                  <a:extLst>
                    <a:ext uri="{FF2B5EF4-FFF2-40B4-BE49-F238E27FC236}">
                      <a16:creationId xmlns:a16="http://schemas.microsoft.com/office/drawing/2014/main" id="{B710FA47-0DA3-6584-09E5-952ED6B25340}"/>
                    </a:ext>
                  </a:extLst>
                </p:cNvPr>
                <p:cNvSpPr txBox="1"/>
                <p:nvPr/>
              </p:nvSpPr>
              <p:spPr>
                <a:xfrm>
                  <a:off x="6527335" y="2435118"/>
                  <a:ext cx="368114" cy="338554"/>
                </a:xfrm>
                <a:prstGeom prst="rect">
                  <a:avLst/>
                </a:prstGeom>
                <a:noFill/>
              </p:spPr>
              <p:txBody>
                <a:bodyPr wrap="none" rtlCol="0">
                  <a:spAutoFit/>
                </a:bodyPr>
                <a:lstStyle/>
                <a:p>
                  <a:r>
                    <a:rPr lang="en-US" sz="1600" b="1" dirty="0"/>
                    <a:t>B.</a:t>
                  </a:r>
                </a:p>
              </p:txBody>
            </p:sp>
          </p:grpSp>
          <p:pic>
            <p:nvPicPr>
              <p:cNvPr id="28" name="Picture 27">
                <a:extLst>
                  <a:ext uri="{FF2B5EF4-FFF2-40B4-BE49-F238E27FC236}">
                    <a16:creationId xmlns:a16="http://schemas.microsoft.com/office/drawing/2014/main" id="{2601DCEB-717A-CDAB-49E8-C961798035C4}"/>
                  </a:ext>
                </a:extLst>
              </p:cNvPr>
              <p:cNvPicPr>
                <a:picLocks noChangeAspect="1"/>
              </p:cNvPicPr>
              <p:nvPr/>
            </p:nvPicPr>
            <p:blipFill>
              <a:blip r:embed="rId2"/>
              <a:srcRect l="90381" t="27784" b="40954"/>
              <a:stretch>
                <a:fillRect/>
              </a:stretch>
            </p:blipFill>
            <p:spPr>
              <a:xfrm>
                <a:off x="4813753" y="3108960"/>
                <a:ext cx="1108763" cy="1819656"/>
              </a:xfrm>
              <a:prstGeom prst="rect">
                <a:avLst/>
              </a:prstGeom>
            </p:spPr>
          </p:pic>
          <p:sp>
            <p:nvSpPr>
              <p:cNvPr id="30" name="TextBox 29">
                <a:extLst>
                  <a:ext uri="{FF2B5EF4-FFF2-40B4-BE49-F238E27FC236}">
                    <a16:creationId xmlns:a16="http://schemas.microsoft.com/office/drawing/2014/main" id="{883D13E9-3F5A-9104-588D-C836C73CD20E}"/>
                  </a:ext>
                </a:extLst>
              </p:cNvPr>
              <p:cNvSpPr txBox="1"/>
              <p:nvPr/>
            </p:nvSpPr>
            <p:spPr>
              <a:xfrm>
                <a:off x="545941" y="5481904"/>
                <a:ext cx="5763906" cy="369332"/>
              </a:xfrm>
              <a:prstGeom prst="rect">
                <a:avLst/>
              </a:prstGeom>
              <a:solidFill>
                <a:schemeClr val="bg1"/>
              </a:solidFill>
            </p:spPr>
            <p:txBody>
              <a:bodyPr wrap="square" rtlCol="0">
                <a:spAutoFit/>
              </a:bodyPr>
              <a:lstStyle/>
              <a:p>
                <a:r>
                  <a:rPr lang="en-US" dirty="0"/>
                  <a:t>  0.5 		                  1.0                                                 1.5</a:t>
                </a:r>
              </a:p>
            </p:txBody>
          </p:sp>
        </p:grpSp>
        <p:pic>
          <p:nvPicPr>
            <p:cNvPr id="33" name="Picture 32">
              <a:extLst>
                <a:ext uri="{FF2B5EF4-FFF2-40B4-BE49-F238E27FC236}">
                  <a16:creationId xmlns:a16="http://schemas.microsoft.com/office/drawing/2014/main" id="{29657898-BD0C-4C47-5E20-2260C128DA0F}"/>
                </a:ext>
              </a:extLst>
            </p:cNvPr>
            <p:cNvPicPr>
              <a:picLocks noChangeAspect="1"/>
            </p:cNvPicPr>
            <p:nvPr/>
          </p:nvPicPr>
          <p:blipFill>
            <a:blip r:embed="rId3"/>
            <a:srcRect l="88902" t="25043" r="875" b="37660"/>
            <a:stretch>
              <a:fillRect/>
            </a:stretch>
          </p:blipFill>
          <p:spPr>
            <a:xfrm>
              <a:off x="10606976" y="3108961"/>
              <a:ext cx="1032894" cy="1902700"/>
            </a:xfrm>
            <a:prstGeom prst="rect">
              <a:avLst/>
            </a:prstGeom>
          </p:spPr>
        </p:pic>
      </p:grpSp>
    </p:spTree>
    <p:extLst>
      <p:ext uri="{BB962C8B-B14F-4D97-AF65-F5344CB8AC3E}">
        <p14:creationId xmlns:p14="http://schemas.microsoft.com/office/powerpoint/2010/main" val="1365456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1708C138-8907-A5D0-8FA3-F4F75A849704}"/>
              </a:ext>
            </a:extLst>
          </p:cNvPr>
          <p:cNvGrpSpPr/>
          <p:nvPr/>
        </p:nvGrpSpPr>
        <p:grpSpPr>
          <a:xfrm>
            <a:off x="928134" y="440875"/>
            <a:ext cx="10312482" cy="5661232"/>
            <a:chOff x="405079" y="247147"/>
            <a:chExt cx="10312482" cy="5661232"/>
          </a:xfrm>
        </p:grpSpPr>
        <p:grpSp>
          <p:nvGrpSpPr>
            <p:cNvPr id="14" name="Group 13">
              <a:extLst>
                <a:ext uri="{FF2B5EF4-FFF2-40B4-BE49-F238E27FC236}">
                  <a16:creationId xmlns:a16="http://schemas.microsoft.com/office/drawing/2014/main" id="{A108AEDB-FBF8-C43C-EF70-379E5AE260F7}"/>
                </a:ext>
              </a:extLst>
            </p:cNvPr>
            <p:cNvGrpSpPr/>
            <p:nvPr/>
          </p:nvGrpSpPr>
          <p:grpSpPr>
            <a:xfrm>
              <a:off x="1932823" y="949621"/>
              <a:ext cx="8784738" cy="4958757"/>
              <a:chOff x="1281895" y="510152"/>
              <a:chExt cx="8784738" cy="4958757"/>
            </a:xfrm>
          </p:grpSpPr>
          <p:pic>
            <p:nvPicPr>
              <p:cNvPr id="4" name="Picture 3" descr="A graph of a graph showing a red and blue line&#10;&#10;AI-generated content may be incorrect.">
                <a:extLst>
                  <a:ext uri="{FF2B5EF4-FFF2-40B4-BE49-F238E27FC236}">
                    <a16:creationId xmlns:a16="http://schemas.microsoft.com/office/drawing/2014/main" id="{03A3C7FE-92E1-A11B-7C6D-455B3CF8B760}"/>
                  </a:ext>
                </a:extLst>
              </p:cNvPr>
              <p:cNvPicPr>
                <a:picLocks noChangeAspect="1"/>
              </p:cNvPicPr>
              <p:nvPr/>
            </p:nvPicPr>
            <p:blipFill>
              <a:blip r:embed="rId3"/>
              <a:srcRect l="10174" b="9622"/>
              <a:stretch>
                <a:fillRect/>
              </a:stretch>
            </p:blipFill>
            <p:spPr>
              <a:xfrm>
                <a:off x="1728061" y="510152"/>
                <a:ext cx="3124605" cy="2256295"/>
              </a:xfrm>
              <a:prstGeom prst="rect">
                <a:avLst/>
              </a:prstGeom>
            </p:spPr>
          </p:pic>
          <p:pic>
            <p:nvPicPr>
              <p:cNvPr id="5" name="Picture 4" descr="A graph showing different colors of the same color&#10;&#10;AI-generated content may be incorrect.">
                <a:extLst>
                  <a:ext uri="{FF2B5EF4-FFF2-40B4-BE49-F238E27FC236}">
                    <a16:creationId xmlns:a16="http://schemas.microsoft.com/office/drawing/2014/main" id="{52B920E4-3AD8-03FA-1B4A-4288213C4A64}"/>
                  </a:ext>
                </a:extLst>
              </p:cNvPr>
              <p:cNvPicPr>
                <a:picLocks noChangeAspect="1"/>
              </p:cNvPicPr>
              <p:nvPr/>
            </p:nvPicPr>
            <p:blipFill>
              <a:blip r:embed="rId4"/>
              <a:stretch>
                <a:fillRect/>
              </a:stretch>
            </p:blipFill>
            <p:spPr>
              <a:xfrm>
                <a:off x="4781226" y="658678"/>
                <a:ext cx="2988589" cy="2115518"/>
              </a:xfrm>
              <a:prstGeom prst="rect">
                <a:avLst/>
              </a:prstGeom>
            </p:spPr>
          </p:pic>
          <p:pic>
            <p:nvPicPr>
              <p:cNvPr id="7" name="Picture 6" descr="A red blue and white graph&#10;&#10;AI-generated content may be incorrect.">
                <a:extLst>
                  <a:ext uri="{FF2B5EF4-FFF2-40B4-BE49-F238E27FC236}">
                    <a16:creationId xmlns:a16="http://schemas.microsoft.com/office/drawing/2014/main" id="{9676CD7D-2140-167E-2918-BF6B51D15B46}"/>
                  </a:ext>
                </a:extLst>
              </p:cNvPr>
              <p:cNvPicPr>
                <a:picLocks noChangeAspect="1"/>
              </p:cNvPicPr>
              <p:nvPr/>
            </p:nvPicPr>
            <p:blipFill>
              <a:blip r:embed="rId5"/>
              <a:srcRect b="2723"/>
              <a:stretch>
                <a:fillRect/>
              </a:stretch>
            </p:blipFill>
            <p:spPr>
              <a:xfrm>
                <a:off x="1743559" y="2750949"/>
                <a:ext cx="3109107" cy="2312322"/>
              </a:xfrm>
              <a:prstGeom prst="rect">
                <a:avLst/>
              </a:prstGeom>
            </p:spPr>
          </p:pic>
          <p:pic>
            <p:nvPicPr>
              <p:cNvPr id="6" name="Picture 5" descr="A red and blue gradient with black lines&#10;&#10;AI-generated content may be incorrect.">
                <a:extLst>
                  <a:ext uri="{FF2B5EF4-FFF2-40B4-BE49-F238E27FC236}">
                    <a16:creationId xmlns:a16="http://schemas.microsoft.com/office/drawing/2014/main" id="{E1C333DF-02A5-108C-FBF0-FB0136DA4548}"/>
                  </a:ext>
                </a:extLst>
              </p:cNvPr>
              <p:cNvPicPr>
                <a:picLocks noChangeAspect="1"/>
              </p:cNvPicPr>
              <p:nvPr/>
            </p:nvPicPr>
            <p:blipFill>
              <a:blip r:embed="rId6"/>
              <a:srcRect t="3389"/>
              <a:stretch>
                <a:fillRect/>
              </a:stretch>
            </p:blipFill>
            <p:spPr>
              <a:xfrm>
                <a:off x="4789976" y="2785285"/>
                <a:ext cx="2979840" cy="2312321"/>
              </a:xfrm>
              <a:prstGeom prst="rect">
                <a:avLst/>
              </a:prstGeom>
            </p:spPr>
          </p:pic>
          <p:sp>
            <p:nvSpPr>
              <p:cNvPr id="9" name="TextBox 8">
                <a:extLst>
                  <a:ext uri="{FF2B5EF4-FFF2-40B4-BE49-F238E27FC236}">
                    <a16:creationId xmlns:a16="http://schemas.microsoft.com/office/drawing/2014/main" id="{A95EE285-7830-78C7-0B56-5627172E19D7}"/>
                  </a:ext>
                </a:extLst>
              </p:cNvPr>
              <p:cNvSpPr txBox="1"/>
              <p:nvPr/>
            </p:nvSpPr>
            <p:spPr>
              <a:xfrm>
                <a:off x="3104087" y="5007244"/>
                <a:ext cx="3633174" cy="461665"/>
              </a:xfrm>
              <a:prstGeom prst="rect">
                <a:avLst/>
              </a:prstGeom>
              <a:noFill/>
            </p:spPr>
            <p:txBody>
              <a:bodyPr wrap="none" rtlCol="0">
                <a:spAutoFit/>
              </a:bodyPr>
              <a:lstStyle/>
              <a:p>
                <a:r>
                  <a:rPr lang="en-US" sz="2400" dirty="0"/>
                  <a:t>R</a:t>
                </a:r>
                <a:r>
                  <a:rPr lang="en-US" sz="2400" baseline="-25000" dirty="0"/>
                  <a:t>e</a:t>
                </a:r>
                <a:r>
                  <a:rPr lang="en-US" sz="2400" dirty="0"/>
                  <a:t> of introduced pathogen</a:t>
                </a:r>
              </a:p>
            </p:txBody>
          </p:sp>
          <p:sp>
            <p:nvSpPr>
              <p:cNvPr id="10" name="TextBox 9">
                <a:extLst>
                  <a:ext uri="{FF2B5EF4-FFF2-40B4-BE49-F238E27FC236}">
                    <a16:creationId xmlns:a16="http://schemas.microsoft.com/office/drawing/2014/main" id="{E72D797F-F0EE-0206-D9AF-BCEB1B885F9F}"/>
                  </a:ext>
                </a:extLst>
              </p:cNvPr>
              <p:cNvSpPr txBox="1"/>
              <p:nvPr/>
            </p:nvSpPr>
            <p:spPr>
              <a:xfrm rot="16200000">
                <a:off x="-291612" y="2520117"/>
                <a:ext cx="3608680" cy="461665"/>
              </a:xfrm>
              <a:prstGeom prst="rect">
                <a:avLst/>
              </a:prstGeom>
              <a:noFill/>
            </p:spPr>
            <p:txBody>
              <a:bodyPr wrap="none" rtlCol="0">
                <a:spAutoFit/>
              </a:bodyPr>
              <a:lstStyle/>
              <a:p>
                <a:r>
                  <a:rPr lang="en-US" sz="2400" dirty="0"/>
                  <a:t>Log10 spillover rate, year</a:t>
                </a:r>
                <a:r>
                  <a:rPr lang="en-US" sz="2400" baseline="30000" dirty="0"/>
                  <a:t>-1</a:t>
                </a:r>
                <a:endParaRPr lang="en-US" sz="2400" dirty="0"/>
              </a:p>
            </p:txBody>
          </p:sp>
          <p:pic>
            <p:nvPicPr>
              <p:cNvPr id="13" name="Picture 12" descr="A red and blue gradient with black numbers&#10;&#10;AI-generated content may be incorrect.">
                <a:extLst>
                  <a:ext uri="{FF2B5EF4-FFF2-40B4-BE49-F238E27FC236}">
                    <a16:creationId xmlns:a16="http://schemas.microsoft.com/office/drawing/2014/main" id="{F06BB0F8-81A5-D254-FADC-63D89F76B7EE}"/>
                  </a:ext>
                </a:extLst>
              </p:cNvPr>
              <p:cNvPicPr>
                <a:picLocks noChangeAspect="1"/>
              </p:cNvPicPr>
              <p:nvPr/>
            </p:nvPicPr>
            <p:blipFill>
              <a:blip r:embed="rId7"/>
              <a:stretch>
                <a:fillRect/>
              </a:stretch>
            </p:blipFill>
            <p:spPr>
              <a:xfrm>
                <a:off x="7890332" y="2390613"/>
                <a:ext cx="1190893" cy="1648929"/>
              </a:xfrm>
              <a:prstGeom prst="rect">
                <a:avLst/>
              </a:prstGeom>
            </p:spPr>
          </p:pic>
          <p:sp>
            <p:nvSpPr>
              <p:cNvPr id="11" name="TextBox 10">
                <a:extLst>
                  <a:ext uri="{FF2B5EF4-FFF2-40B4-BE49-F238E27FC236}">
                    <a16:creationId xmlns:a16="http://schemas.microsoft.com/office/drawing/2014/main" id="{78947352-D9BD-04FC-A612-89AFE8C28012}"/>
                  </a:ext>
                </a:extLst>
              </p:cNvPr>
              <p:cNvSpPr txBox="1"/>
              <p:nvPr/>
            </p:nvSpPr>
            <p:spPr>
              <a:xfrm>
                <a:off x="7890332" y="2048401"/>
                <a:ext cx="2176301" cy="400110"/>
              </a:xfrm>
              <a:prstGeom prst="rect">
                <a:avLst/>
              </a:prstGeom>
              <a:noFill/>
            </p:spPr>
            <p:txBody>
              <a:bodyPr wrap="none" rtlCol="0">
                <a:spAutoFit/>
              </a:bodyPr>
              <a:lstStyle/>
              <a:p>
                <a:r>
                  <a:rPr lang="en-US" sz="2000" dirty="0"/>
                  <a:t>Log P(Emergence)</a:t>
                </a:r>
              </a:p>
            </p:txBody>
          </p:sp>
        </p:grpSp>
        <p:grpSp>
          <p:nvGrpSpPr>
            <p:cNvPr id="19" name="Group 18">
              <a:extLst>
                <a:ext uri="{FF2B5EF4-FFF2-40B4-BE49-F238E27FC236}">
                  <a16:creationId xmlns:a16="http://schemas.microsoft.com/office/drawing/2014/main" id="{03DA7B27-CCA8-15D2-32D1-5F479CE4B9EB}"/>
                </a:ext>
              </a:extLst>
            </p:cNvPr>
            <p:cNvGrpSpPr/>
            <p:nvPr/>
          </p:nvGrpSpPr>
          <p:grpSpPr>
            <a:xfrm>
              <a:off x="764384" y="460833"/>
              <a:ext cx="1245431" cy="5447546"/>
              <a:chOff x="64342" y="1011331"/>
              <a:chExt cx="1245431" cy="5447546"/>
            </a:xfrm>
          </p:grpSpPr>
          <p:cxnSp>
            <p:nvCxnSpPr>
              <p:cNvPr id="20" name="Straight Arrow Connector 19">
                <a:extLst>
                  <a:ext uri="{FF2B5EF4-FFF2-40B4-BE49-F238E27FC236}">
                    <a16:creationId xmlns:a16="http://schemas.microsoft.com/office/drawing/2014/main" id="{FCE2A20C-5D46-82FC-388C-118EA7A2D79D}"/>
                  </a:ext>
                </a:extLst>
              </p:cNvPr>
              <p:cNvCxnSpPr>
                <a:cxnSpLocks/>
              </p:cNvCxnSpPr>
              <p:nvPr/>
            </p:nvCxnSpPr>
            <p:spPr>
              <a:xfrm>
                <a:off x="633675" y="1338473"/>
                <a:ext cx="0" cy="5031639"/>
              </a:xfrm>
              <a:prstGeom prst="straightConnector1">
                <a:avLst/>
              </a:prstGeom>
              <a:ln w="50800">
                <a:solidFill>
                  <a:srgbClr val="00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6ACEEC50-6CED-5BDB-9DDF-2FA52C313B46}"/>
                  </a:ext>
                </a:extLst>
              </p:cNvPr>
              <p:cNvSpPr txBox="1"/>
              <p:nvPr/>
            </p:nvSpPr>
            <p:spPr>
              <a:xfrm rot="16200000">
                <a:off x="-2428598" y="3504271"/>
                <a:ext cx="5447546" cy="461665"/>
              </a:xfrm>
              <a:prstGeom prst="rect">
                <a:avLst/>
              </a:prstGeom>
              <a:noFill/>
            </p:spPr>
            <p:txBody>
              <a:bodyPr wrap="square" rtlCol="0">
                <a:spAutoFit/>
              </a:bodyPr>
              <a:lstStyle/>
              <a:p>
                <a:r>
                  <a:rPr lang="en-US" sz="2400" dirty="0"/>
                  <a:t>Beneficial mutation rate (infection</a:t>
                </a:r>
                <a:r>
                  <a:rPr lang="en-US" sz="2400" baseline="30000" dirty="0"/>
                  <a:t>-1</a:t>
                </a:r>
                <a:r>
                  <a:rPr lang="en-US" sz="2400" dirty="0"/>
                  <a:t>), 𝝁</a:t>
                </a:r>
              </a:p>
            </p:txBody>
          </p:sp>
          <p:sp>
            <p:nvSpPr>
              <p:cNvPr id="22" name="TextBox 21">
                <a:extLst>
                  <a:ext uri="{FF2B5EF4-FFF2-40B4-BE49-F238E27FC236}">
                    <a16:creationId xmlns:a16="http://schemas.microsoft.com/office/drawing/2014/main" id="{9F9704C2-9CB1-8628-F330-F196797E5ABE}"/>
                  </a:ext>
                </a:extLst>
              </p:cNvPr>
              <p:cNvSpPr txBox="1"/>
              <p:nvPr/>
            </p:nvSpPr>
            <p:spPr>
              <a:xfrm>
                <a:off x="615352" y="2648271"/>
                <a:ext cx="694421" cy="461665"/>
              </a:xfrm>
              <a:prstGeom prst="rect">
                <a:avLst/>
              </a:prstGeom>
              <a:noFill/>
            </p:spPr>
            <p:txBody>
              <a:bodyPr wrap="none" rtlCol="0">
                <a:spAutoFit/>
              </a:bodyPr>
              <a:lstStyle/>
              <a:p>
                <a:r>
                  <a:rPr lang="en-US" sz="2400" dirty="0"/>
                  <a:t>10</a:t>
                </a:r>
                <a:r>
                  <a:rPr lang="en-US" sz="2400" baseline="30000" dirty="0"/>
                  <a:t>-4</a:t>
                </a:r>
                <a:endParaRPr lang="en-US" sz="2400" dirty="0"/>
              </a:p>
            </p:txBody>
          </p:sp>
          <p:sp>
            <p:nvSpPr>
              <p:cNvPr id="23" name="TextBox 22">
                <a:extLst>
                  <a:ext uri="{FF2B5EF4-FFF2-40B4-BE49-F238E27FC236}">
                    <a16:creationId xmlns:a16="http://schemas.microsoft.com/office/drawing/2014/main" id="{88768F2B-9D89-5A53-9F8B-7996915E188F}"/>
                  </a:ext>
                </a:extLst>
              </p:cNvPr>
              <p:cNvSpPr txBox="1"/>
              <p:nvPr/>
            </p:nvSpPr>
            <p:spPr>
              <a:xfrm>
                <a:off x="615352" y="4805924"/>
                <a:ext cx="694421" cy="461665"/>
              </a:xfrm>
              <a:prstGeom prst="rect">
                <a:avLst/>
              </a:prstGeom>
              <a:noFill/>
            </p:spPr>
            <p:txBody>
              <a:bodyPr wrap="none" rtlCol="0">
                <a:spAutoFit/>
              </a:bodyPr>
              <a:lstStyle/>
              <a:p>
                <a:r>
                  <a:rPr lang="en-US" sz="2400" dirty="0"/>
                  <a:t>10</a:t>
                </a:r>
                <a:r>
                  <a:rPr lang="en-US" sz="2400" baseline="30000" dirty="0"/>
                  <a:t>-3</a:t>
                </a:r>
                <a:endParaRPr lang="en-US" sz="2400" dirty="0"/>
              </a:p>
            </p:txBody>
          </p:sp>
        </p:grpSp>
        <p:grpSp>
          <p:nvGrpSpPr>
            <p:cNvPr id="24" name="Group 23">
              <a:extLst>
                <a:ext uri="{FF2B5EF4-FFF2-40B4-BE49-F238E27FC236}">
                  <a16:creationId xmlns:a16="http://schemas.microsoft.com/office/drawing/2014/main" id="{95AF7D1D-F11A-E048-7B77-55B8B7322135}"/>
                </a:ext>
              </a:extLst>
            </p:cNvPr>
            <p:cNvGrpSpPr/>
            <p:nvPr/>
          </p:nvGrpSpPr>
          <p:grpSpPr>
            <a:xfrm>
              <a:off x="405079" y="692509"/>
              <a:ext cx="9854666" cy="477417"/>
              <a:chOff x="1542098" y="935612"/>
              <a:chExt cx="9854666" cy="477417"/>
            </a:xfrm>
          </p:grpSpPr>
          <p:sp>
            <p:nvSpPr>
              <p:cNvPr id="25" name="TextBox 24">
                <a:extLst>
                  <a:ext uri="{FF2B5EF4-FFF2-40B4-BE49-F238E27FC236}">
                    <a16:creationId xmlns:a16="http://schemas.microsoft.com/office/drawing/2014/main" id="{377A20C6-E4EB-9601-614F-88CFB0B62E00}"/>
                  </a:ext>
                </a:extLst>
              </p:cNvPr>
              <p:cNvSpPr txBox="1"/>
              <p:nvPr/>
            </p:nvSpPr>
            <p:spPr>
              <a:xfrm>
                <a:off x="1542098" y="951364"/>
                <a:ext cx="9854666" cy="461665"/>
              </a:xfrm>
              <a:prstGeom prst="rect">
                <a:avLst/>
              </a:prstGeom>
              <a:noFill/>
            </p:spPr>
            <p:txBody>
              <a:bodyPr wrap="square" rtlCol="0">
                <a:spAutoFit/>
              </a:bodyPr>
              <a:lstStyle/>
              <a:p>
                <a:pPr algn="ctr"/>
                <a:r>
                  <a:rPr lang="en-US" sz="2400" dirty="0"/>
                  <a:t>0.05                    	               0.1           </a:t>
                </a:r>
              </a:p>
            </p:txBody>
          </p:sp>
          <p:cxnSp>
            <p:nvCxnSpPr>
              <p:cNvPr id="26" name="Straight Arrow Connector 25">
                <a:extLst>
                  <a:ext uri="{FF2B5EF4-FFF2-40B4-BE49-F238E27FC236}">
                    <a16:creationId xmlns:a16="http://schemas.microsoft.com/office/drawing/2014/main" id="{7F3F68C5-300E-308F-6637-308B4AE80149}"/>
                  </a:ext>
                </a:extLst>
              </p:cNvPr>
              <p:cNvCxnSpPr>
                <a:cxnSpLocks/>
              </p:cNvCxnSpPr>
              <p:nvPr/>
            </p:nvCxnSpPr>
            <p:spPr>
              <a:xfrm flipV="1">
                <a:off x="3145688" y="935612"/>
                <a:ext cx="6913218" cy="16303"/>
              </a:xfrm>
              <a:prstGeom prst="straightConnector1">
                <a:avLst/>
              </a:prstGeom>
              <a:ln w="50800">
                <a:solidFill>
                  <a:srgbClr val="00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sp>
          <p:nvSpPr>
            <p:cNvPr id="29" name="TextBox 28">
              <a:extLst>
                <a:ext uri="{FF2B5EF4-FFF2-40B4-BE49-F238E27FC236}">
                  <a16:creationId xmlns:a16="http://schemas.microsoft.com/office/drawing/2014/main" id="{9332B48A-40EB-DFA4-B971-D5A590E4395A}"/>
                </a:ext>
              </a:extLst>
            </p:cNvPr>
            <p:cNvSpPr txBox="1"/>
            <p:nvPr/>
          </p:nvSpPr>
          <p:spPr>
            <a:xfrm>
              <a:off x="2224003" y="247147"/>
              <a:ext cx="6098582" cy="461665"/>
            </a:xfrm>
            <a:prstGeom prst="rect">
              <a:avLst/>
            </a:prstGeom>
            <a:noFill/>
          </p:spPr>
          <p:txBody>
            <a:bodyPr wrap="square">
              <a:spAutoFit/>
            </a:bodyPr>
            <a:lstStyle/>
            <a:p>
              <a:pPr algn="ctr"/>
              <a:r>
                <a:rPr lang="en-US" sz="2400" dirty="0"/>
                <a:t>Increase in fitness with mutation, 𝛔 </a:t>
              </a:r>
            </a:p>
          </p:txBody>
        </p:sp>
      </p:grpSp>
    </p:spTree>
    <p:extLst>
      <p:ext uri="{BB962C8B-B14F-4D97-AF65-F5344CB8AC3E}">
        <p14:creationId xmlns:p14="http://schemas.microsoft.com/office/powerpoint/2010/main" val="2050536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number of red and blue lines&#10;&#10;AI-generated content may be incorrect.">
            <a:extLst>
              <a:ext uri="{FF2B5EF4-FFF2-40B4-BE49-F238E27FC236}">
                <a16:creationId xmlns:a16="http://schemas.microsoft.com/office/drawing/2014/main" id="{50168BED-693B-EC22-8D02-60088A235FA1}"/>
              </a:ext>
            </a:extLst>
          </p:cNvPr>
          <p:cNvPicPr>
            <a:picLocks noChangeAspect="1"/>
          </p:cNvPicPr>
          <p:nvPr/>
        </p:nvPicPr>
        <p:blipFill>
          <a:blip r:embed="rId3"/>
          <a:stretch>
            <a:fillRect/>
          </a:stretch>
        </p:blipFill>
        <p:spPr>
          <a:xfrm>
            <a:off x="0" y="4916"/>
            <a:ext cx="8240889" cy="6571941"/>
          </a:xfrm>
          <a:prstGeom prst="rect">
            <a:avLst/>
          </a:prstGeom>
        </p:spPr>
      </p:pic>
    </p:spTree>
    <p:extLst>
      <p:ext uri="{BB962C8B-B14F-4D97-AF65-F5344CB8AC3E}">
        <p14:creationId xmlns:p14="http://schemas.microsoft.com/office/powerpoint/2010/main" val="2712290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with different colored lines&#10;&#10;AI-generated content may be incorrect.">
            <a:extLst>
              <a:ext uri="{FF2B5EF4-FFF2-40B4-BE49-F238E27FC236}">
                <a16:creationId xmlns:a16="http://schemas.microsoft.com/office/drawing/2014/main" id="{4FD4DCA4-7830-DE40-1CD4-552DAD8E8407}"/>
              </a:ext>
            </a:extLst>
          </p:cNvPr>
          <p:cNvPicPr>
            <a:picLocks noGrp="1" noChangeAspect="1"/>
          </p:cNvPicPr>
          <p:nvPr>
            <p:ph idx="1"/>
          </p:nvPr>
        </p:nvPicPr>
        <p:blipFill>
          <a:blip r:embed="rId2"/>
          <a:stretch>
            <a:fillRect/>
          </a:stretch>
        </p:blipFill>
        <p:spPr>
          <a:xfrm>
            <a:off x="0" y="194574"/>
            <a:ext cx="9717259" cy="4351338"/>
          </a:xfrm>
        </p:spPr>
      </p:pic>
    </p:spTree>
    <p:extLst>
      <p:ext uri="{BB962C8B-B14F-4D97-AF65-F5344CB8AC3E}">
        <p14:creationId xmlns:p14="http://schemas.microsoft.com/office/powerpoint/2010/main" val="2708735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D552788-5371-D3D1-EAAB-41D569B4F476}"/>
              </a:ext>
            </a:extLst>
          </p:cNvPr>
          <p:cNvGrpSpPr/>
          <p:nvPr/>
        </p:nvGrpSpPr>
        <p:grpSpPr>
          <a:xfrm>
            <a:off x="16474" y="1"/>
            <a:ext cx="11744601" cy="3857296"/>
            <a:chOff x="16475" y="1"/>
            <a:chExt cx="9976704" cy="2889956"/>
          </a:xfrm>
        </p:grpSpPr>
        <p:pic>
          <p:nvPicPr>
            <p:cNvPr id="4" name="Picture 3" descr="A graph with different colored lines&#10;&#10;AI-generated content may be incorrect.">
              <a:extLst>
                <a:ext uri="{FF2B5EF4-FFF2-40B4-BE49-F238E27FC236}">
                  <a16:creationId xmlns:a16="http://schemas.microsoft.com/office/drawing/2014/main" id="{00C42118-4879-6294-0CCA-51E2381DE4F6}"/>
                </a:ext>
              </a:extLst>
            </p:cNvPr>
            <p:cNvPicPr>
              <a:picLocks noChangeAspect="1"/>
            </p:cNvPicPr>
            <p:nvPr/>
          </p:nvPicPr>
          <p:blipFill>
            <a:blip r:embed="rId2"/>
            <a:stretch>
              <a:fillRect/>
            </a:stretch>
          </p:blipFill>
          <p:spPr>
            <a:xfrm>
              <a:off x="16475" y="1"/>
              <a:ext cx="5123814" cy="2889956"/>
            </a:xfrm>
            <a:prstGeom prst="rect">
              <a:avLst/>
            </a:prstGeom>
          </p:spPr>
        </p:pic>
        <p:pic>
          <p:nvPicPr>
            <p:cNvPr id="5" name="Picture 4" descr="A graph showing the value of a number of years&#10;&#10;AI-generated content may be incorrect.">
              <a:extLst>
                <a:ext uri="{FF2B5EF4-FFF2-40B4-BE49-F238E27FC236}">
                  <a16:creationId xmlns:a16="http://schemas.microsoft.com/office/drawing/2014/main" id="{07AD2B3B-40C9-493F-9E35-B16219E3277D}"/>
                </a:ext>
              </a:extLst>
            </p:cNvPr>
            <p:cNvPicPr>
              <a:picLocks noChangeAspect="1"/>
            </p:cNvPicPr>
            <p:nvPr/>
          </p:nvPicPr>
          <p:blipFill>
            <a:blip r:embed="rId3"/>
            <a:stretch>
              <a:fillRect/>
            </a:stretch>
          </p:blipFill>
          <p:spPr>
            <a:xfrm>
              <a:off x="5140289" y="50801"/>
              <a:ext cx="4852890" cy="2720622"/>
            </a:xfrm>
            <a:prstGeom prst="rect">
              <a:avLst/>
            </a:prstGeom>
          </p:spPr>
        </p:pic>
      </p:grpSp>
    </p:spTree>
    <p:extLst>
      <p:ext uri="{BB962C8B-B14F-4D97-AF65-F5344CB8AC3E}">
        <p14:creationId xmlns:p14="http://schemas.microsoft.com/office/powerpoint/2010/main" val="3400792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83ADE59-0FCA-447C-4CFB-A9E0AEB8E1C5}"/>
              </a:ext>
            </a:extLst>
          </p:cNvPr>
          <p:cNvPicPr>
            <a:picLocks noChangeAspect="1"/>
          </p:cNvPicPr>
          <p:nvPr/>
        </p:nvPicPr>
        <p:blipFill>
          <a:blip r:embed="rId2"/>
          <a:stretch>
            <a:fillRect/>
          </a:stretch>
        </p:blipFill>
        <p:spPr>
          <a:xfrm>
            <a:off x="1419577" y="722502"/>
            <a:ext cx="9518170" cy="4831631"/>
          </a:xfrm>
          <a:prstGeom prst="rect">
            <a:avLst/>
          </a:prstGeom>
        </p:spPr>
      </p:pic>
    </p:spTree>
    <p:extLst>
      <p:ext uri="{BB962C8B-B14F-4D97-AF65-F5344CB8AC3E}">
        <p14:creationId xmlns:p14="http://schemas.microsoft.com/office/powerpoint/2010/main" val="1005907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diagram of a number of samples&#10;&#10;AI-generated content may be incorrect.">
            <a:extLst>
              <a:ext uri="{FF2B5EF4-FFF2-40B4-BE49-F238E27FC236}">
                <a16:creationId xmlns:a16="http://schemas.microsoft.com/office/drawing/2014/main" id="{B493331A-A133-60FC-7A49-64DA5C4CAA69}"/>
              </a:ext>
            </a:extLst>
          </p:cNvPr>
          <p:cNvPicPr>
            <a:picLocks noGrp="1" noChangeAspect="1"/>
          </p:cNvPicPr>
          <p:nvPr>
            <p:ph idx="1"/>
          </p:nvPr>
        </p:nvPicPr>
        <p:blipFill>
          <a:blip r:embed="rId2"/>
          <a:stretch>
            <a:fillRect/>
          </a:stretch>
        </p:blipFill>
        <p:spPr>
          <a:xfrm>
            <a:off x="1392668" y="700957"/>
            <a:ext cx="8620576" cy="6138978"/>
          </a:xfrm>
        </p:spPr>
      </p:pic>
    </p:spTree>
    <p:extLst>
      <p:ext uri="{BB962C8B-B14F-4D97-AF65-F5344CB8AC3E}">
        <p14:creationId xmlns:p14="http://schemas.microsoft.com/office/powerpoint/2010/main" val="1815986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DE198815-C78B-62C5-E1F5-7D11F72C5B07}"/>
              </a:ext>
            </a:extLst>
          </p:cNvPr>
          <p:cNvGrpSpPr/>
          <p:nvPr/>
        </p:nvGrpSpPr>
        <p:grpSpPr>
          <a:xfrm>
            <a:off x="1601521" y="1231913"/>
            <a:ext cx="6966354" cy="4250186"/>
            <a:chOff x="1601521" y="1231913"/>
            <a:chExt cx="6966354" cy="4250186"/>
          </a:xfrm>
        </p:grpSpPr>
        <p:pic>
          <p:nvPicPr>
            <p:cNvPr id="11" name="Picture 10" descr="A diagram of a red blue and white diagram&#10;&#10;AI-generated content may be incorrect.">
              <a:extLst>
                <a:ext uri="{FF2B5EF4-FFF2-40B4-BE49-F238E27FC236}">
                  <a16:creationId xmlns:a16="http://schemas.microsoft.com/office/drawing/2014/main" id="{122EF83B-56AA-E926-915B-140BBCE006A6}"/>
                </a:ext>
              </a:extLst>
            </p:cNvPr>
            <p:cNvPicPr>
              <a:picLocks noChangeAspect="1"/>
            </p:cNvPicPr>
            <p:nvPr/>
          </p:nvPicPr>
          <p:blipFill>
            <a:blip r:embed="rId3"/>
            <a:srcRect r="12411"/>
            <a:stretch>
              <a:fillRect/>
            </a:stretch>
          </p:blipFill>
          <p:spPr>
            <a:xfrm>
              <a:off x="1601521" y="1231913"/>
              <a:ext cx="6807788" cy="4250186"/>
            </a:xfrm>
            <a:prstGeom prst="rect">
              <a:avLst/>
            </a:prstGeom>
          </p:spPr>
        </p:pic>
        <p:pic>
          <p:nvPicPr>
            <p:cNvPr id="13" name="Picture 12" descr="A screenshot of a graph&#10;&#10;AI-generated content may be incorrect.">
              <a:extLst>
                <a:ext uri="{FF2B5EF4-FFF2-40B4-BE49-F238E27FC236}">
                  <a16:creationId xmlns:a16="http://schemas.microsoft.com/office/drawing/2014/main" id="{4C5DF17C-B6E9-DDED-7685-1E0333A6B69C}"/>
                </a:ext>
              </a:extLst>
            </p:cNvPr>
            <p:cNvPicPr>
              <a:picLocks noChangeAspect="1"/>
            </p:cNvPicPr>
            <p:nvPr/>
          </p:nvPicPr>
          <p:blipFill>
            <a:blip r:embed="rId4"/>
            <a:stretch>
              <a:fillRect/>
            </a:stretch>
          </p:blipFill>
          <p:spPr>
            <a:xfrm>
              <a:off x="7589713" y="2642911"/>
              <a:ext cx="978162" cy="2164443"/>
            </a:xfrm>
            <a:prstGeom prst="rect">
              <a:avLst/>
            </a:prstGeom>
          </p:spPr>
        </p:pic>
      </p:grpSp>
    </p:spTree>
    <p:extLst>
      <p:ext uri="{BB962C8B-B14F-4D97-AF65-F5344CB8AC3E}">
        <p14:creationId xmlns:p14="http://schemas.microsoft.com/office/powerpoint/2010/main" val="754214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69009E13-F8D4-3700-93E1-84D72DD6902C}"/>
              </a:ext>
            </a:extLst>
          </p:cNvPr>
          <p:cNvPicPr>
            <a:picLocks noChangeAspect="1"/>
          </p:cNvPicPr>
          <p:nvPr/>
        </p:nvPicPr>
        <p:blipFill>
          <a:blip r:embed="rId2"/>
          <a:stretch>
            <a:fillRect/>
          </a:stretch>
        </p:blipFill>
        <p:spPr>
          <a:xfrm>
            <a:off x="185195" y="1649022"/>
            <a:ext cx="8804116" cy="3848952"/>
          </a:xfrm>
          <a:prstGeom prst="rect">
            <a:avLst/>
          </a:prstGeom>
        </p:spPr>
      </p:pic>
    </p:spTree>
    <p:extLst>
      <p:ext uri="{BB962C8B-B14F-4D97-AF65-F5344CB8AC3E}">
        <p14:creationId xmlns:p14="http://schemas.microsoft.com/office/powerpoint/2010/main" val="593006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62FE17-2EBD-06AD-5D5F-C69D055202A9}"/>
              </a:ext>
            </a:extLst>
          </p:cNvPr>
          <p:cNvPicPr>
            <a:picLocks noChangeAspect="1"/>
          </p:cNvPicPr>
          <p:nvPr/>
        </p:nvPicPr>
        <p:blipFill>
          <a:blip r:embed="rId2"/>
          <a:srcRect l="84499" t="14787" r="716" b="38912"/>
          <a:stretch>
            <a:fillRect/>
          </a:stretch>
        </p:blipFill>
        <p:spPr>
          <a:xfrm>
            <a:off x="9573184" y="3429000"/>
            <a:ext cx="1041723" cy="1477069"/>
          </a:xfrm>
          <a:prstGeom prst="rect">
            <a:avLst/>
          </a:prstGeom>
        </p:spPr>
      </p:pic>
      <p:grpSp>
        <p:nvGrpSpPr>
          <p:cNvPr id="16" name="Group 15">
            <a:extLst>
              <a:ext uri="{FF2B5EF4-FFF2-40B4-BE49-F238E27FC236}">
                <a16:creationId xmlns:a16="http://schemas.microsoft.com/office/drawing/2014/main" id="{84E01670-9859-D4B1-D442-F30B9DE71D60}"/>
              </a:ext>
            </a:extLst>
          </p:cNvPr>
          <p:cNvGrpSpPr/>
          <p:nvPr/>
        </p:nvGrpSpPr>
        <p:grpSpPr>
          <a:xfrm>
            <a:off x="292629" y="1309526"/>
            <a:ext cx="11138293" cy="4776659"/>
            <a:chOff x="292629" y="1309526"/>
            <a:chExt cx="11138293" cy="4776659"/>
          </a:xfrm>
        </p:grpSpPr>
        <p:grpSp>
          <p:nvGrpSpPr>
            <p:cNvPr id="15" name="Group 14">
              <a:extLst>
                <a:ext uri="{FF2B5EF4-FFF2-40B4-BE49-F238E27FC236}">
                  <a16:creationId xmlns:a16="http://schemas.microsoft.com/office/drawing/2014/main" id="{559F7BCE-59FB-EE26-A470-C077859F1A6D}"/>
                </a:ext>
              </a:extLst>
            </p:cNvPr>
            <p:cNvGrpSpPr/>
            <p:nvPr/>
          </p:nvGrpSpPr>
          <p:grpSpPr>
            <a:xfrm>
              <a:off x="335663" y="1572102"/>
              <a:ext cx="11095259" cy="4514083"/>
              <a:chOff x="-127324" y="1171958"/>
              <a:chExt cx="11095259" cy="4514083"/>
            </a:xfrm>
          </p:grpSpPr>
          <p:pic>
            <p:nvPicPr>
              <p:cNvPr id="7" name="Picture 6">
                <a:extLst>
                  <a:ext uri="{FF2B5EF4-FFF2-40B4-BE49-F238E27FC236}">
                    <a16:creationId xmlns:a16="http://schemas.microsoft.com/office/drawing/2014/main" id="{8A00DB96-B20C-D5D8-E683-79BAE31314AF}"/>
                  </a:ext>
                </a:extLst>
              </p:cNvPr>
              <p:cNvPicPr>
                <a:picLocks noChangeAspect="1"/>
              </p:cNvPicPr>
              <p:nvPr/>
            </p:nvPicPr>
            <p:blipFill>
              <a:blip r:embed="rId3"/>
              <a:srcRect r="49799"/>
              <a:stretch>
                <a:fillRect/>
              </a:stretch>
            </p:blipFill>
            <p:spPr>
              <a:xfrm>
                <a:off x="-127324" y="1171958"/>
                <a:ext cx="5183530" cy="4514083"/>
              </a:xfrm>
              <a:prstGeom prst="rect">
                <a:avLst/>
              </a:prstGeom>
            </p:spPr>
          </p:pic>
          <p:pic>
            <p:nvPicPr>
              <p:cNvPr id="9" name="Picture 8" descr="A screenshot of a graph&#10;&#10;AI-generated content may be incorrect.">
                <a:extLst>
                  <a:ext uri="{FF2B5EF4-FFF2-40B4-BE49-F238E27FC236}">
                    <a16:creationId xmlns:a16="http://schemas.microsoft.com/office/drawing/2014/main" id="{EC602F71-5359-EC58-168F-C6F5F635FA31}"/>
                  </a:ext>
                </a:extLst>
              </p:cNvPr>
              <p:cNvPicPr>
                <a:picLocks noChangeAspect="1"/>
              </p:cNvPicPr>
              <p:nvPr/>
            </p:nvPicPr>
            <p:blipFill>
              <a:blip r:embed="rId4"/>
              <a:stretch>
                <a:fillRect/>
              </a:stretch>
            </p:blipFill>
            <p:spPr>
              <a:xfrm>
                <a:off x="4499770" y="2349555"/>
                <a:ext cx="1155348" cy="2556514"/>
              </a:xfrm>
              <a:prstGeom prst="rect">
                <a:avLst/>
              </a:prstGeom>
            </p:spPr>
          </p:pic>
          <p:pic>
            <p:nvPicPr>
              <p:cNvPr id="10" name="Picture 9">
                <a:extLst>
                  <a:ext uri="{FF2B5EF4-FFF2-40B4-BE49-F238E27FC236}">
                    <a16:creationId xmlns:a16="http://schemas.microsoft.com/office/drawing/2014/main" id="{3A5A0BF5-97C9-00B8-C389-A6B1EEE77C7D}"/>
                  </a:ext>
                </a:extLst>
              </p:cNvPr>
              <p:cNvPicPr>
                <a:picLocks noChangeAspect="1"/>
              </p:cNvPicPr>
              <p:nvPr/>
            </p:nvPicPr>
            <p:blipFill>
              <a:blip r:embed="rId3"/>
              <a:srcRect l="50201"/>
              <a:stretch>
                <a:fillRect/>
              </a:stretch>
            </p:blipFill>
            <p:spPr>
              <a:xfrm>
                <a:off x="5825924" y="1171958"/>
                <a:ext cx="5142011" cy="4514083"/>
              </a:xfrm>
              <a:prstGeom prst="rect">
                <a:avLst/>
              </a:prstGeom>
            </p:spPr>
          </p:pic>
          <p:pic>
            <p:nvPicPr>
              <p:cNvPr id="12" name="Picture 11">
                <a:extLst>
                  <a:ext uri="{FF2B5EF4-FFF2-40B4-BE49-F238E27FC236}">
                    <a16:creationId xmlns:a16="http://schemas.microsoft.com/office/drawing/2014/main" id="{6FD958B3-487B-A0A8-BBA0-E23054B749F3}"/>
                  </a:ext>
                </a:extLst>
              </p:cNvPr>
              <p:cNvPicPr>
                <a:picLocks noChangeAspect="1"/>
              </p:cNvPicPr>
              <p:nvPr/>
            </p:nvPicPr>
            <p:blipFill>
              <a:blip r:embed="rId5"/>
              <a:srcRect l="92927" t="33189" r="237" b="46963"/>
              <a:stretch>
                <a:fillRect/>
              </a:stretch>
            </p:blipFill>
            <p:spPr>
              <a:xfrm>
                <a:off x="9846197" y="3428999"/>
                <a:ext cx="1079263" cy="1369832"/>
              </a:xfrm>
              <a:prstGeom prst="rect">
                <a:avLst/>
              </a:prstGeom>
            </p:spPr>
          </p:pic>
        </p:grpSp>
        <p:sp>
          <p:nvSpPr>
            <p:cNvPr id="13" name="TextBox 12">
              <a:extLst>
                <a:ext uri="{FF2B5EF4-FFF2-40B4-BE49-F238E27FC236}">
                  <a16:creationId xmlns:a16="http://schemas.microsoft.com/office/drawing/2014/main" id="{BFC8D4C4-D783-4DCA-4712-57F7E109047E}"/>
                </a:ext>
              </a:extLst>
            </p:cNvPr>
            <p:cNvSpPr txBox="1"/>
            <p:nvPr/>
          </p:nvSpPr>
          <p:spPr>
            <a:xfrm>
              <a:off x="292629" y="1309526"/>
              <a:ext cx="424540" cy="400110"/>
            </a:xfrm>
            <a:prstGeom prst="rect">
              <a:avLst/>
            </a:prstGeom>
            <a:noFill/>
          </p:spPr>
          <p:txBody>
            <a:bodyPr wrap="none" rtlCol="0">
              <a:spAutoFit/>
            </a:bodyPr>
            <a:lstStyle/>
            <a:p>
              <a:r>
                <a:rPr lang="en-US" sz="2000" b="1" dirty="0"/>
                <a:t>A.</a:t>
              </a:r>
            </a:p>
          </p:txBody>
        </p:sp>
        <p:sp>
          <p:nvSpPr>
            <p:cNvPr id="14" name="TextBox 13">
              <a:extLst>
                <a:ext uri="{FF2B5EF4-FFF2-40B4-BE49-F238E27FC236}">
                  <a16:creationId xmlns:a16="http://schemas.microsoft.com/office/drawing/2014/main" id="{0D003EE3-4279-6DA2-9D09-5F27D56126BB}"/>
                </a:ext>
              </a:extLst>
            </p:cNvPr>
            <p:cNvSpPr txBox="1"/>
            <p:nvPr/>
          </p:nvSpPr>
          <p:spPr>
            <a:xfrm>
              <a:off x="6254618" y="1311799"/>
              <a:ext cx="418191" cy="400110"/>
            </a:xfrm>
            <a:prstGeom prst="rect">
              <a:avLst/>
            </a:prstGeom>
            <a:noFill/>
          </p:spPr>
          <p:txBody>
            <a:bodyPr wrap="none" rtlCol="0">
              <a:spAutoFit/>
            </a:bodyPr>
            <a:lstStyle/>
            <a:p>
              <a:r>
                <a:rPr lang="en-US" sz="2000" b="1" dirty="0"/>
                <a:t>B.</a:t>
              </a:r>
            </a:p>
          </p:txBody>
        </p:sp>
      </p:grpSp>
    </p:spTree>
    <p:extLst>
      <p:ext uri="{BB962C8B-B14F-4D97-AF65-F5344CB8AC3E}">
        <p14:creationId xmlns:p14="http://schemas.microsoft.com/office/powerpoint/2010/main" val="1445800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6044E4AC-981D-69D9-608F-D72DE807047A}"/>
              </a:ext>
            </a:extLst>
          </p:cNvPr>
          <p:cNvGrpSpPr/>
          <p:nvPr/>
        </p:nvGrpSpPr>
        <p:grpSpPr>
          <a:xfrm>
            <a:off x="2644762" y="1962078"/>
            <a:ext cx="7627827" cy="2680137"/>
            <a:chOff x="2644762" y="1962078"/>
            <a:chExt cx="7627827" cy="2680137"/>
          </a:xfrm>
        </p:grpSpPr>
        <p:grpSp>
          <p:nvGrpSpPr>
            <p:cNvPr id="7" name="Group 6">
              <a:extLst>
                <a:ext uri="{FF2B5EF4-FFF2-40B4-BE49-F238E27FC236}">
                  <a16:creationId xmlns:a16="http://schemas.microsoft.com/office/drawing/2014/main" id="{E57F72DD-6574-0A37-88A1-B4266C9FDF15}"/>
                </a:ext>
              </a:extLst>
            </p:cNvPr>
            <p:cNvGrpSpPr/>
            <p:nvPr/>
          </p:nvGrpSpPr>
          <p:grpSpPr>
            <a:xfrm>
              <a:off x="2644762" y="1962078"/>
              <a:ext cx="7627827" cy="2680137"/>
              <a:chOff x="2359342" y="2088931"/>
              <a:chExt cx="7627827" cy="2680137"/>
            </a:xfrm>
          </p:grpSpPr>
          <p:grpSp>
            <p:nvGrpSpPr>
              <p:cNvPr id="6" name="Group 5">
                <a:extLst>
                  <a:ext uri="{FF2B5EF4-FFF2-40B4-BE49-F238E27FC236}">
                    <a16:creationId xmlns:a16="http://schemas.microsoft.com/office/drawing/2014/main" id="{C8FE2CD9-0FE6-CBA7-5F82-4FAE6D30128E}"/>
                  </a:ext>
                </a:extLst>
              </p:cNvPr>
              <p:cNvGrpSpPr/>
              <p:nvPr/>
            </p:nvGrpSpPr>
            <p:grpSpPr>
              <a:xfrm>
                <a:off x="2359342" y="2088931"/>
                <a:ext cx="7627827" cy="2680137"/>
                <a:chOff x="2359342" y="2088931"/>
                <a:chExt cx="7627827" cy="2680137"/>
              </a:xfrm>
            </p:grpSpPr>
            <p:grpSp>
              <p:nvGrpSpPr>
                <p:cNvPr id="29" name="Group 28">
                  <a:extLst>
                    <a:ext uri="{FF2B5EF4-FFF2-40B4-BE49-F238E27FC236}">
                      <a16:creationId xmlns:a16="http://schemas.microsoft.com/office/drawing/2014/main" id="{C94BEB4F-9799-B601-B90D-BEE413204F78}"/>
                    </a:ext>
                  </a:extLst>
                </p:cNvPr>
                <p:cNvGrpSpPr/>
                <p:nvPr/>
              </p:nvGrpSpPr>
              <p:grpSpPr>
                <a:xfrm>
                  <a:off x="2359342" y="2088931"/>
                  <a:ext cx="7627827" cy="2680137"/>
                  <a:chOff x="2354372" y="2088931"/>
                  <a:chExt cx="7627827" cy="2680137"/>
                </a:xfrm>
              </p:grpSpPr>
              <p:pic>
                <p:nvPicPr>
                  <p:cNvPr id="22" name="Picture 21">
                    <a:extLst>
                      <a:ext uri="{FF2B5EF4-FFF2-40B4-BE49-F238E27FC236}">
                        <a16:creationId xmlns:a16="http://schemas.microsoft.com/office/drawing/2014/main" id="{5EC122F4-69F4-F40C-D0D6-8674E130E46E}"/>
                      </a:ext>
                    </a:extLst>
                  </p:cNvPr>
                  <p:cNvPicPr>
                    <a:picLocks noChangeAspect="1"/>
                  </p:cNvPicPr>
                  <p:nvPr/>
                </p:nvPicPr>
                <p:blipFill>
                  <a:blip r:embed="rId3"/>
                  <a:srcRect l="4160"/>
                  <a:stretch>
                    <a:fillRect/>
                  </a:stretch>
                </p:blipFill>
                <p:spPr>
                  <a:xfrm>
                    <a:off x="2533134" y="2088931"/>
                    <a:ext cx="7449065" cy="2680137"/>
                  </a:xfrm>
                  <a:prstGeom prst="rect">
                    <a:avLst/>
                  </a:prstGeom>
                </p:spPr>
              </p:pic>
              <p:sp>
                <p:nvSpPr>
                  <p:cNvPr id="23" name="TextBox 22">
                    <a:extLst>
                      <a:ext uri="{FF2B5EF4-FFF2-40B4-BE49-F238E27FC236}">
                        <a16:creationId xmlns:a16="http://schemas.microsoft.com/office/drawing/2014/main" id="{AA7F1A41-BD61-9DEF-3571-9ABF780EB3B7}"/>
                      </a:ext>
                    </a:extLst>
                  </p:cNvPr>
                  <p:cNvSpPr txBox="1"/>
                  <p:nvPr/>
                </p:nvSpPr>
                <p:spPr>
                  <a:xfrm>
                    <a:off x="2354372" y="4164234"/>
                    <a:ext cx="635964" cy="461665"/>
                  </a:xfrm>
                  <a:prstGeom prst="rect">
                    <a:avLst/>
                  </a:prstGeom>
                  <a:noFill/>
                </p:spPr>
                <p:txBody>
                  <a:bodyPr wrap="square" rtlCol="0">
                    <a:spAutoFit/>
                  </a:bodyPr>
                  <a:lstStyle/>
                  <a:p>
                    <a:r>
                      <a:rPr lang="en-US" sz="2400" dirty="0"/>
                      <a:t>0</a:t>
                    </a:r>
                  </a:p>
                </p:txBody>
              </p:sp>
              <p:cxnSp>
                <p:nvCxnSpPr>
                  <p:cNvPr id="26" name="Straight Connector 25">
                    <a:extLst>
                      <a:ext uri="{FF2B5EF4-FFF2-40B4-BE49-F238E27FC236}">
                        <a16:creationId xmlns:a16="http://schemas.microsoft.com/office/drawing/2014/main" id="{4BA46A37-B183-B57A-C9D5-5C52813940AA}"/>
                      </a:ext>
                    </a:extLst>
                  </p:cNvPr>
                  <p:cNvCxnSpPr>
                    <a:cxnSpLocks/>
                  </p:cNvCxnSpPr>
                  <p:nvPr/>
                </p:nvCxnSpPr>
                <p:spPr>
                  <a:xfrm>
                    <a:off x="2520787" y="3842957"/>
                    <a:ext cx="0" cy="23477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14E8A9D1-1E67-C3F6-DEC0-8CCA0AE2DDE0}"/>
                    </a:ext>
                  </a:extLst>
                </p:cNvPr>
                <p:cNvSpPr txBox="1"/>
                <p:nvPr/>
              </p:nvSpPr>
              <p:spPr>
                <a:xfrm>
                  <a:off x="3304763" y="4016179"/>
                  <a:ext cx="352840" cy="123111"/>
                </a:xfrm>
                <a:prstGeom prst="rect">
                  <a:avLst/>
                </a:prstGeom>
                <a:solidFill>
                  <a:schemeClr val="bg1"/>
                </a:solidFill>
              </p:spPr>
              <p:txBody>
                <a:bodyPr wrap="square" rtlCol="0">
                  <a:spAutoFit/>
                </a:bodyPr>
                <a:lstStyle/>
                <a:p>
                  <a:endParaRPr lang="en-US" sz="200" dirty="0"/>
                </a:p>
              </p:txBody>
            </p:sp>
            <p:sp>
              <p:nvSpPr>
                <p:cNvPr id="3" name="TextBox 2">
                  <a:extLst>
                    <a:ext uri="{FF2B5EF4-FFF2-40B4-BE49-F238E27FC236}">
                      <a16:creationId xmlns:a16="http://schemas.microsoft.com/office/drawing/2014/main" id="{FAF06B19-E0A9-1F2C-CD3B-2B5F715C9664}"/>
                    </a:ext>
                  </a:extLst>
                </p:cNvPr>
                <p:cNvSpPr txBox="1"/>
                <p:nvPr/>
              </p:nvSpPr>
              <p:spPr>
                <a:xfrm>
                  <a:off x="3916019" y="4016178"/>
                  <a:ext cx="352840" cy="123111"/>
                </a:xfrm>
                <a:prstGeom prst="rect">
                  <a:avLst/>
                </a:prstGeom>
                <a:solidFill>
                  <a:schemeClr val="bg1"/>
                </a:solidFill>
              </p:spPr>
              <p:txBody>
                <a:bodyPr wrap="square" rtlCol="0">
                  <a:spAutoFit/>
                </a:bodyPr>
                <a:lstStyle/>
                <a:p>
                  <a:endParaRPr lang="en-US" sz="200" dirty="0"/>
                </a:p>
              </p:txBody>
            </p:sp>
          </p:grpSp>
          <p:sp>
            <p:nvSpPr>
              <p:cNvPr id="5" name="TextBox 4">
                <a:extLst>
                  <a:ext uri="{FF2B5EF4-FFF2-40B4-BE49-F238E27FC236}">
                    <a16:creationId xmlns:a16="http://schemas.microsoft.com/office/drawing/2014/main" id="{A207111C-95C7-7DA7-24E6-0B50E93416BB}"/>
                  </a:ext>
                </a:extLst>
              </p:cNvPr>
              <p:cNvSpPr txBox="1"/>
              <p:nvPr/>
            </p:nvSpPr>
            <p:spPr>
              <a:xfrm>
                <a:off x="5325719" y="4019492"/>
                <a:ext cx="352840" cy="123111"/>
              </a:xfrm>
              <a:prstGeom prst="rect">
                <a:avLst/>
              </a:prstGeom>
              <a:solidFill>
                <a:schemeClr val="bg1"/>
              </a:solidFill>
            </p:spPr>
            <p:txBody>
              <a:bodyPr wrap="square" rtlCol="0">
                <a:spAutoFit/>
              </a:bodyPr>
              <a:lstStyle/>
              <a:p>
                <a:endParaRPr lang="en-US" sz="200" dirty="0"/>
              </a:p>
            </p:txBody>
          </p:sp>
        </p:grpSp>
        <p:sp>
          <p:nvSpPr>
            <p:cNvPr id="8" name="TextBox 7">
              <a:extLst>
                <a:ext uri="{FF2B5EF4-FFF2-40B4-BE49-F238E27FC236}">
                  <a16:creationId xmlns:a16="http://schemas.microsoft.com/office/drawing/2014/main" id="{CBBFB4DF-055C-350E-2896-92900FA861AF}"/>
                </a:ext>
              </a:extLst>
            </p:cNvPr>
            <p:cNvSpPr txBox="1"/>
            <p:nvPr/>
          </p:nvSpPr>
          <p:spPr>
            <a:xfrm>
              <a:off x="3432369" y="3757050"/>
              <a:ext cx="689612" cy="338554"/>
            </a:xfrm>
            <a:prstGeom prst="rect">
              <a:avLst/>
            </a:prstGeom>
            <a:noFill/>
          </p:spPr>
          <p:txBody>
            <a:bodyPr wrap="none" rtlCol="0">
              <a:spAutoFit/>
            </a:bodyPr>
            <a:lstStyle/>
            <a:p>
              <a:r>
                <a:rPr lang="en-US" sz="1600" dirty="0"/>
                <a:t>Small</a:t>
              </a:r>
            </a:p>
          </p:txBody>
        </p:sp>
        <p:sp>
          <p:nvSpPr>
            <p:cNvPr id="10" name="TextBox 9">
              <a:extLst>
                <a:ext uri="{FF2B5EF4-FFF2-40B4-BE49-F238E27FC236}">
                  <a16:creationId xmlns:a16="http://schemas.microsoft.com/office/drawing/2014/main" id="{3C8CE764-7226-AF1A-9ED5-7047655A464F}"/>
                </a:ext>
              </a:extLst>
            </p:cNvPr>
            <p:cNvSpPr txBox="1"/>
            <p:nvPr/>
          </p:nvSpPr>
          <p:spPr>
            <a:xfrm>
              <a:off x="4039319" y="3757049"/>
              <a:ext cx="689612" cy="338554"/>
            </a:xfrm>
            <a:prstGeom prst="rect">
              <a:avLst/>
            </a:prstGeom>
            <a:noFill/>
          </p:spPr>
          <p:txBody>
            <a:bodyPr wrap="none" rtlCol="0">
              <a:spAutoFit/>
            </a:bodyPr>
            <a:lstStyle/>
            <a:p>
              <a:r>
                <a:rPr lang="en-US" sz="1600" dirty="0"/>
                <a:t>Small</a:t>
              </a:r>
            </a:p>
          </p:txBody>
        </p:sp>
        <p:sp>
          <p:nvSpPr>
            <p:cNvPr id="11" name="TextBox 10">
              <a:extLst>
                <a:ext uri="{FF2B5EF4-FFF2-40B4-BE49-F238E27FC236}">
                  <a16:creationId xmlns:a16="http://schemas.microsoft.com/office/drawing/2014/main" id="{52B72E5E-4984-F341-4878-EFD0E57DA89A}"/>
                </a:ext>
              </a:extLst>
            </p:cNvPr>
            <p:cNvSpPr txBox="1"/>
            <p:nvPr/>
          </p:nvSpPr>
          <p:spPr>
            <a:xfrm>
              <a:off x="5520088" y="3757049"/>
              <a:ext cx="669414" cy="338554"/>
            </a:xfrm>
            <a:prstGeom prst="rect">
              <a:avLst/>
            </a:prstGeom>
            <a:noFill/>
          </p:spPr>
          <p:txBody>
            <a:bodyPr wrap="none" rtlCol="0">
              <a:spAutoFit/>
            </a:bodyPr>
            <a:lstStyle/>
            <a:p>
              <a:r>
                <a:rPr lang="en-US" sz="1600" dirty="0"/>
                <a:t>Large</a:t>
              </a:r>
            </a:p>
          </p:txBody>
        </p:sp>
      </p:grpSp>
    </p:spTree>
    <p:extLst>
      <p:ext uri="{BB962C8B-B14F-4D97-AF65-F5344CB8AC3E}">
        <p14:creationId xmlns:p14="http://schemas.microsoft.com/office/powerpoint/2010/main" val="2372324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504B2E2-E5DD-FC10-4D90-74F200587597}"/>
              </a:ext>
            </a:extLst>
          </p:cNvPr>
          <p:cNvGrpSpPr/>
          <p:nvPr/>
        </p:nvGrpSpPr>
        <p:grpSpPr>
          <a:xfrm>
            <a:off x="1365405" y="586191"/>
            <a:ext cx="9854666" cy="830997"/>
            <a:chOff x="1859817" y="642921"/>
            <a:chExt cx="9854666" cy="830997"/>
          </a:xfrm>
        </p:grpSpPr>
        <p:sp>
          <p:nvSpPr>
            <p:cNvPr id="7" name="TextBox 6">
              <a:extLst>
                <a:ext uri="{FF2B5EF4-FFF2-40B4-BE49-F238E27FC236}">
                  <a16:creationId xmlns:a16="http://schemas.microsoft.com/office/drawing/2014/main" id="{8DB9E76D-6852-2395-67DE-8D3937ACB1E0}"/>
                </a:ext>
              </a:extLst>
            </p:cNvPr>
            <p:cNvSpPr txBox="1"/>
            <p:nvPr/>
          </p:nvSpPr>
          <p:spPr>
            <a:xfrm>
              <a:off x="1859817" y="642921"/>
              <a:ext cx="9854666" cy="830997"/>
            </a:xfrm>
            <a:prstGeom prst="rect">
              <a:avLst/>
            </a:prstGeom>
            <a:solidFill>
              <a:schemeClr val="bg1"/>
            </a:solidFill>
          </p:spPr>
          <p:txBody>
            <a:bodyPr wrap="square" rtlCol="0">
              <a:spAutoFit/>
            </a:bodyPr>
            <a:lstStyle/>
            <a:p>
              <a:pPr algn="ctr"/>
              <a:r>
                <a:rPr lang="en-US" sz="2400"/>
                <a:t>Increase in fitness with mutation </a:t>
              </a:r>
            </a:p>
            <a:p>
              <a:pPr algn="ctr"/>
              <a:r>
                <a:rPr lang="en-US" sz="2400"/>
                <a:t>    0.05             		                             0.1           </a:t>
              </a:r>
            </a:p>
          </p:txBody>
        </p:sp>
        <p:cxnSp>
          <p:nvCxnSpPr>
            <p:cNvPr id="10" name="Straight Arrow Connector 9">
              <a:extLst>
                <a:ext uri="{FF2B5EF4-FFF2-40B4-BE49-F238E27FC236}">
                  <a16:creationId xmlns:a16="http://schemas.microsoft.com/office/drawing/2014/main" id="{73F9B165-AB2C-5E00-409A-21DF9E871996}"/>
                </a:ext>
              </a:extLst>
            </p:cNvPr>
            <p:cNvCxnSpPr>
              <a:cxnSpLocks/>
            </p:cNvCxnSpPr>
            <p:nvPr/>
          </p:nvCxnSpPr>
          <p:spPr>
            <a:xfrm>
              <a:off x="2339894" y="1054670"/>
              <a:ext cx="9374589" cy="1"/>
            </a:xfrm>
            <a:prstGeom prst="straightConnector1">
              <a:avLst/>
            </a:prstGeom>
            <a:ln w="50800">
              <a:solidFill>
                <a:srgbClr val="00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39" name="Group 38">
            <a:extLst>
              <a:ext uri="{FF2B5EF4-FFF2-40B4-BE49-F238E27FC236}">
                <a16:creationId xmlns:a16="http://schemas.microsoft.com/office/drawing/2014/main" id="{46F2763F-0F2F-B3C7-321F-E68762863ED6}"/>
              </a:ext>
            </a:extLst>
          </p:cNvPr>
          <p:cNvGrpSpPr/>
          <p:nvPr/>
        </p:nvGrpSpPr>
        <p:grpSpPr>
          <a:xfrm>
            <a:off x="337796" y="908804"/>
            <a:ext cx="1252239" cy="5447546"/>
            <a:chOff x="57534" y="1116675"/>
            <a:chExt cx="1252239" cy="5447546"/>
          </a:xfrm>
        </p:grpSpPr>
        <p:cxnSp>
          <p:nvCxnSpPr>
            <p:cNvPr id="11" name="Straight Arrow Connector 10">
              <a:extLst>
                <a:ext uri="{FF2B5EF4-FFF2-40B4-BE49-F238E27FC236}">
                  <a16:creationId xmlns:a16="http://schemas.microsoft.com/office/drawing/2014/main" id="{88D7AE3D-7CD9-60D5-8B5C-28F2C5E3562B}"/>
                </a:ext>
              </a:extLst>
            </p:cNvPr>
            <p:cNvCxnSpPr>
              <a:cxnSpLocks/>
            </p:cNvCxnSpPr>
            <p:nvPr/>
          </p:nvCxnSpPr>
          <p:spPr>
            <a:xfrm>
              <a:off x="633675" y="1822178"/>
              <a:ext cx="0" cy="4487036"/>
            </a:xfrm>
            <a:prstGeom prst="straightConnector1">
              <a:avLst/>
            </a:prstGeom>
            <a:ln w="50800">
              <a:solidFill>
                <a:srgbClr val="00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8D87CDCE-F77C-55D9-008A-AFF7F11F36B9}"/>
                </a:ext>
              </a:extLst>
            </p:cNvPr>
            <p:cNvSpPr txBox="1"/>
            <p:nvPr/>
          </p:nvSpPr>
          <p:spPr>
            <a:xfrm rot="16200000">
              <a:off x="-2435406" y="3609615"/>
              <a:ext cx="5447546" cy="461665"/>
            </a:xfrm>
            <a:prstGeom prst="rect">
              <a:avLst/>
            </a:prstGeom>
            <a:noFill/>
          </p:spPr>
          <p:txBody>
            <a:bodyPr wrap="square" rtlCol="0">
              <a:spAutoFit/>
            </a:bodyPr>
            <a:lstStyle/>
            <a:p>
              <a:r>
                <a:rPr lang="en-US" sz="2400" dirty="0"/>
                <a:t>Beneficial mutation rate (per infection)</a:t>
              </a:r>
            </a:p>
          </p:txBody>
        </p:sp>
        <p:sp>
          <p:nvSpPr>
            <p:cNvPr id="17" name="TextBox 16">
              <a:extLst>
                <a:ext uri="{FF2B5EF4-FFF2-40B4-BE49-F238E27FC236}">
                  <a16:creationId xmlns:a16="http://schemas.microsoft.com/office/drawing/2014/main" id="{18508C3D-3181-58E7-36EA-275E2A08433E}"/>
                </a:ext>
              </a:extLst>
            </p:cNvPr>
            <p:cNvSpPr txBox="1"/>
            <p:nvPr/>
          </p:nvSpPr>
          <p:spPr>
            <a:xfrm>
              <a:off x="615352" y="2579700"/>
              <a:ext cx="694421" cy="461665"/>
            </a:xfrm>
            <a:prstGeom prst="rect">
              <a:avLst/>
            </a:prstGeom>
            <a:noFill/>
          </p:spPr>
          <p:txBody>
            <a:bodyPr wrap="none" rtlCol="0">
              <a:spAutoFit/>
            </a:bodyPr>
            <a:lstStyle/>
            <a:p>
              <a:r>
                <a:rPr lang="en-US" sz="2400"/>
                <a:t>10</a:t>
              </a:r>
              <a:r>
                <a:rPr lang="en-US" sz="2400" baseline="30000"/>
                <a:t>-4</a:t>
              </a:r>
              <a:endParaRPr lang="en-US" sz="2400"/>
            </a:p>
          </p:txBody>
        </p:sp>
        <p:sp>
          <p:nvSpPr>
            <p:cNvPr id="18" name="TextBox 17">
              <a:extLst>
                <a:ext uri="{FF2B5EF4-FFF2-40B4-BE49-F238E27FC236}">
                  <a16:creationId xmlns:a16="http://schemas.microsoft.com/office/drawing/2014/main" id="{43F835CC-ACDE-6CB3-726C-754B889B399B}"/>
                </a:ext>
              </a:extLst>
            </p:cNvPr>
            <p:cNvSpPr txBox="1"/>
            <p:nvPr/>
          </p:nvSpPr>
          <p:spPr>
            <a:xfrm>
              <a:off x="601260" y="4967300"/>
              <a:ext cx="694421" cy="461665"/>
            </a:xfrm>
            <a:prstGeom prst="rect">
              <a:avLst/>
            </a:prstGeom>
            <a:noFill/>
          </p:spPr>
          <p:txBody>
            <a:bodyPr wrap="none" rtlCol="0">
              <a:spAutoFit/>
            </a:bodyPr>
            <a:lstStyle/>
            <a:p>
              <a:r>
                <a:rPr lang="en-US" sz="2400"/>
                <a:t>10</a:t>
              </a:r>
              <a:r>
                <a:rPr lang="en-US" sz="2400" baseline="30000"/>
                <a:t>-3</a:t>
              </a:r>
              <a:endParaRPr lang="en-US" sz="2400"/>
            </a:p>
          </p:txBody>
        </p:sp>
      </p:grpSp>
      <p:pic>
        <p:nvPicPr>
          <p:cNvPr id="20" name="Picture 19" descr="A red and blue gradient with black text&#10;&#10;AI-generated content may be incorrect.">
            <a:extLst>
              <a:ext uri="{FF2B5EF4-FFF2-40B4-BE49-F238E27FC236}">
                <a16:creationId xmlns:a16="http://schemas.microsoft.com/office/drawing/2014/main" id="{0F219ADF-424E-D53C-53FE-E7CAA7D127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28875" y="2016349"/>
            <a:ext cx="1827016" cy="3471331"/>
          </a:xfrm>
          <a:prstGeom prst="rect">
            <a:avLst/>
          </a:prstGeom>
        </p:spPr>
      </p:pic>
      <p:sp>
        <p:nvSpPr>
          <p:cNvPr id="23" name="Slide Number Placeholder 22">
            <a:extLst>
              <a:ext uri="{FF2B5EF4-FFF2-40B4-BE49-F238E27FC236}">
                <a16:creationId xmlns:a16="http://schemas.microsoft.com/office/drawing/2014/main" id="{24948E29-F900-417C-7DD6-52C31D43E3F3}"/>
              </a:ext>
            </a:extLst>
          </p:cNvPr>
          <p:cNvSpPr>
            <a:spLocks noGrp="1"/>
          </p:cNvSpPr>
          <p:nvPr>
            <p:ph type="sldNum" sz="quarter" idx="12"/>
          </p:nvPr>
        </p:nvSpPr>
        <p:spPr/>
        <p:txBody>
          <a:bodyPr/>
          <a:lstStyle/>
          <a:p>
            <a:fld id="{330EA680-D336-4FF7-8B7A-9848BB0A1C32}" type="slidenum">
              <a:rPr lang="en-US" smtClean="0"/>
              <a:t>17</a:t>
            </a:fld>
            <a:endParaRPr lang="en-US"/>
          </a:p>
        </p:txBody>
      </p:sp>
      <p:pic>
        <p:nvPicPr>
          <p:cNvPr id="43" name="Picture 42" descr="A red white and blue graph&#10;&#10;AI-generated content may be incorrect.">
            <a:extLst>
              <a:ext uri="{FF2B5EF4-FFF2-40B4-BE49-F238E27FC236}">
                <a16:creationId xmlns:a16="http://schemas.microsoft.com/office/drawing/2014/main" id="{400011CE-B5AC-AF3D-4236-A86ADDDDE9B1}"/>
              </a:ext>
            </a:extLst>
          </p:cNvPr>
          <p:cNvPicPr>
            <a:picLocks/>
          </p:cNvPicPr>
          <p:nvPr/>
        </p:nvPicPr>
        <p:blipFill>
          <a:blip r:embed="rId4">
            <a:extLst>
              <a:ext uri="{28A0092B-C50C-407E-A947-70E740481C1C}">
                <a14:useLocalDpi xmlns:a14="http://schemas.microsoft.com/office/drawing/2010/main" val="0"/>
              </a:ext>
            </a:extLst>
          </a:blip>
          <a:srcRect l="3865"/>
          <a:stretch>
            <a:fillRect/>
          </a:stretch>
        </p:blipFill>
        <p:spPr>
          <a:xfrm>
            <a:off x="2601182" y="1295332"/>
            <a:ext cx="3769176" cy="2456683"/>
          </a:xfrm>
          <a:prstGeom prst="rect">
            <a:avLst/>
          </a:prstGeom>
        </p:spPr>
      </p:pic>
      <p:pic>
        <p:nvPicPr>
          <p:cNvPr id="47" name="Picture 46" descr="A red blue and purple gradient&#10;&#10;AI-generated content may be incorrect.">
            <a:extLst>
              <a:ext uri="{FF2B5EF4-FFF2-40B4-BE49-F238E27FC236}">
                <a16:creationId xmlns:a16="http://schemas.microsoft.com/office/drawing/2014/main" id="{CF68C38B-191E-D0F8-F828-9B1ECC6DFA6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393333" y="1300115"/>
            <a:ext cx="3769176" cy="2456683"/>
          </a:xfrm>
          <a:prstGeom prst="rect">
            <a:avLst/>
          </a:prstGeom>
        </p:spPr>
      </p:pic>
      <p:pic>
        <p:nvPicPr>
          <p:cNvPr id="49" name="Picture 48" descr="A red and blue graph&#10;&#10;AI-generated content may be incorrect.">
            <a:extLst>
              <a:ext uri="{FF2B5EF4-FFF2-40B4-BE49-F238E27FC236}">
                <a16:creationId xmlns:a16="http://schemas.microsoft.com/office/drawing/2014/main" id="{9ECF890F-AA4F-0C3E-A110-A56E3105F227}"/>
              </a:ext>
            </a:extLst>
          </p:cNvPr>
          <p:cNvPicPr>
            <a:picLocks/>
          </p:cNvPicPr>
          <p:nvPr/>
        </p:nvPicPr>
        <p:blipFill>
          <a:blip r:embed="rId6">
            <a:extLst>
              <a:ext uri="{28A0092B-C50C-407E-A947-70E740481C1C}">
                <a14:useLocalDpi xmlns:a14="http://schemas.microsoft.com/office/drawing/2010/main" val="0"/>
              </a:ext>
            </a:extLst>
          </a:blip>
          <a:srcRect b="6638"/>
          <a:stretch>
            <a:fillRect/>
          </a:stretch>
        </p:blipFill>
        <p:spPr>
          <a:xfrm>
            <a:off x="6393333" y="3795263"/>
            <a:ext cx="3769176" cy="2456683"/>
          </a:xfrm>
          <a:prstGeom prst="rect">
            <a:avLst/>
          </a:prstGeom>
        </p:spPr>
      </p:pic>
      <p:sp>
        <p:nvSpPr>
          <p:cNvPr id="55" name="TextBox 54">
            <a:extLst>
              <a:ext uri="{FF2B5EF4-FFF2-40B4-BE49-F238E27FC236}">
                <a16:creationId xmlns:a16="http://schemas.microsoft.com/office/drawing/2014/main" id="{B14FA43F-1186-F538-1E34-F7A73618A5EF}"/>
              </a:ext>
            </a:extLst>
          </p:cNvPr>
          <p:cNvSpPr txBox="1"/>
          <p:nvPr/>
        </p:nvSpPr>
        <p:spPr>
          <a:xfrm>
            <a:off x="7095678" y="6171684"/>
            <a:ext cx="3877985" cy="369332"/>
          </a:xfrm>
          <a:prstGeom prst="rect">
            <a:avLst/>
          </a:prstGeom>
          <a:noFill/>
        </p:spPr>
        <p:txBody>
          <a:bodyPr wrap="none" rtlCol="0">
            <a:spAutoFit/>
          </a:bodyPr>
          <a:lstStyle/>
          <a:p>
            <a:r>
              <a:rPr lang="en-US"/>
              <a:t>0.8	       0.9	               1.0	</a:t>
            </a:r>
          </a:p>
        </p:txBody>
      </p:sp>
      <p:sp>
        <p:nvSpPr>
          <p:cNvPr id="2" name="Title 1">
            <a:extLst>
              <a:ext uri="{FF2B5EF4-FFF2-40B4-BE49-F238E27FC236}">
                <a16:creationId xmlns:a16="http://schemas.microsoft.com/office/drawing/2014/main" id="{F00938CC-DDFA-C8DC-DF0E-DB0F5BF947E0}"/>
              </a:ext>
            </a:extLst>
          </p:cNvPr>
          <p:cNvSpPr>
            <a:spLocks noGrp="1"/>
          </p:cNvSpPr>
          <p:nvPr>
            <p:ph type="title"/>
          </p:nvPr>
        </p:nvSpPr>
        <p:spPr>
          <a:xfrm>
            <a:off x="399858" y="-247632"/>
            <a:ext cx="11166231" cy="1325563"/>
          </a:xfrm>
        </p:spPr>
        <p:txBody>
          <a:bodyPr>
            <a:normAutofit/>
          </a:bodyPr>
          <a:lstStyle/>
          <a:p>
            <a:r>
              <a:rPr lang="en-US" sz="3600" b="1"/>
              <a:t>Reducing Re can be a more effective prevention strategy. </a:t>
            </a:r>
          </a:p>
        </p:txBody>
      </p:sp>
      <p:grpSp>
        <p:nvGrpSpPr>
          <p:cNvPr id="3" name="Group 2">
            <a:extLst>
              <a:ext uri="{FF2B5EF4-FFF2-40B4-BE49-F238E27FC236}">
                <a16:creationId xmlns:a16="http://schemas.microsoft.com/office/drawing/2014/main" id="{EC1DECCB-79EB-70A9-A82D-EBB094F022A3}"/>
              </a:ext>
            </a:extLst>
          </p:cNvPr>
          <p:cNvGrpSpPr/>
          <p:nvPr/>
        </p:nvGrpSpPr>
        <p:grpSpPr>
          <a:xfrm>
            <a:off x="1834417" y="1938634"/>
            <a:ext cx="6705570" cy="4919366"/>
            <a:chOff x="1834417" y="1938634"/>
            <a:chExt cx="6705570" cy="4919366"/>
          </a:xfrm>
        </p:grpSpPr>
        <p:pic>
          <p:nvPicPr>
            <p:cNvPr id="51" name="Picture 50" descr="A graph of red blue and white&#10;&#10;AI-generated content may be incorrect.">
              <a:extLst>
                <a:ext uri="{FF2B5EF4-FFF2-40B4-BE49-F238E27FC236}">
                  <a16:creationId xmlns:a16="http://schemas.microsoft.com/office/drawing/2014/main" id="{6273D348-0700-FA80-B720-08F18293B205}"/>
                </a:ext>
              </a:extLst>
            </p:cNvPr>
            <p:cNvPicPr>
              <a:picLocks/>
            </p:cNvPicPr>
            <p:nvPr/>
          </p:nvPicPr>
          <p:blipFill>
            <a:blip r:embed="rId7">
              <a:extLst>
                <a:ext uri="{28A0092B-C50C-407E-A947-70E740481C1C}">
                  <a14:useLocalDpi xmlns:a14="http://schemas.microsoft.com/office/drawing/2010/main" val="0"/>
                </a:ext>
              </a:extLst>
            </a:blip>
            <a:srcRect l="3861" b="6608"/>
            <a:stretch>
              <a:fillRect/>
            </a:stretch>
          </p:blipFill>
          <p:spPr>
            <a:xfrm>
              <a:off x="2601181" y="3795263"/>
              <a:ext cx="3769176" cy="2456683"/>
            </a:xfrm>
            <a:prstGeom prst="rect">
              <a:avLst/>
            </a:prstGeom>
          </p:spPr>
        </p:pic>
        <p:sp>
          <p:nvSpPr>
            <p:cNvPr id="52" name="TextBox 51">
              <a:extLst>
                <a:ext uri="{FF2B5EF4-FFF2-40B4-BE49-F238E27FC236}">
                  <a16:creationId xmlns:a16="http://schemas.microsoft.com/office/drawing/2014/main" id="{092828F7-BBC5-B394-F689-DBF56D6DCA13}"/>
                </a:ext>
              </a:extLst>
            </p:cNvPr>
            <p:cNvSpPr txBox="1"/>
            <p:nvPr/>
          </p:nvSpPr>
          <p:spPr>
            <a:xfrm>
              <a:off x="4926049" y="6396335"/>
              <a:ext cx="3613938" cy="461665"/>
            </a:xfrm>
            <a:prstGeom prst="rect">
              <a:avLst/>
            </a:prstGeom>
            <a:solidFill>
              <a:schemeClr val="bg1"/>
            </a:solidFill>
          </p:spPr>
          <p:txBody>
            <a:bodyPr wrap="none" rtlCol="0">
              <a:spAutoFit/>
            </a:bodyPr>
            <a:lstStyle/>
            <a:p>
              <a:pPr algn="ctr"/>
              <a:r>
                <a:rPr lang="en-US" sz="2400" i="1" dirty="0"/>
                <a:t>R</a:t>
              </a:r>
              <a:r>
                <a:rPr lang="en-US" sz="2400" i="1" baseline="-25000" dirty="0"/>
                <a:t>e </a:t>
              </a:r>
              <a:r>
                <a:rPr lang="en-US" sz="2400" dirty="0"/>
                <a:t>of introduced pathogen</a:t>
              </a:r>
            </a:p>
          </p:txBody>
        </p:sp>
        <p:sp>
          <p:nvSpPr>
            <p:cNvPr id="54" name="TextBox 53">
              <a:extLst>
                <a:ext uri="{FF2B5EF4-FFF2-40B4-BE49-F238E27FC236}">
                  <a16:creationId xmlns:a16="http://schemas.microsoft.com/office/drawing/2014/main" id="{55C5FC1D-4812-7FD2-8570-38671E0F3BDF}"/>
                </a:ext>
              </a:extLst>
            </p:cNvPr>
            <p:cNvSpPr txBox="1"/>
            <p:nvPr/>
          </p:nvSpPr>
          <p:spPr>
            <a:xfrm>
              <a:off x="3326502" y="6171684"/>
              <a:ext cx="3877985" cy="369332"/>
            </a:xfrm>
            <a:prstGeom prst="rect">
              <a:avLst/>
            </a:prstGeom>
            <a:noFill/>
          </p:spPr>
          <p:txBody>
            <a:bodyPr wrap="none" rtlCol="0">
              <a:spAutoFit/>
            </a:bodyPr>
            <a:lstStyle/>
            <a:p>
              <a:r>
                <a:rPr lang="en-US"/>
                <a:t>0.8	       0.9	               1.0	</a:t>
              </a:r>
            </a:p>
          </p:txBody>
        </p:sp>
        <p:sp>
          <p:nvSpPr>
            <p:cNvPr id="56" name="TextBox 55">
              <a:extLst>
                <a:ext uri="{FF2B5EF4-FFF2-40B4-BE49-F238E27FC236}">
                  <a16:creationId xmlns:a16="http://schemas.microsoft.com/office/drawing/2014/main" id="{9FCD9FFC-C405-F46E-1E45-AD1441CCA096}"/>
                </a:ext>
              </a:extLst>
            </p:cNvPr>
            <p:cNvSpPr txBox="1"/>
            <p:nvPr/>
          </p:nvSpPr>
          <p:spPr>
            <a:xfrm rot="16200000">
              <a:off x="287520" y="3485531"/>
              <a:ext cx="3555460" cy="461665"/>
            </a:xfrm>
            <a:prstGeom prst="rect">
              <a:avLst/>
            </a:prstGeom>
            <a:solidFill>
              <a:schemeClr val="bg1"/>
            </a:solidFill>
          </p:spPr>
          <p:txBody>
            <a:bodyPr wrap="none" rtlCol="0">
              <a:spAutoFit/>
            </a:bodyPr>
            <a:lstStyle/>
            <a:p>
              <a:pPr algn="ctr"/>
              <a:r>
                <a:rPr lang="en-US" sz="2400" dirty="0"/>
                <a:t>Log10 Spillover rate year</a:t>
              </a:r>
              <a:r>
                <a:rPr lang="en-US" sz="2400" baseline="30000" dirty="0"/>
                <a:t>-1</a:t>
              </a:r>
              <a:endParaRPr lang="en-US" sz="2400" dirty="0"/>
            </a:p>
          </p:txBody>
        </p:sp>
        <p:sp>
          <p:nvSpPr>
            <p:cNvPr id="57" name="TextBox 56">
              <a:extLst>
                <a:ext uri="{FF2B5EF4-FFF2-40B4-BE49-F238E27FC236}">
                  <a16:creationId xmlns:a16="http://schemas.microsoft.com/office/drawing/2014/main" id="{889FA474-CEC4-7590-5659-CD3099FBA994}"/>
                </a:ext>
              </a:extLst>
            </p:cNvPr>
            <p:cNvSpPr txBox="1"/>
            <p:nvPr/>
          </p:nvSpPr>
          <p:spPr>
            <a:xfrm>
              <a:off x="2300795" y="3795263"/>
              <a:ext cx="549692" cy="2769989"/>
            </a:xfrm>
            <a:prstGeom prst="rect">
              <a:avLst/>
            </a:prstGeom>
            <a:noFill/>
          </p:spPr>
          <p:txBody>
            <a:bodyPr wrap="square" rtlCol="0">
              <a:spAutoFit/>
            </a:bodyPr>
            <a:lstStyle/>
            <a:p>
              <a:r>
                <a:rPr lang="en-US"/>
                <a:t>5</a:t>
              </a:r>
              <a:endParaRPr lang="en-US" sz="1400"/>
            </a:p>
            <a:p>
              <a:endParaRPr lang="en-US" sz="1400"/>
            </a:p>
            <a:p>
              <a:endParaRPr lang="en-US" sz="1400"/>
            </a:p>
            <a:p>
              <a:r>
                <a:rPr lang="en-US"/>
                <a:t>4</a:t>
              </a:r>
            </a:p>
            <a:p>
              <a:endParaRPr lang="en-US" sz="1400"/>
            </a:p>
            <a:p>
              <a:endParaRPr lang="en-US" sz="1400"/>
            </a:p>
            <a:p>
              <a:r>
                <a:rPr lang="en-US"/>
                <a:t>3</a:t>
              </a:r>
            </a:p>
            <a:p>
              <a:endParaRPr lang="en-US" sz="1400"/>
            </a:p>
            <a:p>
              <a:endParaRPr lang="en-US" sz="1400"/>
            </a:p>
            <a:p>
              <a:r>
                <a:rPr lang="en-US"/>
                <a:t>2	</a:t>
              </a:r>
            </a:p>
          </p:txBody>
        </p:sp>
      </p:grpSp>
      <p:sp>
        <p:nvSpPr>
          <p:cNvPr id="58" name="TextBox 57">
            <a:extLst>
              <a:ext uri="{FF2B5EF4-FFF2-40B4-BE49-F238E27FC236}">
                <a16:creationId xmlns:a16="http://schemas.microsoft.com/office/drawing/2014/main" id="{F9A7AACF-D800-BB5A-4DE3-88E3B0AA6AFA}"/>
              </a:ext>
            </a:extLst>
          </p:cNvPr>
          <p:cNvSpPr txBox="1"/>
          <p:nvPr/>
        </p:nvSpPr>
        <p:spPr>
          <a:xfrm>
            <a:off x="2300795" y="1250245"/>
            <a:ext cx="549692" cy="2769989"/>
          </a:xfrm>
          <a:prstGeom prst="rect">
            <a:avLst/>
          </a:prstGeom>
          <a:noFill/>
        </p:spPr>
        <p:txBody>
          <a:bodyPr wrap="square" rtlCol="0">
            <a:spAutoFit/>
          </a:bodyPr>
          <a:lstStyle/>
          <a:p>
            <a:r>
              <a:rPr lang="en-US" dirty="0"/>
              <a:t>5</a:t>
            </a:r>
            <a:endParaRPr lang="en-US" sz="1400" dirty="0"/>
          </a:p>
          <a:p>
            <a:endParaRPr lang="en-US" sz="1400" dirty="0"/>
          </a:p>
          <a:p>
            <a:endParaRPr lang="en-US" sz="1400" dirty="0"/>
          </a:p>
          <a:p>
            <a:r>
              <a:rPr lang="en-US" dirty="0"/>
              <a:t>4</a:t>
            </a:r>
          </a:p>
          <a:p>
            <a:endParaRPr lang="en-US" sz="1400" dirty="0"/>
          </a:p>
          <a:p>
            <a:endParaRPr lang="en-US" sz="1400" dirty="0"/>
          </a:p>
          <a:p>
            <a:r>
              <a:rPr lang="en-US" dirty="0"/>
              <a:t>3</a:t>
            </a:r>
          </a:p>
          <a:p>
            <a:endParaRPr lang="en-US" sz="1400" dirty="0"/>
          </a:p>
          <a:p>
            <a:endParaRPr lang="en-US" sz="1400" dirty="0"/>
          </a:p>
          <a:p>
            <a:r>
              <a:rPr lang="en-US" dirty="0"/>
              <a:t>2	</a:t>
            </a:r>
          </a:p>
        </p:txBody>
      </p:sp>
    </p:spTree>
    <p:extLst>
      <p:ext uri="{BB962C8B-B14F-4D97-AF65-F5344CB8AC3E}">
        <p14:creationId xmlns:p14="http://schemas.microsoft.com/office/powerpoint/2010/main" val="1886710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6" name="Ink 25">
                <a:extLst>
                  <a:ext uri="{FF2B5EF4-FFF2-40B4-BE49-F238E27FC236}">
                    <a16:creationId xmlns:a16="http://schemas.microsoft.com/office/drawing/2014/main" id="{D7DB967A-AFFE-E92F-868E-44D0629B1E19}"/>
                  </a:ext>
                </a:extLst>
              </p14:cNvPr>
              <p14:cNvContentPartPr/>
              <p14:nvPr/>
            </p14:nvContentPartPr>
            <p14:xfrm>
              <a:off x="9605885" y="3330760"/>
              <a:ext cx="269640" cy="60840"/>
            </p14:xfrm>
          </p:contentPart>
        </mc:Choice>
        <mc:Fallback xmlns="">
          <p:pic>
            <p:nvPicPr>
              <p:cNvPr id="26" name="Ink 25">
                <a:extLst>
                  <a:ext uri="{FF2B5EF4-FFF2-40B4-BE49-F238E27FC236}">
                    <a16:creationId xmlns:a16="http://schemas.microsoft.com/office/drawing/2014/main" id="{D7DB967A-AFFE-E92F-868E-44D0629B1E19}"/>
                  </a:ext>
                </a:extLst>
              </p:cNvPr>
              <p:cNvPicPr/>
              <p:nvPr/>
            </p:nvPicPr>
            <p:blipFill>
              <a:blip r:embed="rId3"/>
              <a:stretch>
                <a:fillRect/>
              </a:stretch>
            </p:blipFill>
            <p:spPr>
              <a:xfrm>
                <a:off x="9599765" y="3324640"/>
                <a:ext cx="281880" cy="73080"/>
              </a:xfrm>
              <a:prstGeom prst="rect">
                <a:avLst/>
              </a:prstGeom>
            </p:spPr>
          </p:pic>
        </mc:Fallback>
      </mc:AlternateContent>
      <p:grpSp>
        <p:nvGrpSpPr>
          <p:cNvPr id="32" name="Group 31">
            <a:extLst>
              <a:ext uri="{FF2B5EF4-FFF2-40B4-BE49-F238E27FC236}">
                <a16:creationId xmlns:a16="http://schemas.microsoft.com/office/drawing/2014/main" id="{8FC6AB17-EC32-0D0A-8C66-CC0BEB8C80CA}"/>
              </a:ext>
            </a:extLst>
          </p:cNvPr>
          <p:cNvGrpSpPr/>
          <p:nvPr/>
        </p:nvGrpSpPr>
        <p:grpSpPr>
          <a:xfrm>
            <a:off x="893410" y="221847"/>
            <a:ext cx="10318134" cy="6414305"/>
            <a:chOff x="893410" y="221847"/>
            <a:chExt cx="10318134" cy="6414305"/>
          </a:xfrm>
        </p:grpSpPr>
        <p:grpSp>
          <p:nvGrpSpPr>
            <p:cNvPr id="30" name="Group 29">
              <a:extLst>
                <a:ext uri="{FF2B5EF4-FFF2-40B4-BE49-F238E27FC236}">
                  <a16:creationId xmlns:a16="http://schemas.microsoft.com/office/drawing/2014/main" id="{7A95D1AB-8312-0419-A3CA-3C36A06295CB}"/>
                </a:ext>
              </a:extLst>
            </p:cNvPr>
            <p:cNvGrpSpPr/>
            <p:nvPr/>
          </p:nvGrpSpPr>
          <p:grpSpPr>
            <a:xfrm>
              <a:off x="893410" y="221847"/>
              <a:ext cx="10318134" cy="6414305"/>
              <a:chOff x="893410" y="221847"/>
              <a:chExt cx="10318134" cy="6414305"/>
            </a:xfrm>
          </p:grpSpPr>
          <p:grpSp>
            <p:nvGrpSpPr>
              <p:cNvPr id="23" name="Group 22">
                <a:extLst>
                  <a:ext uri="{FF2B5EF4-FFF2-40B4-BE49-F238E27FC236}">
                    <a16:creationId xmlns:a16="http://schemas.microsoft.com/office/drawing/2014/main" id="{904112A7-41E4-1C23-6BED-C575681F272E}"/>
                  </a:ext>
                </a:extLst>
              </p:cNvPr>
              <p:cNvGrpSpPr/>
              <p:nvPr/>
            </p:nvGrpSpPr>
            <p:grpSpPr>
              <a:xfrm>
                <a:off x="893410" y="221847"/>
                <a:ext cx="9854666" cy="6414305"/>
                <a:chOff x="-217760" y="-171086"/>
                <a:chExt cx="9854666" cy="6414305"/>
              </a:xfrm>
            </p:grpSpPr>
            <p:grpSp>
              <p:nvGrpSpPr>
                <p:cNvPr id="15" name="Group 14">
                  <a:extLst>
                    <a:ext uri="{FF2B5EF4-FFF2-40B4-BE49-F238E27FC236}">
                      <a16:creationId xmlns:a16="http://schemas.microsoft.com/office/drawing/2014/main" id="{9BD8C418-899C-4A95-CDA3-C5A72AED946D}"/>
                    </a:ext>
                  </a:extLst>
                </p:cNvPr>
                <p:cNvGrpSpPr/>
                <p:nvPr/>
              </p:nvGrpSpPr>
              <p:grpSpPr>
                <a:xfrm>
                  <a:off x="1228236" y="520861"/>
                  <a:ext cx="8181982" cy="5722358"/>
                  <a:chOff x="1228236" y="520861"/>
                  <a:chExt cx="8181982" cy="5722358"/>
                </a:xfrm>
              </p:grpSpPr>
              <p:pic>
                <p:nvPicPr>
                  <p:cNvPr id="7" name="Picture 6" descr="A diagram of a path of a substance&#10;&#10;AI-generated content may be incorrect.">
                    <a:extLst>
                      <a:ext uri="{FF2B5EF4-FFF2-40B4-BE49-F238E27FC236}">
                        <a16:creationId xmlns:a16="http://schemas.microsoft.com/office/drawing/2014/main" id="{F3BA0E21-76D3-3AD0-501A-60457DB2F65F}"/>
                      </a:ext>
                    </a:extLst>
                  </p:cNvPr>
                  <p:cNvPicPr>
                    <a:picLocks noChangeAspect="1"/>
                  </p:cNvPicPr>
                  <p:nvPr/>
                </p:nvPicPr>
                <p:blipFill>
                  <a:blip r:embed="rId4"/>
                  <a:srcRect l="4054" r="59535" b="59038"/>
                  <a:stretch>
                    <a:fillRect/>
                  </a:stretch>
                </p:blipFill>
                <p:spPr>
                  <a:xfrm>
                    <a:off x="1689904" y="520861"/>
                    <a:ext cx="3426106" cy="2511706"/>
                  </a:xfrm>
                  <a:prstGeom prst="rect">
                    <a:avLst/>
                  </a:prstGeom>
                </p:spPr>
              </p:pic>
              <p:pic>
                <p:nvPicPr>
                  <p:cNvPr id="9" name="Picture 8" descr="A diagram of a path of a substance&#10;&#10;AI-generated content may be incorrect.">
                    <a:extLst>
                      <a:ext uri="{FF2B5EF4-FFF2-40B4-BE49-F238E27FC236}">
                        <a16:creationId xmlns:a16="http://schemas.microsoft.com/office/drawing/2014/main" id="{78918592-A57B-2B76-4D54-BD72277F07DA}"/>
                      </a:ext>
                    </a:extLst>
                  </p:cNvPr>
                  <p:cNvPicPr>
                    <a:picLocks noChangeAspect="1"/>
                  </p:cNvPicPr>
                  <p:nvPr/>
                </p:nvPicPr>
                <p:blipFill>
                  <a:blip r:embed="rId4"/>
                  <a:srcRect l="55717" r="9718" b="59038"/>
                  <a:stretch>
                    <a:fillRect/>
                  </a:stretch>
                </p:blipFill>
                <p:spPr>
                  <a:xfrm>
                    <a:off x="5116010" y="520861"/>
                    <a:ext cx="3252487" cy="2511706"/>
                  </a:xfrm>
                  <a:prstGeom prst="rect">
                    <a:avLst/>
                  </a:prstGeom>
                </p:spPr>
              </p:pic>
              <p:pic>
                <p:nvPicPr>
                  <p:cNvPr id="10" name="Picture 9" descr="A diagram of a path of a substance&#10;&#10;AI-generated content may be incorrect.">
                    <a:extLst>
                      <a:ext uri="{FF2B5EF4-FFF2-40B4-BE49-F238E27FC236}">
                        <a16:creationId xmlns:a16="http://schemas.microsoft.com/office/drawing/2014/main" id="{9E9C1049-7995-E5B4-96AA-6060F5B3F8C5}"/>
                      </a:ext>
                    </a:extLst>
                  </p:cNvPr>
                  <p:cNvPicPr>
                    <a:picLocks noChangeAspect="1"/>
                  </p:cNvPicPr>
                  <p:nvPr/>
                </p:nvPicPr>
                <p:blipFill>
                  <a:blip r:embed="rId4"/>
                  <a:srcRect l="4054" t="50023" r="59535" b="5145"/>
                  <a:stretch>
                    <a:fillRect/>
                  </a:stretch>
                </p:blipFill>
                <p:spPr>
                  <a:xfrm>
                    <a:off x="1689902" y="3032567"/>
                    <a:ext cx="3426107" cy="2748987"/>
                  </a:xfrm>
                  <a:prstGeom prst="rect">
                    <a:avLst/>
                  </a:prstGeom>
                </p:spPr>
              </p:pic>
              <p:pic>
                <p:nvPicPr>
                  <p:cNvPr id="11" name="Picture 10" descr="A diagram of a path of a substance&#10;&#10;AI-generated content may be incorrect.">
                    <a:extLst>
                      <a:ext uri="{FF2B5EF4-FFF2-40B4-BE49-F238E27FC236}">
                        <a16:creationId xmlns:a16="http://schemas.microsoft.com/office/drawing/2014/main" id="{CC26A757-49DB-F61D-CF76-7D9E51FCFA02}"/>
                      </a:ext>
                    </a:extLst>
                  </p:cNvPr>
                  <p:cNvPicPr>
                    <a:picLocks noChangeAspect="1"/>
                  </p:cNvPicPr>
                  <p:nvPr/>
                </p:nvPicPr>
                <p:blipFill>
                  <a:blip r:embed="rId4"/>
                  <a:srcRect l="55717" t="50022" r="9718" b="5145"/>
                  <a:stretch>
                    <a:fillRect/>
                  </a:stretch>
                </p:blipFill>
                <p:spPr>
                  <a:xfrm>
                    <a:off x="5116010" y="3032567"/>
                    <a:ext cx="3252487" cy="2748987"/>
                  </a:xfrm>
                  <a:prstGeom prst="rect">
                    <a:avLst/>
                  </a:prstGeom>
                </p:spPr>
              </p:pic>
              <p:pic>
                <p:nvPicPr>
                  <p:cNvPr id="12" name="Picture 11" descr="A diagram of a path of a substance&#10;&#10;AI-generated content may be incorrect.">
                    <a:extLst>
                      <a:ext uri="{FF2B5EF4-FFF2-40B4-BE49-F238E27FC236}">
                        <a16:creationId xmlns:a16="http://schemas.microsoft.com/office/drawing/2014/main" id="{A9AFEAA8-D4C5-AFB3-494D-E5EE69BFCC94}"/>
                      </a:ext>
                    </a:extLst>
                  </p:cNvPr>
                  <p:cNvPicPr>
                    <a:picLocks noChangeAspect="1"/>
                  </p:cNvPicPr>
                  <p:nvPr/>
                </p:nvPicPr>
                <p:blipFill>
                  <a:blip r:embed="rId4"/>
                  <a:srcRect l="90508" t="4555" b="59037"/>
                  <a:stretch>
                    <a:fillRect/>
                  </a:stretch>
                </p:blipFill>
                <p:spPr>
                  <a:xfrm>
                    <a:off x="8368497" y="2940576"/>
                    <a:ext cx="1041721" cy="2603697"/>
                  </a:xfrm>
                  <a:prstGeom prst="rect">
                    <a:avLst/>
                  </a:prstGeom>
                </p:spPr>
              </p:pic>
              <p:sp>
                <p:nvSpPr>
                  <p:cNvPr id="13" name="TextBox 12">
                    <a:extLst>
                      <a:ext uri="{FF2B5EF4-FFF2-40B4-BE49-F238E27FC236}">
                        <a16:creationId xmlns:a16="http://schemas.microsoft.com/office/drawing/2014/main" id="{E8E4BAAE-596F-A65C-9EC3-75407513EC26}"/>
                      </a:ext>
                    </a:extLst>
                  </p:cNvPr>
                  <p:cNvSpPr txBox="1"/>
                  <p:nvPr/>
                </p:nvSpPr>
                <p:spPr>
                  <a:xfrm>
                    <a:off x="3402955" y="5781554"/>
                    <a:ext cx="3613938" cy="461665"/>
                  </a:xfrm>
                  <a:prstGeom prst="rect">
                    <a:avLst/>
                  </a:prstGeom>
                  <a:solidFill>
                    <a:schemeClr val="bg1"/>
                  </a:solidFill>
                </p:spPr>
                <p:txBody>
                  <a:bodyPr wrap="none" rtlCol="0">
                    <a:spAutoFit/>
                  </a:bodyPr>
                  <a:lstStyle/>
                  <a:p>
                    <a:pPr algn="ctr"/>
                    <a:r>
                      <a:rPr lang="en-US" sz="2400" i="1" dirty="0"/>
                      <a:t>R</a:t>
                    </a:r>
                    <a:r>
                      <a:rPr lang="en-US" sz="2400" i="1" baseline="-25000" dirty="0"/>
                      <a:t>e </a:t>
                    </a:r>
                    <a:r>
                      <a:rPr lang="en-US" sz="2400" dirty="0"/>
                      <a:t>of introduced pathogen</a:t>
                    </a:r>
                  </a:p>
                </p:txBody>
              </p:sp>
              <p:sp>
                <p:nvSpPr>
                  <p:cNvPr id="14" name="TextBox 13">
                    <a:extLst>
                      <a:ext uri="{FF2B5EF4-FFF2-40B4-BE49-F238E27FC236}">
                        <a16:creationId xmlns:a16="http://schemas.microsoft.com/office/drawing/2014/main" id="{24EB407E-727F-7865-06B1-9B750F1D2051}"/>
                      </a:ext>
                    </a:extLst>
                  </p:cNvPr>
                  <p:cNvSpPr txBox="1"/>
                  <p:nvPr/>
                </p:nvSpPr>
                <p:spPr>
                  <a:xfrm rot="16200000">
                    <a:off x="-318661" y="2801734"/>
                    <a:ext cx="3555460" cy="461665"/>
                  </a:xfrm>
                  <a:prstGeom prst="rect">
                    <a:avLst/>
                  </a:prstGeom>
                  <a:solidFill>
                    <a:schemeClr val="bg1"/>
                  </a:solidFill>
                </p:spPr>
                <p:txBody>
                  <a:bodyPr wrap="none" rtlCol="0">
                    <a:spAutoFit/>
                  </a:bodyPr>
                  <a:lstStyle/>
                  <a:p>
                    <a:pPr algn="ctr"/>
                    <a:r>
                      <a:rPr lang="en-US" sz="2400" dirty="0"/>
                      <a:t>Log10 Spillover rate year</a:t>
                    </a:r>
                    <a:r>
                      <a:rPr lang="en-US" sz="2400" baseline="30000" dirty="0"/>
                      <a:t>-1</a:t>
                    </a:r>
                    <a:endParaRPr lang="en-US" sz="2400" dirty="0"/>
                  </a:p>
                </p:txBody>
              </p:sp>
            </p:grpSp>
            <p:cxnSp>
              <p:nvCxnSpPr>
                <p:cNvPr id="16" name="Straight Arrow Connector 15">
                  <a:extLst>
                    <a:ext uri="{FF2B5EF4-FFF2-40B4-BE49-F238E27FC236}">
                      <a16:creationId xmlns:a16="http://schemas.microsoft.com/office/drawing/2014/main" id="{1C4DF253-3A98-7F31-6EDD-4AFC66BEC682}"/>
                    </a:ext>
                  </a:extLst>
                </p:cNvPr>
                <p:cNvCxnSpPr>
                  <a:cxnSpLocks/>
                </p:cNvCxnSpPr>
                <p:nvPr/>
              </p:nvCxnSpPr>
              <p:spPr>
                <a:xfrm>
                  <a:off x="710878" y="369742"/>
                  <a:ext cx="0" cy="5031639"/>
                </a:xfrm>
                <a:prstGeom prst="straightConnector1">
                  <a:avLst/>
                </a:prstGeom>
                <a:ln w="50800">
                  <a:solidFill>
                    <a:srgbClr val="00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27DCC8C3-CD7C-7DC0-448F-D47712B56607}"/>
                    </a:ext>
                  </a:extLst>
                </p:cNvPr>
                <p:cNvSpPr txBox="1"/>
                <p:nvPr/>
              </p:nvSpPr>
              <p:spPr>
                <a:xfrm rot="16200000">
                  <a:off x="-2351395" y="2535540"/>
                  <a:ext cx="5447546" cy="461665"/>
                </a:xfrm>
                <a:prstGeom prst="rect">
                  <a:avLst/>
                </a:prstGeom>
                <a:noFill/>
              </p:spPr>
              <p:txBody>
                <a:bodyPr wrap="square" rtlCol="0">
                  <a:spAutoFit/>
                </a:bodyPr>
                <a:lstStyle/>
                <a:p>
                  <a:r>
                    <a:rPr lang="en-US" sz="2400" dirty="0"/>
                    <a:t>Beneficial mutation rate (infection</a:t>
                  </a:r>
                  <a:r>
                    <a:rPr lang="en-US" sz="2400" baseline="30000" dirty="0"/>
                    <a:t>-1</a:t>
                  </a:r>
                  <a:r>
                    <a:rPr lang="en-US" sz="2400" dirty="0"/>
                    <a:t>), 𝝁</a:t>
                  </a:r>
                </a:p>
              </p:txBody>
            </p:sp>
            <p:sp>
              <p:nvSpPr>
                <p:cNvPr id="18" name="TextBox 17">
                  <a:extLst>
                    <a:ext uri="{FF2B5EF4-FFF2-40B4-BE49-F238E27FC236}">
                      <a16:creationId xmlns:a16="http://schemas.microsoft.com/office/drawing/2014/main" id="{D2D65EDF-06D3-6CCC-1EBD-09F7479F9305}"/>
                    </a:ext>
                  </a:extLst>
                </p:cNvPr>
                <p:cNvSpPr txBox="1"/>
                <p:nvPr/>
              </p:nvSpPr>
              <p:spPr>
                <a:xfrm>
                  <a:off x="692555" y="1679540"/>
                  <a:ext cx="694421" cy="461665"/>
                </a:xfrm>
                <a:prstGeom prst="rect">
                  <a:avLst/>
                </a:prstGeom>
                <a:noFill/>
              </p:spPr>
              <p:txBody>
                <a:bodyPr wrap="none" rtlCol="0">
                  <a:spAutoFit/>
                </a:bodyPr>
                <a:lstStyle/>
                <a:p>
                  <a:r>
                    <a:rPr lang="en-US" sz="2400" dirty="0"/>
                    <a:t>10</a:t>
                  </a:r>
                  <a:r>
                    <a:rPr lang="en-US" sz="2400" baseline="30000" dirty="0"/>
                    <a:t>-4</a:t>
                  </a:r>
                  <a:endParaRPr lang="en-US" sz="2400" dirty="0"/>
                </a:p>
              </p:txBody>
            </p:sp>
            <p:sp>
              <p:nvSpPr>
                <p:cNvPr id="19" name="TextBox 18">
                  <a:extLst>
                    <a:ext uri="{FF2B5EF4-FFF2-40B4-BE49-F238E27FC236}">
                      <a16:creationId xmlns:a16="http://schemas.microsoft.com/office/drawing/2014/main" id="{93F2FA68-97D1-1DAE-87F4-CE749E2AD04B}"/>
                    </a:ext>
                  </a:extLst>
                </p:cNvPr>
                <p:cNvSpPr txBox="1"/>
                <p:nvPr/>
              </p:nvSpPr>
              <p:spPr>
                <a:xfrm>
                  <a:off x="692555" y="3837193"/>
                  <a:ext cx="694421" cy="461665"/>
                </a:xfrm>
                <a:prstGeom prst="rect">
                  <a:avLst/>
                </a:prstGeom>
                <a:noFill/>
              </p:spPr>
              <p:txBody>
                <a:bodyPr wrap="none" rtlCol="0">
                  <a:spAutoFit/>
                </a:bodyPr>
                <a:lstStyle/>
                <a:p>
                  <a:r>
                    <a:rPr lang="en-US" sz="2400" dirty="0"/>
                    <a:t>10</a:t>
                  </a:r>
                  <a:r>
                    <a:rPr lang="en-US" sz="2400" baseline="30000" dirty="0"/>
                    <a:t>-3</a:t>
                  </a:r>
                  <a:endParaRPr lang="en-US" sz="2400" dirty="0"/>
                </a:p>
              </p:txBody>
            </p:sp>
            <p:sp>
              <p:nvSpPr>
                <p:cNvPr id="20" name="TextBox 19">
                  <a:extLst>
                    <a:ext uri="{FF2B5EF4-FFF2-40B4-BE49-F238E27FC236}">
                      <a16:creationId xmlns:a16="http://schemas.microsoft.com/office/drawing/2014/main" id="{7D87805D-C1C1-0160-7E30-FCD0E9021E98}"/>
                    </a:ext>
                  </a:extLst>
                </p:cNvPr>
                <p:cNvSpPr txBox="1"/>
                <p:nvPr/>
              </p:nvSpPr>
              <p:spPr>
                <a:xfrm>
                  <a:off x="-217760" y="290028"/>
                  <a:ext cx="9854666" cy="461665"/>
                </a:xfrm>
                <a:prstGeom prst="rect">
                  <a:avLst/>
                </a:prstGeom>
                <a:noFill/>
              </p:spPr>
              <p:txBody>
                <a:bodyPr wrap="square" rtlCol="0">
                  <a:spAutoFit/>
                </a:bodyPr>
                <a:lstStyle/>
                <a:p>
                  <a:pPr algn="ctr"/>
                  <a:r>
                    <a:rPr lang="en-US" sz="2400" dirty="0"/>
                    <a:t>0.05                    	               0.1           </a:t>
                  </a:r>
                </a:p>
              </p:txBody>
            </p:sp>
            <p:cxnSp>
              <p:nvCxnSpPr>
                <p:cNvPr id="21" name="Straight Arrow Connector 20">
                  <a:extLst>
                    <a:ext uri="{FF2B5EF4-FFF2-40B4-BE49-F238E27FC236}">
                      <a16:creationId xmlns:a16="http://schemas.microsoft.com/office/drawing/2014/main" id="{57E3EE9F-1EAB-122D-28BD-5F64B70C3670}"/>
                    </a:ext>
                  </a:extLst>
                </p:cNvPr>
                <p:cNvCxnSpPr>
                  <a:cxnSpLocks/>
                </p:cNvCxnSpPr>
                <p:nvPr/>
              </p:nvCxnSpPr>
              <p:spPr>
                <a:xfrm flipV="1">
                  <a:off x="1385830" y="274276"/>
                  <a:ext cx="6913218" cy="16303"/>
                </a:xfrm>
                <a:prstGeom prst="straightConnector1">
                  <a:avLst/>
                </a:prstGeom>
                <a:ln w="50800">
                  <a:solidFill>
                    <a:srgbClr val="00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68848A9F-3968-19D7-3AA7-3D73CEA05CD0}"/>
                    </a:ext>
                  </a:extLst>
                </p:cNvPr>
                <p:cNvSpPr txBox="1"/>
                <p:nvPr/>
              </p:nvSpPr>
              <p:spPr>
                <a:xfrm>
                  <a:off x="1601164" y="-171086"/>
                  <a:ext cx="6098582" cy="461665"/>
                </a:xfrm>
                <a:prstGeom prst="rect">
                  <a:avLst/>
                </a:prstGeom>
                <a:noFill/>
              </p:spPr>
              <p:txBody>
                <a:bodyPr wrap="square">
                  <a:spAutoFit/>
                </a:bodyPr>
                <a:lstStyle/>
                <a:p>
                  <a:pPr algn="ctr"/>
                  <a:r>
                    <a:rPr lang="en-US" sz="2400" dirty="0"/>
                    <a:t>Increase in fitness with mutation, 𝛔 </a:t>
                  </a:r>
                </a:p>
              </p:txBody>
            </p:sp>
          </p:grpSp>
          <p:sp>
            <p:nvSpPr>
              <p:cNvPr id="24" name="TextBox 23">
                <a:extLst>
                  <a:ext uri="{FF2B5EF4-FFF2-40B4-BE49-F238E27FC236}">
                    <a16:creationId xmlns:a16="http://schemas.microsoft.com/office/drawing/2014/main" id="{CBF46FA1-1341-6D7B-91A5-CCE16E6815CE}"/>
                  </a:ext>
                </a:extLst>
              </p:cNvPr>
              <p:cNvSpPr txBox="1"/>
              <p:nvPr/>
            </p:nvSpPr>
            <p:spPr>
              <a:xfrm>
                <a:off x="9433237" y="2926690"/>
                <a:ext cx="1778307" cy="338554"/>
              </a:xfrm>
              <a:prstGeom prst="rect">
                <a:avLst/>
              </a:prstGeom>
              <a:noFill/>
            </p:spPr>
            <p:txBody>
              <a:bodyPr wrap="none" rtlCol="0">
                <a:spAutoFit/>
              </a:bodyPr>
              <a:lstStyle/>
              <a:p>
                <a:r>
                  <a:rPr lang="en-US" sz="1600" dirty="0"/>
                  <a:t>Log P(Emergence)</a:t>
                </a:r>
              </a:p>
            </p:txBody>
          </p:sp>
        </p:grpSp>
        <p:sp>
          <p:nvSpPr>
            <p:cNvPr id="31" name="Rectangle 30">
              <a:extLst>
                <a:ext uri="{FF2B5EF4-FFF2-40B4-BE49-F238E27FC236}">
                  <a16:creationId xmlns:a16="http://schemas.microsoft.com/office/drawing/2014/main" id="{DD4D5A2A-14FB-797F-80DF-2B1B5DC3D084}"/>
                </a:ext>
              </a:extLst>
            </p:cNvPr>
            <p:cNvSpPr/>
            <p:nvPr/>
          </p:nvSpPr>
          <p:spPr>
            <a:xfrm>
              <a:off x="9605885" y="3322512"/>
              <a:ext cx="269640" cy="608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48221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red and blue graph&#10;&#10;AI-generated content may be incorrect.">
            <a:extLst>
              <a:ext uri="{FF2B5EF4-FFF2-40B4-BE49-F238E27FC236}">
                <a16:creationId xmlns:a16="http://schemas.microsoft.com/office/drawing/2014/main" id="{38E11DB1-BDF5-F845-F4E5-076E374197E5}"/>
              </a:ext>
            </a:extLst>
          </p:cNvPr>
          <p:cNvPicPr>
            <a:picLocks noChangeAspect="1"/>
          </p:cNvPicPr>
          <p:nvPr/>
        </p:nvPicPr>
        <p:blipFill>
          <a:blip r:embed="rId2"/>
          <a:stretch>
            <a:fillRect/>
          </a:stretch>
        </p:blipFill>
        <p:spPr>
          <a:xfrm>
            <a:off x="2569973" y="157006"/>
            <a:ext cx="7772400" cy="6543987"/>
          </a:xfrm>
          <a:prstGeom prst="rect">
            <a:avLst/>
          </a:prstGeom>
        </p:spPr>
      </p:pic>
    </p:spTree>
    <p:extLst>
      <p:ext uri="{BB962C8B-B14F-4D97-AF65-F5344CB8AC3E}">
        <p14:creationId xmlns:p14="http://schemas.microsoft.com/office/powerpoint/2010/main" val="3640391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7E50F4C8-A75A-3E7E-D3F3-AC0EA17F99E6}"/>
              </a:ext>
            </a:extLst>
          </p:cNvPr>
          <p:cNvGrpSpPr/>
          <p:nvPr/>
        </p:nvGrpSpPr>
        <p:grpSpPr>
          <a:xfrm>
            <a:off x="733052" y="1444873"/>
            <a:ext cx="8906708" cy="3759188"/>
            <a:chOff x="788136" y="1004198"/>
            <a:chExt cx="8906708" cy="3759188"/>
          </a:xfrm>
        </p:grpSpPr>
        <p:pic>
          <p:nvPicPr>
            <p:cNvPr id="8" name="Picture 7">
              <a:extLst>
                <a:ext uri="{FF2B5EF4-FFF2-40B4-BE49-F238E27FC236}">
                  <a16:creationId xmlns:a16="http://schemas.microsoft.com/office/drawing/2014/main" id="{A7BD75F2-434B-D15E-36B3-ABEDE0AB52EA}"/>
                </a:ext>
              </a:extLst>
            </p:cNvPr>
            <p:cNvPicPr>
              <a:picLocks noChangeAspect="1"/>
            </p:cNvPicPr>
            <p:nvPr/>
          </p:nvPicPr>
          <p:blipFill>
            <a:blip r:embed="rId3"/>
            <a:srcRect r="13127"/>
            <a:stretch>
              <a:fillRect/>
            </a:stretch>
          </p:blipFill>
          <p:spPr>
            <a:xfrm>
              <a:off x="842068" y="1060227"/>
              <a:ext cx="4685446" cy="3703159"/>
            </a:xfrm>
            <a:prstGeom prst="rect">
              <a:avLst/>
            </a:prstGeom>
          </p:spPr>
        </p:pic>
        <p:sp>
          <p:nvSpPr>
            <p:cNvPr id="6" name="TextBox 5">
              <a:extLst>
                <a:ext uri="{FF2B5EF4-FFF2-40B4-BE49-F238E27FC236}">
                  <a16:creationId xmlns:a16="http://schemas.microsoft.com/office/drawing/2014/main" id="{B160D4E6-2B38-8466-F5C7-16C967794AF5}"/>
                </a:ext>
              </a:extLst>
            </p:cNvPr>
            <p:cNvSpPr txBox="1"/>
            <p:nvPr/>
          </p:nvSpPr>
          <p:spPr>
            <a:xfrm>
              <a:off x="788136" y="1004198"/>
              <a:ext cx="424540" cy="400110"/>
            </a:xfrm>
            <a:prstGeom prst="rect">
              <a:avLst/>
            </a:prstGeom>
            <a:noFill/>
          </p:spPr>
          <p:txBody>
            <a:bodyPr wrap="none" rtlCol="0">
              <a:spAutoFit/>
            </a:bodyPr>
            <a:lstStyle/>
            <a:p>
              <a:r>
                <a:rPr lang="en-US" sz="2000" b="1" dirty="0"/>
                <a:t>A.</a:t>
              </a:r>
            </a:p>
          </p:txBody>
        </p:sp>
        <p:pic>
          <p:nvPicPr>
            <p:cNvPr id="31" name="Picture 30">
              <a:extLst>
                <a:ext uri="{FF2B5EF4-FFF2-40B4-BE49-F238E27FC236}">
                  <a16:creationId xmlns:a16="http://schemas.microsoft.com/office/drawing/2014/main" id="{F845EBEA-37AC-4FCC-5375-740065DF3CD6}"/>
                </a:ext>
              </a:extLst>
            </p:cNvPr>
            <p:cNvPicPr>
              <a:picLocks noChangeAspect="1"/>
            </p:cNvPicPr>
            <p:nvPr/>
          </p:nvPicPr>
          <p:blipFill>
            <a:blip r:embed="rId4"/>
            <a:srcRect r="14117"/>
            <a:stretch>
              <a:fillRect/>
            </a:stretch>
          </p:blipFill>
          <p:spPr>
            <a:xfrm>
              <a:off x="5850749" y="1060227"/>
              <a:ext cx="3756972" cy="3703159"/>
            </a:xfrm>
            <a:prstGeom prst="rect">
              <a:avLst/>
            </a:prstGeom>
          </p:spPr>
        </p:pic>
        <p:sp>
          <p:nvSpPr>
            <p:cNvPr id="9" name="TextBox 8">
              <a:extLst>
                <a:ext uri="{FF2B5EF4-FFF2-40B4-BE49-F238E27FC236}">
                  <a16:creationId xmlns:a16="http://schemas.microsoft.com/office/drawing/2014/main" id="{2E2576DA-1181-12A0-B7B4-0F19ADBEB114}"/>
                </a:ext>
              </a:extLst>
            </p:cNvPr>
            <p:cNvSpPr txBox="1"/>
            <p:nvPr/>
          </p:nvSpPr>
          <p:spPr>
            <a:xfrm>
              <a:off x="5850749" y="1004198"/>
              <a:ext cx="417102" cy="400110"/>
            </a:xfrm>
            <a:prstGeom prst="rect">
              <a:avLst/>
            </a:prstGeom>
            <a:noFill/>
          </p:spPr>
          <p:txBody>
            <a:bodyPr wrap="square" rtlCol="0">
              <a:spAutoFit/>
            </a:bodyPr>
            <a:lstStyle/>
            <a:p>
              <a:r>
                <a:rPr lang="en-US" sz="2000" b="1" dirty="0"/>
                <a:t>B.</a:t>
              </a:r>
            </a:p>
          </p:txBody>
        </p:sp>
        <p:pic>
          <p:nvPicPr>
            <p:cNvPr id="33" name="Picture 32">
              <a:extLst>
                <a:ext uri="{FF2B5EF4-FFF2-40B4-BE49-F238E27FC236}">
                  <a16:creationId xmlns:a16="http://schemas.microsoft.com/office/drawing/2014/main" id="{CBFDB642-82A8-217E-E45A-BEF4F47B3601}"/>
                </a:ext>
              </a:extLst>
            </p:cNvPr>
            <p:cNvPicPr>
              <a:picLocks noChangeAspect="1"/>
            </p:cNvPicPr>
            <p:nvPr/>
          </p:nvPicPr>
          <p:blipFill>
            <a:blip r:embed="rId5"/>
            <a:stretch>
              <a:fillRect/>
            </a:stretch>
          </p:blipFill>
          <p:spPr>
            <a:xfrm>
              <a:off x="9006123" y="3480407"/>
              <a:ext cx="688721" cy="714229"/>
            </a:xfrm>
            <a:prstGeom prst="rect">
              <a:avLst/>
            </a:prstGeom>
          </p:spPr>
        </p:pic>
        <p:pic>
          <p:nvPicPr>
            <p:cNvPr id="16" name="Picture 15">
              <a:extLst>
                <a:ext uri="{FF2B5EF4-FFF2-40B4-BE49-F238E27FC236}">
                  <a16:creationId xmlns:a16="http://schemas.microsoft.com/office/drawing/2014/main" id="{FE55A5F3-9458-061A-D065-F25B5CCBC9A8}"/>
                </a:ext>
              </a:extLst>
            </p:cNvPr>
            <p:cNvPicPr>
              <a:picLocks noChangeAspect="1"/>
            </p:cNvPicPr>
            <p:nvPr/>
          </p:nvPicPr>
          <p:blipFill>
            <a:blip r:embed="rId6"/>
            <a:stretch>
              <a:fillRect/>
            </a:stretch>
          </p:blipFill>
          <p:spPr>
            <a:xfrm>
              <a:off x="5037843" y="2391125"/>
              <a:ext cx="669686" cy="1803511"/>
            </a:xfrm>
            <a:prstGeom prst="rect">
              <a:avLst/>
            </a:prstGeom>
          </p:spPr>
        </p:pic>
      </p:grpSp>
    </p:spTree>
    <p:extLst>
      <p:ext uri="{BB962C8B-B14F-4D97-AF65-F5344CB8AC3E}">
        <p14:creationId xmlns:p14="http://schemas.microsoft.com/office/powerpoint/2010/main" val="3727762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3DC128B9-C7A4-F55E-4EE4-B548B4D9C087}"/>
              </a:ext>
            </a:extLst>
          </p:cNvPr>
          <p:cNvGrpSpPr/>
          <p:nvPr/>
        </p:nvGrpSpPr>
        <p:grpSpPr>
          <a:xfrm>
            <a:off x="1430356" y="1317801"/>
            <a:ext cx="8518181" cy="3540637"/>
            <a:chOff x="1430356" y="1317801"/>
            <a:chExt cx="8518181" cy="3540637"/>
          </a:xfrm>
        </p:grpSpPr>
        <p:pic>
          <p:nvPicPr>
            <p:cNvPr id="15" name="Picture 14">
              <a:extLst>
                <a:ext uri="{FF2B5EF4-FFF2-40B4-BE49-F238E27FC236}">
                  <a16:creationId xmlns:a16="http://schemas.microsoft.com/office/drawing/2014/main" id="{3A3C4CB7-F47E-97B9-A58C-8D3E0D30EAA3}"/>
                </a:ext>
              </a:extLst>
            </p:cNvPr>
            <p:cNvPicPr>
              <a:picLocks noChangeAspect="1"/>
            </p:cNvPicPr>
            <p:nvPr/>
          </p:nvPicPr>
          <p:blipFill>
            <a:blip r:embed="rId2"/>
            <a:srcRect r="15214"/>
            <a:stretch>
              <a:fillRect/>
            </a:stretch>
          </p:blipFill>
          <p:spPr>
            <a:xfrm>
              <a:off x="1430356" y="1317801"/>
              <a:ext cx="8518181" cy="3540637"/>
            </a:xfrm>
            <a:prstGeom prst="rect">
              <a:avLst/>
            </a:prstGeom>
          </p:spPr>
        </p:pic>
        <p:pic>
          <p:nvPicPr>
            <p:cNvPr id="10" name="Picture 9">
              <a:extLst>
                <a:ext uri="{FF2B5EF4-FFF2-40B4-BE49-F238E27FC236}">
                  <a16:creationId xmlns:a16="http://schemas.microsoft.com/office/drawing/2014/main" id="{704B3B77-84AD-15B4-2C41-985187A7AEA2}"/>
                </a:ext>
              </a:extLst>
            </p:cNvPr>
            <p:cNvPicPr>
              <a:picLocks noChangeAspect="1"/>
            </p:cNvPicPr>
            <p:nvPr/>
          </p:nvPicPr>
          <p:blipFill>
            <a:blip r:embed="rId3"/>
            <a:stretch>
              <a:fillRect/>
            </a:stretch>
          </p:blipFill>
          <p:spPr>
            <a:xfrm>
              <a:off x="7172286" y="2060154"/>
              <a:ext cx="1656573" cy="1641513"/>
            </a:xfrm>
            <a:prstGeom prst="rect">
              <a:avLst/>
            </a:prstGeom>
          </p:spPr>
        </p:pic>
      </p:grpSp>
    </p:spTree>
    <p:extLst>
      <p:ext uri="{BB962C8B-B14F-4D97-AF65-F5344CB8AC3E}">
        <p14:creationId xmlns:p14="http://schemas.microsoft.com/office/powerpoint/2010/main" val="3396968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1743C-B907-CD81-F5B0-F2399A3F67D3}"/>
              </a:ext>
            </a:extLst>
          </p:cNvPr>
          <p:cNvSpPr>
            <a:spLocks noGrp="1"/>
          </p:cNvSpPr>
          <p:nvPr>
            <p:ph type="title"/>
          </p:nvPr>
        </p:nvSpPr>
        <p:spPr/>
        <p:txBody>
          <a:bodyPr/>
          <a:lstStyle/>
          <a:p>
            <a:r>
              <a:rPr lang="en-US" dirty="0"/>
              <a:t>Revision 1</a:t>
            </a:r>
          </a:p>
        </p:txBody>
      </p:sp>
    </p:spTree>
    <p:extLst>
      <p:ext uri="{BB962C8B-B14F-4D97-AF65-F5344CB8AC3E}">
        <p14:creationId xmlns:p14="http://schemas.microsoft.com/office/powerpoint/2010/main" val="2114051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23B15E76-5C30-8D0C-867B-6FD88EFA9AF4}"/>
              </a:ext>
            </a:extLst>
          </p:cNvPr>
          <p:cNvPicPr>
            <a:picLocks noChangeAspect="1"/>
          </p:cNvPicPr>
          <p:nvPr/>
        </p:nvPicPr>
        <p:blipFill>
          <a:blip r:embed="rId2"/>
          <a:srcRect t="3853"/>
          <a:stretch>
            <a:fillRect/>
          </a:stretch>
        </p:blipFill>
        <p:spPr>
          <a:xfrm>
            <a:off x="668165" y="1633882"/>
            <a:ext cx="9952700" cy="4869706"/>
          </a:xfrm>
          <a:prstGeom prst="rect">
            <a:avLst/>
          </a:prstGeom>
        </p:spPr>
      </p:pic>
      <p:cxnSp>
        <p:nvCxnSpPr>
          <p:cNvPr id="7" name="Straight Connector 6">
            <a:extLst>
              <a:ext uri="{FF2B5EF4-FFF2-40B4-BE49-F238E27FC236}">
                <a16:creationId xmlns:a16="http://schemas.microsoft.com/office/drawing/2014/main" id="{2605A128-0A18-ED2B-D9F6-C9B5D7A1A3B9}"/>
              </a:ext>
            </a:extLst>
          </p:cNvPr>
          <p:cNvCxnSpPr>
            <a:cxnSpLocks/>
          </p:cNvCxnSpPr>
          <p:nvPr/>
        </p:nvCxnSpPr>
        <p:spPr>
          <a:xfrm>
            <a:off x="1995463" y="659218"/>
            <a:ext cx="0" cy="5289695"/>
          </a:xfrm>
          <a:prstGeom prst="line">
            <a:avLst/>
          </a:prstGeom>
          <a:ln w="38100">
            <a:solidFill>
              <a:srgbClr val="000000">
                <a:alpha val="50196"/>
              </a:srgbClr>
            </a:solidFill>
            <a:prstDash val="dash"/>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6D2054F-A546-7670-E354-DD142863313D}"/>
              </a:ext>
            </a:extLst>
          </p:cNvPr>
          <p:cNvCxnSpPr>
            <a:cxnSpLocks/>
          </p:cNvCxnSpPr>
          <p:nvPr/>
        </p:nvCxnSpPr>
        <p:spPr>
          <a:xfrm>
            <a:off x="3274912" y="659218"/>
            <a:ext cx="0" cy="5289695"/>
          </a:xfrm>
          <a:prstGeom prst="line">
            <a:avLst/>
          </a:prstGeom>
          <a:ln w="38100">
            <a:solidFill>
              <a:srgbClr val="000000">
                <a:alpha val="50196"/>
              </a:srgbClr>
            </a:solidFill>
            <a:prstDash val="dash"/>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A4E0EF78-32DF-C19B-B746-30009601BB31}"/>
              </a:ext>
            </a:extLst>
          </p:cNvPr>
          <p:cNvCxnSpPr>
            <a:cxnSpLocks/>
          </p:cNvCxnSpPr>
          <p:nvPr/>
        </p:nvCxnSpPr>
        <p:spPr>
          <a:xfrm>
            <a:off x="4618160" y="655172"/>
            <a:ext cx="0" cy="5293741"/>
          </a:xfrm>
          <a:prstGeom prst="line">
            <a:avLst/>
          </a:prstGeom>
          <a:ln w="38100">
            <a:solidFill>
              <a:srgbClr val="000000">
                <a:alpha val="50196"/>
              </a:srgbClr>
            </a:solidFill>
            <a:prstDash val="dash"/>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AA405A0-0A19-15F6-B300-4AA6696CB2C6}"/>
              </a:ext>
            </a:extLst>
          </p:cNvPr>
          <p:cNvCxnSpPr>
            <a:cxnSpLocks/>
          </p:cNvCxnSpPr>
          <p:nvPr/>
        </p:nvCxnSpPr>
        <p:spPr>
          <a:xfrm>
            <a:off x="6096000" y="655172"/>
            <a:ext cx="0" cy="5289695"/>
          </a:xfrm>
          <a:prstGeom prst="line">
            <a:avLst/>
          </a:prstGeom>
          <a:ln w="38100">
            <a:solidFill>
              <a:srgbClr val="000000">
                <a:alpha val="50196"/>
              </a:srgbClr>
            </a:solidFill>
            <a:prstDash val="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00A9BDB-FEB0-F017-C56E-5CE975FC72C8}"/>
              </a:ext>
            </a:extLst>
          </p:cNvPr>
          <p:cNvCxnSpPr>
            <a:cxnSpLocks/>
          </p:cNvCxnSpPr>
          <p:nvPr/>
        </p:nvCxnSpPr>
        <p:spPr>
          <a:xfrm>
            <a:off x="7747676" y="655171"/>
            <a:ext cx="0" cy="5289695"/>
          </a:xfrm>
          <a:prstGeom prst="line">
            <a:avLst/>
          </a:prstGeom>
          <a:ln w="38100">
            <a:solidFill>
              <a:srgbClr val="000000">
                <a:alpha val="50196"/>
              </a:srgbClr>
            </a:solidFill>
            <a:prstDash val="dash"/>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0536468-AC00-D1BA-1FC9-810FB1444EA7}"/>
              </a:ext>
            </a:extLst>
          </p:cNvPr>
          <p:cNvCxnSpPr>
            <a:cxnSpLocks/>
          </p:cNvCxnSpPr>
          <p:nvPr/>
        </p:nvCxnSpPr>
        <p:spPr>
          <a:xfrm>
            <a:off x="9544578" y="655171"/>
            <a:ext cx="0" cy="5294376"/>
          </a:xfrm>
          <a:prstGeom prst="line">
            <a:avLst/>
          </a:prstGeom>
          <a:ln w="38100">
            <a:solidFill>
              <a:srgbClr val="000000">
                <a:alpha val="50196"/>
              </a:srgbClr>
            </a:solidFill>
            <a:prstDash val="dash"/>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A067958C-9474-5D98-516B-F1328DAB2211}"/>
              </a:ext>
            </a:extLst>
          </p:cNvPr>
          <p:cNvSpPr/>
          <p:nvPr/>
        </p:nvSpPr>
        <p:spPr>
          <a:xfrm>
            <a:off x="1115890" y="776177"/>
            <a:ext cx="734876" cy="659219"/>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2" name="Oval 21">
            <a:extLst>
              <a:ext uri="{FF2B5EF4-FFF2-40B4-BE49-F238E27FC236}">
                <a16:creationId xmlns:a16="http://schemas.microsoft.com/office/drawing/2014/main" id="{ADA4ED04-4A58-24DD-16B6-67A852AD16D8}"/>
              </a:ext>
            </a:extLst>
          </p:cNvPr>
          <p:cNvSpPr/>
          <p:nvPr/>
        </p:nvSpPr>
        <p:spPr>
          <a:xfrm>
            <a:off x="2278382" y="776177"/>
            <a:ext cx="734876" cy="659219"/>
          </a:xfrm>
          <a:prstGeom prst="ellipse">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C7BA9758-A02C-51CA-65A1-256F046FC037}"/>
              </a:ext>
            </a:extLst>
          </p:cNvPr>
          <p:cNvSpPr/>
          <p:nvPr/>
        </p:nvSpPr>
        <p:spPr>
          <a:xfrm>
            <a:off x="3579098" y="776177"/>
            <a:ext cx="734876" cy="659219"/>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065C465-0B0A-4BE7-EA5B-A2DD466E58D8}"/>
              </a:ext>
            </a:extLst>
          </p:cNvPr>
          <p:cNvSpPr/>
          <p:nvPr/>
        </p:nvSpPr>
        <p:spPr>
          <a:xfrm>
            <a:off x="4989642" y="776177"/>
            <a:ext cx="734876" cy="659219"/>
          </a:xfrm>
          <a:prstGeom prst="ellipse">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8D7DA69-D086-06A0-048F-3295063BA14F}"/>
              </a:ext>
            </a:extLst>
          </p:cNvPr>
          <p:cNvSpPr/>
          <p:nvPr/>
        </p:nvSpPr>
        <p:spPr>
          <a:xfrm>
            <a:off x="6554400" y="776177"/>
            <a:ext cx="734876" cy="659219"/>
          </a:xfrm>
          <a:prstGeom prst="ellipse">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77D6B51-5122-FCC3-0CE0-528F85C3DC59}"/>
              </a:ext>
            </a:extLst>
          </p:cNvPr>
          <p:cNvSpPr/>
          <p:nvPr/>
        </p:nvSpPr>
        <p:spPr>
          <a:xfrm>
            <a:off x="8278689" y="839973"/>
            <a:ext cx="734876" cy="659219"/>
          </a:xfrm>
          <a:prstGeom prst="ellipse">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BF3EF9E-3C7E-5227-0BAC-1C2EC778762E}"/>
              </a:ext>
            </a:extLst>
          </p:cNvPr>
          <p:cNvSpPr/>
          <p:nvPr/>
        </p:nvSpPr>
        <p:spPr>
          <a:xfrm>
            <a:off x="10075592" y="839973"/>
            <a:ext cx="734876" cy="659219"/>
          </a:xfrm>
          <a:prstGeom prst="ellipse">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13B0D364-C23D-D43D-962D-D63AD6F00EFC}"/>
              </a:ext>
            </a:extLst>
          </p:cNvPr>
          <p:cNvSpPr txBox="1"/>
          <p:nvPr/>
        </p:nvSpPr>
        <p:spPr>
          <a:xfrm>
            <a:off x="1183984" y="4807135"/>
            <a:ext cx="1137459" cy="646331"/>
          </a:xfrm>
          <a:prstGeom prst="rect">
            <a:avLst/>
          </a:prstGeom>
          <a:noFill/>
        </p:spPr>
        <p:txBody>
          <a:bodyPr wrap="square" rtlCol="0">
            <a:spAutoFit/>
          </a:bodyPr>
          <a:lstStyle/>
          <a:p>
            <a:r>
              <a:rPr lang="en-US" sz="1200" b="1" dirty="0"/>
              <a:t>6 mutations away from supercritical</a:t>
            </a:r>
          </a:p>
        </p:txBody>
      </p:sp>
      <p:sp>
        <p:nvSpPr>
          <p:cNvPr id="37" name="TextBox 36">
            <a:extLst>
              <a:ext uri="{FF2B5EF4-FFF2-40B4-BE49-F238E27FC236}">
                <a16:creationId xmlns:a16="http://schemas.microsoft.com/office/drawing/2014/main" id="{2EDA98A9-184F-6E7E-611E-E9E6B5F33B47}"/>
              </a:ext>
            </a:extLst>
          </p:cNvPr>
          <p:cNvSpPr txBox="1"/>
          <p:nvPr/>
        </p:nvSpPr>
        <p:spPr>
          <a:xfrm>
            <a:off x="9919453" y="601457"/>
            <a:ext cx="1636800" cy="276999"/>
          </a:xfrm>
          <a:prstGeom prst="rect">
            <a:avLst/>
          </a:prstGeom>
          <a:noFill/>
        </p:spPr>
        <p:txBody>
          <a:bodyPr wrap="square" rtlCol="0">
            <a:spAutoFit/>
          </a:bodyPr>
          <a:lstStyle/>
          <a:p>
            <a:r>
              <a:rPr lang="en-US" sz="1200" b="1" dirty="0"/>
              <a:t>Supercritical</a:t>
            </a:r>
          </a:p>
        </p:txBody>
      </p:sp>
      <p:sp>
        <p:nvSpPr>
          <p:cNvPr id="38" name="TextBox 37">
            <a:extLst>
              <a:ext uri="{FF2B5EF4-FFF2-40B4-BE49-F238E27FC236}">
                <a16:creationId xmlns:a16="http://schemas.microsoft.com/office/drawing/2014/main" id="{6FE507FD-13E4-DD03-6BD5-E0016EA58AAF}"/>
              </a:ext>
            </a:extLst>
          </p:cNvPr>
          <p:cNvSpPr txBox="1"/>
          <p:nvPr/>
        </p:nvSpPr>
        <p:spPr>
          <a:xfrm>
            <a:off x="1945511" y="4293386"/>
            <a:ext cx="1446946" cy="276999"/>
          </a:xfrm>
          <a:prstGeom prst="rect">
            <a:avLst/>
          </a:prstGeom>
          <a:noFill/>
        </p:spPr>
        <p:txBody>
          <a:bodyPr wrap="square" rtlCol="0">
            <a:spAutoFit/>
          </a:bodyPr>
          <a:lstStyle/>
          <a:p>
            <a:r>
              <a:rPr lang="en-US" sz="1200" b="1" dirty="0"/>
              <a:t>5 mutations away</a:t>
            </a:r>
          </a:p>
        </p:txBody>
      </p:sp>
      <p:sp>
        <p:nvSpPr>
          <p:cNvPr id="39" name="TextBox 38">
            <a:extLst>
              <a:ext uri="{FF2B5EF4-FFF2-40B4-BE49-F238E27FC236}">
                <a16:creationId xmlns:a16="http://schemas.microsoft.com/office/drawing/2014/main" id="{E363BF66-60B9-F080-DC09-D3EF03813ED2}"/>
              </a:ext>
            </a:extLst>
          </p:cNvPr>
          <p:cNvSpPr txBox="1"/>
          <p:nvPr/>
        </p:nvSpPr>
        <p:spPr>
          <a:xfrm>
            <a:off x="3274912" y="3532463"/>
            <a:ext cx="1416053" cy="276999"/>
          </a:xfrm>
          <a:prstGeom prst="rect">
            <a:avLst/>
          </a:prstGeom>
          <a:noFill/>
        </p:spPr>
        <p:txBody>
          <a:bodyPr wrap="square" rtlCol="0">
            <a:spAutoFit/>
          </a:bodyPr>
          <a:lstStyle/>
          <a:p>
            <a:r>
              <a:rPr lang="en-US" sz="1200" b="1" dirty="0"/>
              <a:t>4 mutations away</a:t>
            </a:r>
          </a:p>
        </p:txBody>
      </p:sp>
      <p:sp>
        <p:nvSpPr>
          <p:cNvPr id="40" name="TextBox 39">
            <a:extLst>
              <a:ext uri="{FF2B5EF4-FFF2-40B4-BE49-F238E27FC236}">
                <a16:creationId xmlns:a16="http://schemas.microsoft.com/office/drawing/2014/main" id="{436D0B7B-0282-C888-6B97-81B4FE3B158F}"/>
              </a:ext>
            </a:extLst>
          </p:cNvPr>
          <p:cNvSpPr txBox="1"/>
          <p:nvPr/>
        </p:nvSpPr>
        <p:spPr>
          <a:xfrm>
            <a:off x="4649673" y="2854646"/>
            <a:ext cx="1636800" cy="276999"/>
          </a:xfrm>
          <a:prstGeom prst="rect">
            <a:avLst/>
          </a:prstGeom>
          <a:noFill/>
        </p:spPr>
        <p:txBody>
          <a:bodyPr wrap="square" rtlCol="0">
            <a:spAutoFit/>
          </a:bodyPr>
          <a:lstStyle/>
          <a:p>
            <a:r>
              <a:rPr lang="en-US" sz="1200" b="1" dirty="0"/>
              <a:t>3 mutations away</a:t>
            </a:r>
          </a:p>
        </p:txBody>
      </p:sp>
      <p:sp>
        <p:nvSpPr>
          <p:cNvPr id="41" name="TextBox 40">
            <a:extLst>
              <a:ext uri="{FF2B5EF4-FFF2-40B4-BE49-F238E27FC236}">
                <a16:creationId xmlns:a16="http://schemas.microsoft.com/office/drawing/2014/main" id="{A7CF582C-3C1E-8D5D-3886-2725ED04D6DA}"/>
              </a:ext>
            </a:extLst>
          </p:cNvPr>
          <p:cNvSpPr txBox="1"/>
          <p:nvPr/>
        </p:nvSpPr>
        <p:spPr>
          <a:xfrm>
            <a:off x="6190928" y="2196857"/>
            <a:ext cx="1636800" cy="276999"/>
          </a:xfrm>
          <a:prstGeom prst="rect">
            <a:avLst/>
          </a:prstGeom>
          <a:noFill/>
        </p:spPr>
        <p:txBody>
          <a:bodyPr wrap="square" rtlCol="0">
            <a:spAutoFit/>
          </a:bodyPr>
          <a:lstStyle/>
          <a:p>
            <a:r>
              <a:rPr lang="en-US" sz="1200" b="1" dirty="0"/>
              <a:t>2 mutations away</a:t>
            </a:r>
          </a:p>
        </p:txBody>
      </p:sp>
      <p:sp>
        <p:nvSpPr>
          <p:cNvPr id="42" name="TextBox 41">
            <a:extLst>
              <a:ext uri="{FF2B5EF4-FFF2-40B4-BE49-F238E27FC236}">
                <a16:creationId xmlns:a16="http://schemas.microsoft.com/office/drawing/2014/main" id="{24BAA369-D84C-EB8B-3E06-7184138203CD}"/>
              </a:ext>
            </a:extLst>
          </p:cNvPr>
          <p:cNvSpPr txBox="1"/>
          <p:nvPr/>
        </p:nvSpPr>
        <p:spPr>
          <a:xfrm>
            <a:off x="7812851" y="2064521"/>
            <a:ext cx="1636800" cy="276999"/>
          </a:xfrm>
          <a:prstGeom prst="rect">
            <a:avLst/>
          </a:prstGeom>
          <a:noFill/>
        </p:spPr>
        <p:txBody>
          <a:bodyPr wrap="square" rtlCol="0">
            <a:spAutoFit/>
          </a:bodyPr>
          <a:lstStyle/>
          <a:p>
            <a:r>
              <a:rPr lang="en-US" sz="1200" b="1" dirty="0"/>
              <a:t>1 mutations away</a:t>
            </a:r>
          </a:p>
        </p:txBody>
      </p:sp>
      <p:sp>
        <p:nvSpPr>
          <p:cNvPr id="43" name="TextBox 42">
            <a:extLst>
              <a:ext uri="{FF2B5EF4-FFF2-40B4-BE49-F238E27FC236}">
                <a16:creationId xmlns:a16="http://schemas.microsoft.com/office/drawing/2014/main" id="{2DB64490-7676-2A45-CB2F-3E042747E70D}"/>
              </a:ext>
            </a:extLst>
          </p:cNvPr>
          <p:cNvSpPr txBox="1"/>
          <p:nvPr/>
        </p:nvSpPr>
        <p:spPr>
          <a:xfrm rot="16200000">
            <a:off x="-1385047" y="3390439"/>
            <a:ext cx="3982260" cy="646331"/>
          </a:xfrm>
          <a:prstGeom prst="rect">
            <a:avLst/>
          </a:prstGeom>
          <a:solidFill>
            <a:schemeClr val="bg1"/>
          </a:solidFill>
        </p:spPr>
        <p:txBody>
          <a:bodyPr wrap="square" rtlCol="0">
            <a:spAutoFit/>
          </a:bodyPr>
          <a:lstStyle/>
          <a:p>
            <a:pPr algn="ctr"/>
            <a:r>
              <a:rPr lang="en-US" b="1" dirty="0"/>
              <a:t>Probability of becoming supercritical before extinction</a:t>
            </a:r>
          </a:p>
        </p:txBody>
      </p:sp>
      <p:sp>
        <p:nvSpPr>
          <p:cNvPr id="2" name="TextBox 1">
            <a:extLst>
              <a:ext uri="{FF2B5EF4-FFF2-40B4-BE49-F238E27FC236}">
                <a16:creationId xmlns:a16="http://schemas.microsoft.com/office/drawing/2014/main" id="{76A75DE6-F811-6437-6AAE-BBC2D8C7362C}"/>
              </a:ext>
            </a:extLst>
          </p:cNvPr>
          <p:cNvSpPr txBox="1"/>
          <p:nvPr/>
        </p:nvSpPr>
        <p:spPr>
          <a:xfrm>
            <a:off x="3445679" y="6143353"/>
            <a:ext cx="3982260" cy="369332"/>
          </a:xfrm>
          <a:prstGeom prst="rect">
            <a:avLst/>
          </a:prstGeom>
          <a:solidFill>
            <a:schemeClr val="bg1"/>
          </a:solidFill>
        </p:spPr>
        <p:txBody>
          <a:bodyPr wrap="square" rtlCol="0">
            <a:spAutoFit/>
          </a:bodyPr>
          <a:lstStyle/>
          <a:p>
            <a:pPr algn="ctr"/>
            <a:r>
              <a:rPr lang="en-US" b="1" dirty="0"/>
              <a:t>R</a:t>
            </a:r>
            <a:r>
              <a:rPr lang="en-US" b="1" baseline="-25000" dirty="0"/>
              <a:t>0 </a:t>
            </a:r>
            <a:r>
              <a:rPr lang="en-US" b="1" dirty="0"/>
              <a:t>of introduced pathogen</a:t>
            </a:r>
          </a:p>
        </p:txBody>
      </p:sp>
      <p:sp>
        <p:nvSpPr>
          <p:cNvPr id="3" name="TextBox 2">
            <a:extLst>
              <a:ext uri="{FF2B5EF4-FFF2-40B4-BE49-F238E27FC236}">
                <a16:creationId xmlns:a16="http://schemas.microsoft.com/office/drawing/2014/main" id="{4677BD1C-07FE-1B31-8D2B-0093E880A20C}"/>
              </a:ext>
            </a:extLst>
          </p:cNvPr>
          <p:cNvSpPr txBox="1"/>
          <p:nvPr/>
        </p:nvSpPr>
        <p:spPr>
          <a:xfrm>
            <a:off x="9989177" y="2473856"/>
            <a:ext cx="1670750" cy="830997"/>
          </a:xfrm>
          <a:prstGeom prst="rect">
            <a:avLst/>
          </a:prstGeom>
          <a:solidFill>
            <a:schemeClr val="bg1"/>
          </a:solidFill>
        </p:spPr>
        <p:txBody>
          <a:bodyPr wrap="square" rtlCol="0">
            <a:spAutoFit/>
          </a:bodyPr>
          <a:lstStyle/>
          <a:p>
            <a:r>
              <a:rPr lang="en-US" sz="1200" b="1" dirty="0"/>
              <a:t>Number of mutations required, additive model (cite Antia et al 2003)</a:t>
            </a:r>
          </a:p>
        </p:txBody>
      </p:sp>
      <p:cxnSp>
        <p:nvCxnSpPr>
          <p:cNvPr id="12" name="Straight Arrow Connector 11">
            <a:extLst>
              <a:ext uri="{FF2B5EF4-FFF2-40B4-BE49-F238E27FC236}">
                <a16:creationId xmlns:a16="http://schemas.microsoft.com/office/drawing/2014/main" id="{EE4ABCB6-D472-391A-13A4-D85584877391}"/>
              </a:ext>
            </a:extLst>
          </p:cNvPr>
          <p:cNvCxnSpPr>
            <a:cxnSpLocks/>
          </p:cNvCxnSpPr>
          <p:nvPr/>
        </p:nvCxnSpPr>
        <p:spPr>
          <a:xfrm flipV="1">
            <a:off x="1893298" y="1105786"/>
            <a:ext cx="318276"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6D2CFF4A-3C2F-A38F-E68A-1DFBA2139A82}"/>
              </a:ext>
            </a:extLst>
          </p:cNvPr>
          <p:cNvCxnSpPr>
            <a:cxnSpLocks/>
          </p:cNvCxnSpPr>
          <p:nvPr/>
        </p:nvCxnSpPr>
        <p:spPr>
          <a:xfrm>
            <a:off x="3087689" y="1105786"/>
            <a:ext cx="4324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72E2EC58-B9F7-E646-BCAA-06C8E6222587}"/>
              </a:ext>
            </a:extLst>
          </p:cNvPr>
          <p:cNvCxnSpPr>
            <a:cxnSpLocks/>
          </p:cNvCxnSpPr>
          <p:nvPr/>
        </p:nvCxnSpPr>
        <p:spPr>
          <a:xfrm flipV="1">
            <a:off x="4377772" y="1105786"/>
            <a:ext cx="517687"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2CB8149D-1904-BCBE-C4CE-732E93FCA4A5}"/>
              </a:ext>
            </a:extLst>
          </p:cNvPr>
          <p:cNvCxnSpPr>
            <a:cxnSpLocks/>
          </p:cNvCxnSpPr>
          <p:nvPr/>
        </p:nvCxnSpPr>
        <p:spPr>
          <a:xfrm>
            <a:off x="5879805" y="1105786"/>
            <a:ext cx="5528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559A5568-D9D0-236D-8D6A-AF635848596F}"/>
              </a:ext>
            </a:extLst>
          </p:cNvPr>
          <p:cNvCxnSpPr>
            <a:cxnSpLocks/>
          </p:cNvCxnSpPr>
          <p:nvPr/>
        </p:nvCxnSpPr>
        <p:spPr>
          <a:xfrm>
            <a:off x="7427939" y="1127051"/>
            <a:ext cx="71660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AB7EFFAB-4BD0-1CBF-4253-9DC2D36DBEC1}"/>
              </a:ext>
            </a:extLst>
          </p:cNvPr>
          <p:cNvCxnSpPr>
            <a:cxnSpLocks/>
          </p:cNvCxnSpPr>
          <p:nvPr/>
        </p:nvCxnSpPr>
        <p:spPr>
          <a:xfrm>
            <a:off x="9143999" y="1127051"/>
            <a:ext cx="8239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41189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485260-0A0F-E8BD-D389-4507CCE60F04}"/>
              </a:ext>
            </a:extLst>
          </p:cNvPr>
          <p:cNvPicPr>
            <a:picLocks noChangeAspect="1"/>
          </p:cNvPicPr>
          <p:nvPr/>
        </p:nvPicPr>
        <p:blipFill>
          <a:blip r:embed="rId2"/>
          <a:srcRect l="4160"/>
          <a:stretch>
            <a:fillRect/>
          </a:stretch>
        </p:blipFill>
        <p:spPr>
          <a:xfrm>
            <a:off x="1699596" y="804231"/>
            <a:ext cx="9013667" cy="3243073"/>
          </a:xfrm>
          <a:prstGeom prst="rect">
            <a:avLst/>
          </a:prstGeom>
        </p:spPr>
      </p:pic>
      <p:sp>
        <p:nvSpPr>
          <p:cNvPr id="5" name="Triangle 4">
            <a:extLst>
              <a:ext uri="{FF2B5EF4-FFF2-40B4-BE49-F238E27FC236}">
                <a16:creationId xmlns:a16="http://schemas.microsoft.com/office/drawing/2014/main" id="{B5455E1A-E5A8-5793-A753-B5042829D02B}"/>
              </a:ext>
            </a:extLst>
          </p:cNvPr>
          <p:cNvSpPr/>
          <p:nvPr/>
        </p:nvSpPr>
        <p:spPr>
          <a:xfrm rot="16200000" flipH="1">
            <a:off x="4660137" y="1691089"/>
            <a:ext cx="446184" cy="4841916"/>
          </a:xfrm>
          <a:prstGeom prst="triangle">
            <a:avLst>
              <a:gd name="adj" fmla="val 100000"/>
            </a:avLst>
          </a:prstGeom>
          <a:gradFill>
            <a:gsLst>
              <a:gs pos="0">
                <a:schemeClr val="accent6"/>
              </a:gs>
              <a:gs pos="50000">
                <a:srgbClr val="FFFF00"/>
              </a:gs>
              <a:gs pos="70000">
                <a:srgbClr val="FFC000"/>
              </a:gs>
              <a:gs pos="100000">
                <a:srgbClr val="FF0000"/>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3C65758-ABC3-3A0E-CB57-DFD50E94784A}"/>
              </a:ext>
            </a:extLst>
          </p:cNvPr>
          <p:cNvSpPr txBox="1"/>
          <p:nvPr/>
        </p:nvSpPr>
        <p:spPr>
          <a:xfrm>
            <a:off x="7481617" y="3965807"/>
            <a:ext cx="2679644" cy="369332"/>
          </a:xfrm>
          <a:prstGeom prst="rect">
            <a:avLst/>
          </a:prstGeom>
          <a:noFill/>
        </p:spPr>
        <p:txBody>
          <a:bodyPr wrap="none" rtlCol="0">
            <a:spAutoFit/>
          </a:bodyPr>
          <a:lstStyle/>
          <a:p>
            <a:r>
              <a:rPr lang="en-US" dirty="0"/>
              <a:t>Effort required for control</a:t>
            </a:r>
          </a:p>
        </p:txBody>
      </p:sp>
    </p:spTree>
    <p:extLst>
      <p:ext uri="{BB962C8B-B14F-4D97-AF65-F5344CB8AC3E}">
        <p14:creationId xmlns:p14="http://schemas.microsoft.com/office/powerpoint/2010/main" val="6069069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14914</TotalTime>
  <Words>482</Words>
  <Application>Microsoft Macintosh PowerPoint</Application>
  <PresentationFormat>Widescreen</PresentationFormat>
  <Paragraphs>151</Paragraphs>
  <Slides>24</Slides>
  <Notes>8</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Reducing Re can be a more effective prevention strategy. </vt:lpstr>
      <vt:lpstr>PowerPoint Presentation</vt:lpstr>
      <vt:lpstr>PowerPoint Presentation</vt:lpstr>
      <vt:lpstr>PowerPoint Presentation</vt:lpstr>
      <vt:lpstr>PowerPoint Presentation</vt:lpstr>
      <vt:lpstr>Revision 1</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Hirst, Cora</dc:creator>
  <cp:lastModifiedBy>Hirst, Cora</cp:lastModifiedBy>
  <cp:revision>140</cp:revision>
  <dcterms:created xsi:type="dcterms:W3CDTF">2025-10-21T13:38:03Z</dcterms:created>
  <dcterms:modified xsi:type="dcterms:W3CDTF">2026-08-15T17:03:50Z</dcterms:modified>
</cp:coreProperties>
</file>